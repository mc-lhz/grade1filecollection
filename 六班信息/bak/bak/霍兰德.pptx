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1"/>
  </p:handoutMasterIdLst>
  <p:sldIdLst>
    <p:sldId id="265" r:id="rId3"/>
    <p:sldId id="552" r:id="rId4"/>
    <p:sldId id="555" r:id="rId5"/>
    <p:sldId id="361" r:id="rId6"/>
    <p:sldId id="362" r:id="rId8"/>
    <p:sldId id="363" r:id="rId9"/>
    <p:sldId id="364" r:id="rId10"/>
    <p:sldId id="366" r:id="rId11"/>
    <p:sldId id="365" r:id="rId12"/>
    <p:sldId id="367" r:id="rId13"/>
    <p:sldId id="306" r:id="rId14"/>
    <p:sldId id="557" r:id="rId15"/>
    <p:sldId id="407" r:id="rId16"/>
    <p:sldId id="580" r:id="rId17"/>
    <p:sldId id="581" r:id="rId18"/>
    <p:sldId id="582" r:id="rId19"/>
    <p:sldId id="271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16EA"/>
    <a:srgbClr val="4D4D4D"/>
    <a:srgbClr val="414042"/>
    <a:srgbClr val="FAA0AA"/>
    <a:srgbClr val="E2C1A6"/>
    <a:srgbClr val="DDD3D4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62" y="108"/>
      </p:cViewPr>
      <p:guideLst>
        <p:guide orient="horz" pos="2192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乔布斯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F812B-25BF-42BF-BDC1-D5DE12E11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爱因斯坦，居里夫人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F812B-25BF-42BF-BDC1-D5DE12E11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杨丽萍：舞台灯光舞蹈动作的设计</a:t>
            </a:r>
            <a:endParaRPr lang="en-US" altLang="zh-CN" dirty="0"/>
          </a:p>
          <a:p>
            <a:r>
              <a:rPr lang="zh-CN" altLang="en-US" dirty="0"/>
              <a:t>许建树：服装设计师，范冰冰龙袍装，张静初孔雀装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F812B-25BF-42BF-BDC1-D5DE12E11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邵逸夫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F812B-25BF-42BF-BDC1-D5DE12E11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外交翻译官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F812B-25BF-42BF-BDC1-D5DE12E1115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1. 人工智能工程技术人员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定义：从事与人工智能相关算法、深度学习等多种技术的分析、研究、开发，并对人工智能系统进行设计、优化、运维、管理和应用的工程技术人员。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分析、研究人工智能算法、深度学习等技术并加以应用；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研究、开发、应用人工智能指令、算法；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规划、设计、开发基于人工智能算法的芯片；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研发、应用、优化语言识别、语义识别、图像识别、生物特征识别等人工智能技术；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设计、集成、管理、部署人工智能软硬件系统；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设计、开发人工智能系统解决方案。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2. 物联网工程技术人员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定义：从事物联网架构、平台、芯片、传感器、智能标签等技术的研究和开发，以及物联网工程的设计、测试、维护、管理和服务的工程技术人员。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研究、应用物联网技术、体系结构、协议和标准；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研究、设计、开发物联网专用芯片及软硬件系统；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规划、研究、设计物联网解决方案；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规划、设计、集成、部署物联网系统并指导工程实施；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安装、调测、维护并保障物联网系统的正常运行；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3.大数据工程技术人员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定义：从事大数据采集、清洗、分析、治理、挖掘等技术研究，并加以利用、管理、维护和服务的工程技术人员。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研究、开发大数据采集、清洗、存储及管理、分析及挖掘、展现及应用等技术；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研究、应用大数据平台体系架构、技术和标准；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设计、开发、集成、测试大数据软硬件系统；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大数据采集、大数据清洗、大数据建模与大数据分析；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管理、维护并保障大数据系统稳定运行；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监控、管理和保障大数据安全；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提供大数据的技术咨询和技术服务。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4.云计算工程技术人员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定义：从事云计算技术研究，云系统构建、部署、运维，云资源管理、应用和服务的工程技术人员。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研究、开发虚拟化、云平台、云资源管理和分发等云计算技术，以及大规模数据管理、分布式数据存储等相关技术；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研究、应用云计算技术、体系架构、协议和标准；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规划、设计、开发、集成、部署云计算系统；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管理、维护并保障云计算系统的稳定运行；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监控、保障云计算系统安全；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提供云计算系统的技术咨询和技术服务。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5.建筑信息模型技术员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定义：利用计算机软件进行工程实践过程中的模拟建造，以改进其全过程中工程工序的技术人员。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负责项目中建筑、结构、暖通、给排水、电气专业等BIM模型的搭建、复核、维护管理工作；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协同其它专业建模，并做碰撞检查；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BIM可视化设计：室内外渲染、虚拟漫游、建筑动画、虚拟施工周期等；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施工管理及后期运维。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6.电子竞技运营师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定义：在电竞产业从事组织活动及内容运营的人员。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进行电竞活动的整体策划和概念规划，设计并制定活动方案；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维护线上、线下媒体渠道关系，对电竞活动的主题、品牌进行宣传、推广、协调及监督；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分析评估电竞活动商业价值，设计活动赞助权益，并拓展与赞助商、承办商的合作；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协调电竞活动的各项资源，组织电竞活动；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制作和发布电竞活动的音视频内容，并评估发布效果；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对电竞活动进行总结报告，对相关档案进行管理；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7.电子竞技员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定义：从事不同类型电子竞技项目比赛、陪练、体验及活动表演的人员。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参加电子竞技项目比赛；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进行专业化的电子竞技项目陪练及代打活动；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收集和研究电竞战队动态、电竞游戏内容，提供专业的电竞数据分析；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参与电竞游戏的设计和策划，体验电竞游戏并提出建议；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参与电竞活动的表演。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8.无人机驾驶员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定义：通过远程控制设备，驾驶无人机完成既定飞行任务的人员。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安装、调试无人机电机、动力设备、浆叶及相应任务设备等；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根据任务规划航线；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根据飞行环境和气象条件校对飞行参数；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操控无人机完成既定飞行任务；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整理并分析采集数据；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评价飞行结果和工作效果；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检查、维护、整理无人机及任务设备。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9.数字化管理师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数字化办公软件平台，进行企业及组织人员架构编辑、组织运营流程维护、工作流协同、大数据决策分析、企业上下游在线化连接，使企业组织在线、沟通在线、协同在线、业务在线、生态在线，实现企业经营管理在线化、数字化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将企业及组织人员架构编辑在数字化管理平台，负责制定企业数字化办公软件推进计划和落地实施方案，进行扁平可视化管理；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负责数字化办公所有模块的搭建和组织运转必备流程的维护，实现组织高效安全的沟通；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设定企业及组织工作流协同机制，实现知识经验的沉淀和共享；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通过业务流程和业务行为的在线化，实现企业的大数据决策分析；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以企业为中心的上下游和客户都实现在线化连接，用大数据优化整个生态的用户体验，不断提升生产销售效率。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10.农业经理人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定义：在农民专业合作社等农业经济合作组织中，从事农业生产组织、设备作业、技术支持、产品加工与销售等管理服务的人员。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搜集和分析农产品供求、客户需求数据等信息；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编制生产、服务经营方案和作业计划；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调度生产、服务人员，安排生产或服务项目；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指导生产、服务人员执行作业标准；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疏通营销渠道，维护客户关系；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组织产品加工、运输、营销；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评估生产、服务绩效，争取资金支持。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11.工业机器人系统操作员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定义：使用示教器、操作面板等人机交互设备及相关机械工具对工业机器人、工业机器人工作站或系统进行装配、编程、调试、工艺参数更改、工装夹具更换及其他辅助作业的人员。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按照工艺指导文件等相关文件的要求完成作业准备；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按照装配图、电气图、工艺文件等相关文件的要求，使用工具、仪器等进行工业机器人工作站或系统装配；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使用示教器、计算机、组态软件等相关软硬件工具对工业机器人、可编程逻辑控制器、人机交互界面、电机等设备和视觉、位置等传感器进行程序编制、单元功能调试和生产联调；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使用示教器、操作面板等人机交互设备进行生产过程的参数设定与修改、菜单功能的选择与配置、程序的选择与切换；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进行工业机器人系统工装夹具等装置的检查、确认、更换与复位；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观察工业机器人工作站或系统的状态变化并做相应操作，遇到异常情况执行急停操作等；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填写设备装调、操作等记录。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12.工业机器人系统运维员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定义：使用工具、量具、检测仪器及设备，对工业机器人、工业机器人工作站或系统进行数据采集、状态监测、故障分析与诊断、维修及预防性维护与保养作业的人员。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对工业机器人本体、末端执行器、周边装置等机械系统进行常规性检查、诊断；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对工业机器人电控系统、驱动系统、电源及线路等电气系统进行常规性检查、诊断；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根据维护保养手册，对工业机器人、工业机器人工作站或系统进行零位校准、防尘、更换电池、更换润滑油等维护保养；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使用测量设备采集工业机器人、工业机器人工作站或系统运行参数、工作状态等数据，进行监测；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对工业机器人工作站或系统的故障进行分析、诊断与维修；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编制工业机器人系统运行维护、维修报告。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13.物联网安装调试员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定义：利用检测仪器和专用工具，安装、配置、调试物联网产品与设备的人员。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产品和设备检查，检测物联网设备、感知模块、控制模块的质量；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组装物联网设备及相关附件，并选择位置进行安装与固定；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连接物联网设备电路，实现设备供电；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建立物联网设备与设备、设备与网络的连接，检测连接状态；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调整设备安装距离，优化物联网网络布局；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配置物联网网关和短距传输模块参数；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预防和解决物联网产品和网络系统中的网络瘫痪、中断等事件，确保物联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产品及网络的正常运行。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14.城市轨道交通线路工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定义：从事城市轨道交通线路设施施工、大修、维修及巡检的人员。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线路设备及附属设施的检查、检测；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线路附属设施、设备的日常保养、维修及病害处理；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线路附属设施设备大修。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本职业包含但不限于以下工种：钢轨探伤工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15.城市轨道交通列车检修工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定义：从事城市轨道交通列车接收、检修及调试的人员。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检查、检测、分解、组装以及调试列车机械系统的主要部件；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检查、清洁、更换、检修列车机械系统关键部件，测量、调整关键参数；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使用工具和技术手段测量、判断和处理城轨列车机械系统的故障；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检查和测试列车牵引系统、辅助供电系统的各项功能；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根据综合线路图，检查牵引控制回路、辅助控制回路各电气元件状态，测量和调整主要部件的电气参数；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使用工具和技术手段测量、判断和处理城轨列车电气系统控制回路故障；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检查、调试整列列车性能，确保列车出库状态。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本职业包括但不限于以下工种：城轨电动列车检修工（机械）、城轨电动列车检修工（电气）。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新增工种：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在家政服务员（4-10-01-06）下增设母婴护理员工种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在农业技术员（5-05-01-00）下增设茶园管理员工种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在经济昆虫产品加工工（5-05-06-06）下增设蜂产品品评员工种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在品酒师（6-02-06-07）下增设酒体设计师工种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更改职业名称的职业：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电子音乐编辑（2-10-02-06）更改为电子音乐制作师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在《中华人民共和国职业分类大典（2015年版）》中第四大类下增设企业人力资源管理师职业，职业编码为4-07-03-04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鉴定估价师（4-05-05-02）下设的工种二手车鉴定评估师更改为机动车鉴定评估师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8304-25C7-4A4A-9F28-7C45AD23BA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1. 人工智能工程技术人员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定义：从事与人工智能相关算法、深度学习等多种技术的分析、研究、开发，并对人工智能系统进行设计、优化、运维、管理和应用的工程技术人员。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分析、研究人工智能算法、深度学习等技术并加以应用；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研究、开发、应用人工智能指令、算法；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规划、设计、开发基于人工智能算法的芯片；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研发、应用、优化语言识别、语义识别、图像识别、生物特征识别等人工智能技术；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设计、集成、管理、部署人工智能软硬件系统；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设计、开发人工智能系统解决方案。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2. 物联网工程技术人员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定义：从事物联网架构、平台、芯片、传感器、智能标签等技术的研究和开发，以及物联网工程的设计、测试、维护、管理和服务的工程技术人员。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研究、应用物联网技术、体系结构、协议和标准；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研究、设计、开发物联网专用芯片及软硬件系统；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规划、研究、设计物联网解决方案；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规划、设计、集成、部署物联网系统并指导工程实施；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安装、调测、维护并保障物联网系统的正常运行；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3.大数据工程技术人员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定义：从事大数据采集、清洗、分析、治理、挖掘等技术研究，并加以利用、管理、维护和服务的工程技术人员。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研究、开发大数据采集、清洗、存储及管理、分析及挖掘、展现及应用等技术；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研究、应用大数据平台体系架构、技术和标准；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设计、开发、集成、测试大数据软硬件系统；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大数据采集、大数据清洗、大数据建模与大数据分析；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管理、维护并保障大数据系统稳定运行；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监控、管理和保障大数据安全；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提供大数据的技术咨询和技术服务。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4.云计算工程技术人员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定义：从事云计算技术研究，云系统构建、部署、运维，云资源管理、应用和服务的工程技术人员。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研究、开发虚拟化、云平台、云资源管理和分发等云计算技术，以及大规模数据管理、分布式数据存储等相关技术；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研究、应用云计算技术、体系架构、协议和标准；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规划、设计、开发、集成、部署云计算系统；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管理、维护并保障云计算系统的稳定运行；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监控、保障云计算系统安全；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提供云计算系统的技术咨询和技术服务。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5.建筑信息模型技术员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定义：利用计算机软件进行工程实践过程中的模拟建造，以改进其全过程中工程工序的技术人员。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负责项目中建筑、结构、暖通、给排水、电气专业等BIM模型的搭建、复核、维护管理工作；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协同其它专业建模，并做碰撞检查；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BIM可视化设计：室内外渲染、虚拟漫游、建筑动画、虚拟施工周期等；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施工管理及后期运维。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6.电子竞技运营师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定义：在电竞产业从事组织活动及内容运营的人员。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进行电竞活动的整体策划和概念规划，设计并制定活动方案；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维护线上、线下媒体渠道关系，对电竞活动的主题、品牌进行宣传、推广、协调及监督；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分析评估电竞活动商业价值，设计活动赞助权益，并拓展与赞助商、承办商的合作；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协调电竞活动的各项资源，组织电竞活动；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制作和发布电竞活动的音视频内容，并评估发布效果；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对电竞活动进行总结报告，对相关档案进行管理；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7.电子竞技员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定义：从事不同类型电子竞技项目比赛、陪练、体验及活动表演的人员。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参加电子竞技项目比赛；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进行专业化的电子竞技项目陪练及代打活动；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收集和研究电竞战队动态、电竞游戏内容，提供专业的电竞数据分析；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参与电竞游戏的设计和策划，体验电竞游戏并提出建议；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参与电竞活动的表演。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8.无人机驾驶员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定义：通过远程控制设备，驾驶无人机完成既定飞行任务的人员。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安装、调试无人机电机、动力设备、浆叶及相应任务设备等；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根据任务规划航线；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根据飞行环境和气象条件校对飞行参数；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操控无人机完成既定飞行任务；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整理并分析采集数据；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评价飞行结果和工作效果；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检查、维护、整理无人机及任务设备。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9.数字化管理师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数字化办公软件平台，进行企业及组织人员架构编辑、组织运营流程维护、工作流协同、大数据决策分析、企业上下游在线化连接，使企业组织在线、沟通在线、协同在线、业务在线、生态在线，实现企业经营管理在线化、数字化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将企业及组织人员架构编辑在数字化管理平台，负责制定企业数字化办公软件推进计划和落地实施方案，进行扁平可视化管理；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负责数字化办公所有模块的搭建和组织运转必备流程的维护，实现组织高效安全的沟通；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设定企业及组织工作流协同机制，实现知识经验的沉淀和共享；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通过业务流程和业务行为的在线化，实现企业的大数据决策分析；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以企业为中心的上下游和客户都实现在线化连接，用大数据优化整个生态的用户体验，不断提升生产销售效率。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10.农业经理人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定义：在农民专业合作社等农业经济合作组织中，从事农业生产组织、设备作业、技术支持、产品加工与销售等管理服务的人员。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搜集和分析农产品供求、客户需求数据等信息；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编制生产、服务经营方案和作业计划；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调度生产、服务人员，安排生产或服务项目；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指导生产、服务人员执行作业标准；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疏通营销渠道，维护客户关系；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组织产品加工、运输、营销；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评估生产、服务绩效，争取资金支持。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11.工业机器人系统操作员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定义：使用示教器、操作面板等人机交互设备及相关机械工具对工业机器人、工业机器人工作站或系统进行装配、编程、调试、工艺参数更改、工装夹具更换及其他辅助作业的人员。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按照工艺指导文件等相关文件的要求完成作业准备；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按照装配图、电气图、工艺文件等相关文件的要求，使用工具、仪器等进行工业机器人工作站或系统装配；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使用示教器、计算机、组态软件等相关软硬件工具对工业机器人、可编程逻辑控制器、人机交互界面、电机等设备和视觉、位置等传感器进行程序编制、单元功能调试和生产联调；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使用示教器、操作面板等人机交互设备进行生产过程的参数设定与修改、菜单功能的选择与配置、程序的选择与切换；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进行工业机器人系统工装夹具等装置的检查、确认、更换与复位；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观察工业机器人工作站或系统的状态变化并做相应操作，遇到异常情况执行急停操作等；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填写设备装调、操作等记录。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12.工业机器人系统运维员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定义：使用工具、量具、检测仪器及设备，对工业机器人、工业机器人工作站或系统进行数据采集、状态监测、故障分析与诊断、维修及预防性维护与保养作业的人员。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对工业机器人本体、末端执行器、周边装置等机械系统进行常规性检查、诊断；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对工业机器人电控系统、驱动系统、电源及线路等电气系统进行常规性检查、诊断；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根据维护保养手册，对工业机器人、工业机器人工作站或系统进行零位校准、防尘、更换电池、更换润滑油等维护保养；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使用测量设备采集工业机器人、工业机器人工作站或系统运行参数、工作状态等数据，进行监测；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对工业机器人工作站或系统的故障进行分析、诊断与维修；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编制工业机器人系统运行维护、维修报告。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13.物联网安装调试员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定义：利用检测仪器和专用工具，安装、配置、调试物联网产品与设备的人员。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产品和设备检查，检测物联网设备、感知模块、控制模块的质量；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组装物联网设备及相关附件，并选择位置进行安装与固定；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连接物联网设备电路，实现设备供电；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建立物联网设备与设备、设备与网络的连接，检测连接状态；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调整设备安装距离，优化物联网网络布局；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配置物联网网关和短距传输模块参数；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预防和解决物联网产品和网络系统中的网络瘫痪、中断等事件，确保物联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产品及网络的正常运行。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14.城市轨道交通线路工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定义：从事城市轨道交通线路设施施工、大修、维修及巡检的人员。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线路设备及附属设施的检查、检测；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线路附属设施、设备的日常保养、维修及病害处理；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线路附属设施设备大修。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本职业包含但不限于以下工种：钢轨探伤工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15.城市轨道交通列车检修工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定义：从事城市轨道交通列车接收、检修及调试的人员。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检查、检测、分解、组装以及调试列车机械系统的主要部件；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检查、清洁、更换、检修列车机械系统关键部件，测量、调整关键参数；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使用工具和技术手段测量、判断和处理城轨列车机械系统的故障；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检查和测试列车牵引系统、辅助供电系统的各项功能；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根据综合线路图，检查牵引控制回路、辅助控制回路各电气元件状态，测量和调整主要部件的电气参数；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使用工具和技术手段测量、判断和处理城轨列车电气系统控制回路故障；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检查、调试整列列车性能，确保列车出库状态。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本职业包括但不限于以下工种：城轨电动列车检修工（机械）、城轨电动列车检修工（电气）。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新增工种：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在家政服务员（4-10-01-06）下增设母婴护理员工种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在农业技术员（5-05-01-00）下增设茶园管理员工种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在经济昆虫产品加工工（5-05-06-06）下增设蜂产品品评员工种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在品酒师（6-02-06-07）下增设酒体设计师工种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更改职业名称的职业：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电子音乐编辑（2-10-02-06）更改为电子音乐制作师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在《中华人民共和国职业分类大典（2015年版）》中第四大类下增设企业人力资源管理师职业，职业编码为4-07-03-04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鉴定估价师（4-05-05-02）下设的工种二手车鉴定评估师更改为机动车鉴定评估师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8304-25C7-4A4A-9F28-7C45AD23BA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1. 人工智能工程技术人员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定义：从事与人工智能相关算法、深度学习等多种技术的分析、研究、开发，并对人工智能系统进行设计、优化、运维、管理和应用的工程技术人员。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分析、研究人工智能算法、深度学习等技术并加以应用；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研究、开发、应用人工智能指令、算法；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规划、设计、开发基于人工智能算法的芯片；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研发、应用、优化语言识别、语义识别、图像识别、生物特征识别等人工智能技术；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设计、集成、管理、部署人工智能软硬件系统；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设计、开发人工智能系统解决方案。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2. 物联网工程技术人员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定义：从事物联网架构、平台、芯片、传感器、智能标签等技术的研究和开发，以及物联网工程的设计、测试、维护、管理和服务的工程技术人员。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研究、应用物联网技术、体系结构、协议和标准；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研究、设计、开发物联网专用芯片及软硬件系统；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规划、研究、设计物联网解决方案；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规划、设计、集成、部署物联网系统并指导工程实施；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安装、调测、维护并保障物联网系统的正常运行；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3.大数据工程技术人员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定义：从事大数据采集、清洗、分析、治理、挖掘等技术研究，并加以利用、管理、维护和服务的工程技术人员。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研究、开发大数据采集、清洗、存储及管理、分析及挖掘、展现及应用等技术；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研究、应用大数据平台体系架构、技术和标准；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设计、开发、集成、测试大数据软硬件系统；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大数据采集、大数据清洗、大数据建模与大数据分析；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管理、维护并保障大数据系统稳定运行；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监控、管理和保障大数据安全；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提供大数据的技术咨询和技术服务。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4.云计算工程技术人员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定义：从事云计算技术研究，云系统构建、部署、运维，云资源管理、应用和服务的工程技术人员。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研究、开发虚拟化、云平台、云资源管理和分发等云计算技术，以及大规模数据管理、分布式数据存储等相关技术；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研究、应用云计算技术、体系架构、协议和标准；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规划、设计、开发、集成、部署云计算系统；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管理、维护并保障云计算系统的稳定运行；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监控、保障云计算系统安全；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提供云计算系统的技术咨询和技术服务。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5.建筑信息模型技术员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定义：利用计算机软件进行工程实践过程中的模拟建造，以改进其全过程中工程工序的技术人员。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负责项目中建筑、结构、暖通、给排水、电气专业等BIM模型的搭建、复核、维护管理工作；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协同其它专业建模，并做碰撞检查；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BIM可视化设计：室内外渲染、虚拟漫游、建筑动画、虚拟施工周期等；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施工管理及后期运维。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6.电子竞技运营师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定义：在电竞产业从事组织活动及内容运营的人员。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进行电竞活动的整体策划和概念规划，设计并制定活动方案；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维护线上、线下媒体渠道关系，对电竞活动的主题、品牌进行宣传、推广、协调及监督；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分析评估电竞活动商业价值，设计活动赞助权益，并拓展与赞助商、承办商的合作；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协调电竞活动的各项资源，组织电竞活动；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制作和发布电竞活动的音视频内容，并评估发布效果；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对电竞活动进行总结报告，对相关档案进行管理；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7.电子竞技员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定义：从事不同类型电子竞技项目比赛、陪练、体验及活动表演的人员。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参加电子竞技项目比赛；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进行专业化的电子竞技项目陪练及代打活动；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收集和研究电竞战队动态、电竞游戏内容，提供专业的电竞数据分析；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参与电竞游戏的设计和策划，体验电竞游戏并提出建议；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参与电竞活动的表演。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8.无人机驾驶员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定义：通过远程控制设备，驾驶无人机完成既定飞行任务的人员。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安装、调试无人机电机、动力设备、浆叶及相应任务设备等；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根据任务规划航线；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根据飞行环境和气象条件校对飞行参数；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操控无人机完成既定飞行任务；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整理并分析采集数据；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评价飞行结果和工作效果；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检查、维护、整理无人机及任务设备。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9.数字化管理师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数字化办公软件平台，进行企业及组织人员架构编辑、组织运营流程维护、工作流协同、大数据决策分析、企业上下游在线化连接，使企业组织在线、沟通在线、协同在线、业务在线、生态在线，实现企业经营管理在线化、数字化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将企业及组织人员架构编辑在数字化管理平台，负责制定企业数字化办公软件推进计划和落地实施方案，进行扁平可视化管理；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负责数字化办公所有模块的搭建和组织运转必备流程的维护，实现组织高效安全的沟通；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设定企业及组织工作流协同机制，实现知识经验的沉淀和共享；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通过业务流程和业务行为的在线化，实现企业的大数据决策分析；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以企业为中心的上下游和客户都实现在线化连接，用大数据优化整个生态的用户体验，不断提升生产销售效率。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10.农业经理人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定义：在农民专业合作社等农业经济合作组织中，从事农业生产组织、设备作业、技术支持、产品加工与销售等管理服务的人员。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搜集和分析农产品供求、客户需求数据等信息；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编制生产、服务经营方案和作业计划；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调度生产、服务人员，安排生产或服务项目；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指导生产、服务人员执行作业标准；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疏通营销渠道，维护客户关系；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组织产品加工、运输、营销；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评估生产、服务绩效，争取资金支持。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11.工业机器人系统操作员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定义：使用示教器、操作面板等人机交互设备及相关机械工具对工业机器人、工业机器人工作站或系统进行装配、编程、调试、工艺参数更改、工装夹具更换及其他辅助作业的人员。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按照工艺指导文件等相关文件的要求完成作业准备；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按照装配图、电气图、工艺文件等相关文件的要求，使用工具、仪器等进行工业机器人工作站或系统装配；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使用示教器、计算机、组态软件等相关软硬件工具对工业机器人、可编程逻辑控制器、人机交互界面、电机等设备和视觉、位置等传感器进行程序编制、单元功能调试和生产联调；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使用示教器、操作面板等人机交互设备进行生产过程的参数设定与修改、菜单功能的选择与配置、程序的选择与切换；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进行工业机器人系统工装夹具等装置的检查、确认、更换与复位；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观察工业机器人工作站或系统的状态变化并做相应操作，遇到异常情况执行急停操作等；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填写设备装调、操作等记录。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12.工业机器人系统运维员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定义：使用工具、量具、检测仪器及设备，对工业机器人、工业机器人工作站或系统进行数据采集、状态监测、故障分析与诊断、维修及预防性维护与保养作业的人员。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对工业机器人本体、末端执行器、周边装置等机械系统进行常规性检查、诊断；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对工业机器人电控系统、驱动系统、电源及线路等电气系统进行常规性检查、诊断；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根据维护保养手册，对工业机器人、工业机器人工作站或系统进行零位校准、防尘、更换电池、更换润滑油等维护保养；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使用测量设备采集工业机器人、工业机器人工作站或系统运行参数、工作状态等数据，进行监测；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对工业机器人工作站或系统的故障进行分析、诊断与维修；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编制工业机器人系统运行维护、维修报告。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13.物联网安装调试员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定义：利用检测仪器和专用工具，安装、配置、调试物联网产品与设备的人员。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产品和设备检查，检测物联网设备、感知模块、控制模块的质量；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组装物联网设备及相关附件，并选择位置进行安装与固定；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连接物联网设备电路，实现设备供电；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建立物联网设备与设备、设备与网络的连接，检测连接状态；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调整设备安装距离，优化物联网网络布局；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配置物联网网关和短距传输模块参数；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预防和解决物联网产品和网络系统中的网络瘫痪、中断等事件，确保物联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产品及网络的正常运行。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14.城市轨道交通线路工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定义：从事城市轨道交通线路设施施工、大修、维修及巡检的人员。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线路设备及附属设施的检查、检测；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线路附属设施、设备的日常保养、维修及病害处理；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线路附属设施设备大修。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本职业包含但不限于以下工种：钢轨探伤工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15.城市轨道交通列车检修工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定义：从事城市轨道交通列车接收、检修及调试的人员。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检查、检测、分解、组装以及调试列车机械系统的主要部件；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检查、清洁、更换、检修列车机械系统关键部件，测量、调整关键参数；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使用工具和技术手段测量、判断和处理城轨列车机械系统的故障；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检查和测试列车牵引系统、辅助供电系统的各项功能；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根据综合线路图，检查牵引控制回路、辅助控制回路各电气元件状态，测量和调整主要部件的电气参数；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使用工具和技术手段测量、判断和处理城轨列车电气系统控制回路故障；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检查、调试整列列车性能，确保列车出库状态。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本职业包括但不限于以下工种：城轨电动列车检修工（机械）、城轨电动列车检修工（电气）。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新增工种：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在家政服务员（4-10-01-06）下增设母婴护理员工种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在农业技术员（5-05-01-00）下增设茶园管理员工种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在经济昆虫产品加工工（5-05-06-06）下增设蜂产品品评员工种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在品酒师（6-02-06-07）下增设酒体设计师工种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更改职业名称的职业：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电子音乐编辑（2-10-02-06）更改为电子音乐制作师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在《中华人民共和国职业分类大典（2015年版）》中第四大类下增设企业人力资源管理师职业，职业编码为4-07-03-04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鉴定估价师（4-05-05-02）下设的工种二手车鉴定评估师更改为机动车鉴定评估师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8304-25C7-4A4A-9F28-7C45AD23BA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1. 人工智能工程技术人员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定义：从事与人工智能相关算法、深度学习等多种技术的分析、研究、开发，并对人工智能系统进行设计、优化、运维、管理和应用的工程技术人员。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分析、研究人工智能算法、深度学习等技术并加以应用；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研究、开发、应用人工智能指令、算法；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规划、设计、开发基于人工智能算法的芯片；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研发、应用、优化语言识别、语义识别、图像识别、生物特征识别等人工智能技术；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设计、集成、管理、部署人工智能软硬件系统；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设计、开发人工智能系统解决方案。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2. 物联网工程技术人员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定义：从事物联网架构、平台、芯片、传感器、智能标签等技术的研究和开发，以及物联网工程的设计、测试、维护、管理和服务的工程技术人员。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研究、应用物联网技术、体系结构、协议和标准；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研究、设计、开发物联网专用芯片及软硬件系统；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规划、研究、设计物联网解决方案；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规划、设计、集成、部署物联网系统并指导工程实施；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安装、调测、维护并保障物联网系统的正常运行；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3.大数据工程技术人员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定义：从事大数据采集、清洗、分析、治理、挖掘等技术研究，并加以利用、管理、维护和服务的工程技术人员。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研究、开发大数据采集、清洗、存储及管理、分析及挖掘、展现及应用等技术；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研究、应用大数据平台体系架构、技术和标准；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设计、开发、集成、测试大数据软硬件系统；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大数据采集、大数据清洗、大数据建模与大数据分析；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管理、维护并保障大数据系统稳定运行；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监控、管理和保障大数据安全；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提供大数据的技术咨询和技术服务。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4.云计算工程技术人员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定义：从事云计算技术研究，云系统构建、部署、运维，云资源管理、应用和服务的工程技术人员。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研究、开发虚拟化、云平台、云资源管理和分发等云计算技术，以及大规模数据管理、分布式数据存储等相关技术；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研究、应用云计算技术、体系架构、协议和标准；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规划、设计、开发、集成、部署云计算系统；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管理、维护并保障云计算系统的稳定运行；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监控、保障云计算系统安全；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提供云计算系统的技术咨询和技术服务。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5.建筑信息模型技术员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定义：利用计算机软件进行工程实践过程中的模拟建造，以改进其全过程中工程工序的技术人员。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负责项目中建筑、结构、暖通、给排水、电气专业等BIM模型的搭建、复核、维护管理工作；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协同其它专业建模，并做碰撞检查；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BIM可视化设计：室内外渲染、虚拟漫游、建筑动画、虚拟施工周期等；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施工管理及后期运维。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6.电子竞技运营师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定义：在电竞产业从事组织活动及内容运营的人员。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进行电竞活动的整体策划和概念规划，设计并制定活动方案；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维护线上、线下媒体渠道关系，对电竞活动的主题、品牌进行宣传、推广、协调及监督；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分析评估电竞活动商业价值，设计活动赞助权益，并拓展与赞助商、承办商的合作；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协调电竞活动的各项资源，组织电竞活动；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制作和发布电竞活动的音视频内容，并评估发布效果；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对电竞活动进行总结报告，对相关档案进行管理；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7.电子竞技员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定义：从事不同类型电子竞技项目比赛、陪练、体验及活动表演的人员。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参加电子竞技项目比赛；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进行专业化的电子竞技项目陪练及代打活动；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收集和研究电竞战队动态、电竞游戏内容，提供专业的电竞数据分析；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参与电竞游戏的设计和策划，体验电竞游戏并提出建议；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参与电竞活动的表演。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8.无人机驾驶员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定义：通过远程控制设备，驾驶无人机完成既定飞行任务的人员。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安装、调试无人机电机、动力设备、浆叶及相应任务设备等；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根据任务规划航线；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根据飞行环境和气象条件校对飞行参数；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操控无人机完成既定飞行任务；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整理并分析采集数据；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评价飞行结果和工作效果；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检查、维护、整理无人机及任务设备。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9.数字化管理师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数字化办公软件平台，进行企业及组织人员架构编辑、组织运营流程维护、工作流协同、大数据决策分析、企业上下游在线化连接，使企业组织在线、沟通在线、协同在线、业务在线、生态在线，实现企业经营管理在线化、数字化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将企业及组织人员架构编辑在数字化管理平台，负责制定企业数字化办公软件推进计划和落地实施方案，进行扁平可视化管理；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负责数字化办公所有模块的搭建和组织运转必备流程的维护，实现组织高效安全的沟通；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设定企业及组织工作流协同机制，实现知识经验的沉淀和共享；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通过业务流程和业务行为的在线化，实现企业的大数据决策分析；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以企业为中心的上下游和客户都实现在线化连接，用大数据优化整个生态的用户体验，不断提升生产销售效率。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10.农业经理人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定义：在农民专业合作社等农业经济合作组织中，从事农业生产组织、设备作业、技术支持、产品加工与销售等管理服务的人员。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搜集和分析农产品供求、客户需求数据等信息；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编制生产、服务经营方案和作业计划；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调度生产、服务人员，安排生产或服务项目；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指导生产、服务人员执行作业标准；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疏通营销渠道，维护客户关系；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组织产品加工、运输、营销；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评估生产、服务绩效，争取资金支持。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11.工业机器人系统操作员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定义：使用示教器、操作面板等人机交互设备及相关机械工具对工业机器人、工业机器人工作站或系统进行装配、编程、调试、工艺参数更改、工装夹具更换及其他辅助作业的人员。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按照工艺指导文件等相关文件的要求完成作业准备；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按照装配图、电气图、工艺文件等相关文件的要求，使用工具、仪器等进行工业机器人工作站或系统装配；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使用示教器、计算机、组态软件等相关软硬件工具对工业机器人、可编程逻辑控制器、人机交互界面、电机等设备和视觉、位置等传感器进行程序编制、单元功能调试和生产联调；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使用示教器、操作面板等人机交互设备进行生产过程的参数设定与修改、菜单功能的选择与配置、程序的选择与切换；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进行工业机器人系统工装夹具等装置的检查、确认、更换与复位；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观察工业机器人工作站或系统的状态变化并做相应操作，遇到异常情况执行急停操作等；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填写设备装调、操作等记录。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12.工业机器人系统运维员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定义：使用工具、量具、检测仪器及设备，对工业机器人、工业机器人工作站或系统进行数据采集、状态监测、故障分析与诊断、维修及预防性维护与保养作业的人员。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对工业机器人本体、末端执行器、周边装置等机械系统进行常规性检查、诊断；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对工业机器人电控系统、驱动系统、电源及线路等电气系统进行常规性检查、诊断；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根据维护保养手册，对工业机器人、工业机器人工作站或系统进行零位校准、防尘、更换电池、更换润滑油等维护保养；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使用测量设备采集工业机器人、工业机器人工作站或系统运行参数、工作状态等数据，进行监测；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对工业机器人工作站或系统的故障进行分析、诊断与维修；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编制工业机器人系统运行维护、维修报告。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13.物联网安装调试员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定义：利用检测仪器和专用工具，安装、配置、调试物联网产品与设备的人员。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产品和设备检查，检测物联网设备、感知模块、控制模块的质量；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组装物联网设备及相关附件，并选择位置进行安装与固定；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连接物联网设备电路，实现设备供电；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建立物联网设备与设备、设备与网络的连接，检测连接状态；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调整设备安装距离，优化物联网网络布局；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配置物联网网关和短距传输模块参数；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预防和解决物联网产品和网络系统中的网络瘫痪、中断等事件，确保物联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产品及网络的正常运行。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14.城市轨道交通线路工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定义：从事城市轨道交通线路设施施工、大修、维修及巡检的人员。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线路设备及附属设施的检查、检测；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线路附属设施、设备的日常保养、维修及病害处理；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道岔大修；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线路附属设施设备大修。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本职业包含但不限于以下工种：钢轨探伤工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15.城市轨道交通列车检修工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定义：从事城市轨道交通列车接收、检修及调试的人员。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主要工作任务：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检查、检测、分解、组装以及调试列车机械系统的主要部件；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检查、清洁、更换、检修列车机械系统关键部件，测量、调整关键参数；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使用工具和技术手段测量、判断和处理城轨列车机械系统的故障；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检查和测试列车牵引系统、辅助供电系统的各项功能；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根据综合线路图，检查牵引控制回路、辅助控制回路各电气元件状态，测量和调整主要部件的电气参数；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使用工具和技术手段测量、判断和处理城轨列车电气系统控制回路故障；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检查、调试整列列车性能，确保列车出库状态。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本职业包括但不限于以下工种：城轨电动列车检修工（机械）、城轨电动列车检修工（电气）。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新增工种：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在家政服务员（4-10-01-06）下增设母婴护理员工种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在农业技术员（5-05-01-00）下增设茶园管理员工种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在经济昆虫产品加工工（5-05-06-06）下增设蜂产品品评员工种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在品酒师（6-02-06-07）下增设酒体设计师工种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更改职业名称的职业：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电子音乐编辑（2-10-02-06）更改为电子音乐制作师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在《中华人民共和国职业分类大典（2015年版）》中第四大类下增设企业人力资源管理师职业，职业编码为4-07-03-04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鉴定估价师（4-05-05-02）下设的工种二手车鉴定评估师更改为机动车鉴定评估师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8304-25C7-4A4A-9F28-7C45AD23BA3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microsoft.com/office/2007/relationships/hdphoto" Target="../media/image7.wdp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jpe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jpe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jpe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jpeg"/><Relationship Id="rId2" Type="http://schemas.microsoft.com/office/2007/relationships/hdphoto" Target="../media/image7.wdp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内容占位符 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0325" y="1270"/>
            <a:ext cx="12353290" cy="69494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6040" y="353695"/>
            <a:ext cx="4138295" cy="953135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-60325" y="1270"/>
            <a:ext cx="1207770" cy="352425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64920" y="3168015"/>
            <a:ext cx="1741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事务处理</a:t>
            </a:r>
            <a:endParaRPr lang="zh-CN" altLang="en-US" sz="28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39860" y="3168015"/>
            <a:ext cx="1741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创意思考</a:t>
            </a:r>
            <a:endParaRPr lang="zh-CN" altLang="en-US" sz="28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34610" y="5544820"/>
            <a:ext cx="1741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与人接触</a:t>
            </a:r>
            <a:endParaRPr lang="zh-CN" altLang="en-US" sz="28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34280" y="784860"/>
            <a:ext cx="1741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1">
                    <a:lumMod val="40000"/>
                    <a:lumOff val="60000"/>
                  </a:schemeClr>
                </a:solidFill>
              </a:rPr>
              <a:t>与物接触</a:t>
            </a:r>
            <a:endParaRPr lang="zh-CN" altLang="en-US" sz="2800" b="1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325" y="1415415"/>
            <a:ext cx="12353925" cy="41300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" grpId="0"/>
      <p:bldP spid="4" grpId="0"/>
      <p:bldP spid="7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rcRect t="5638"/>
          <a:stretch>
            <a:fillRect/>
          </a:stretch>
        </p:blipFill>
        <p:spPr>
          <a:xfrm>
            <a:off x="2688590" y="386715"/>
            <a:ext cx="6858635" cy="64719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94070" y="685800"/>
            <a:ext cx="403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R</a:t>
            </a:r>
            <a:endParaRPr lang="en-US" altLang="zh-CN" sz="2400" b="1"/>
          </a:p>
        </p:txBody>
      </p:sp>
      <p:sp>
        <p:nvSpPr>
          <p:cNvPr id="7" name="文本框 6"/>
          <p:cNvSpPr txBox="1"/>
          <p:nvPr/>
        </p:nvSpPr>
        <p:spPr>
          <a:xfrm>
            <a:off x="8566150" y="2284730"/>
            <a:ext cx="403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I</a:t>
            </a:r>
            <a:endParaRPr lang="en-US" altLang="zh-CN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8522335" y="4558665"/>
            <a:ext cx="403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A</a:t>
            </a:r>
            <a:endParaRPr lang="en-US" altLang="zh-CN" sz="2400" b="1"/>
          </a:p>
        </p:txBody>
      </p:sp>
      <p:sp>
        <p:nvSpPr>
          <p:cNvPr id="9" name="文本框 8"/>
          <p:cNvSpPr txBox="1"/>
          <p:nvPr/>
        </p:nvSpPr>
        <p:spPr>
          <a:xfrm flipH="1">
            <a:off x="5870575" y="6089650"/>
            <a:ext cx="5956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S</a:t>
            </a:r>
            <a:endParaRPr lang="en-US" altLang="zh-CN" sz="2400" b="1"/>
          </a:p>
        </p:txBody>
      </p:sp>
      <p:sp>
        <p:nvSpPr>
          <p:cNvPr id="10" name="文本框 9"/>
          <p:cNvSpPr txBox="1"/>
          <p:nvPr/>
        </p:nvSpPr>
        <p:spPr>
          <a:xfrm>
            <a:off x="3164840" y="4558665"/>
            <a:ext cx="38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E</a:t>
            </a:r>
            <a:endParaRPr lang="en-US" altLang="zh-CN" sz="2400" b="1"/>
          </a:p>
        </p:txBody>
      </p:sp>
      <p:sp>
        <p:nvSpPr>
          <p:cNvPr id="11" name="文本框 10"/>
          <p:cNvSpPr txBox="1"/>
          <p:nvPr/>
        </p:nvSpPr>
        <p:spPr>
          <a:xfrm>
            <a:off x="3267075" y="2284730"/>
            <a:ext cx="403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C</a:t>
            </a:r>
            <a:endParaRPr lang="en-US" altLang="zh-CN" sz="2400" b="1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640.web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805" y="162560"/>
            <a:ext cx="10361295" cy="65233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121785" y="417830"/>
            <a:ext cx="403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R</a:t>
            </a:r>
            <a:endParaRPr lang="en-US" altLang="zh-CN" sz="2400" b="1"/>
          </a:p>
        </p:txBody>
      </p:sp>
      <p:sp>
        <p:nvSpPr>
          <p:cNvPr id="6" name="文本框 5"/>
          <p:cNvSpPr txBox="1"/>
          <p:nvPr/>
        </p:nvSpPr>
        <p:spPr>
          <a:xfrm>
            <a:off x="7319010" y="321945"/>
            <a:ext cx="4032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I</a:t>
            </a:r>
            <a:endParaRPr lang="en-US" altLang="zh-CN" sz="2400" b="1"/>
          </a:p>
        </p:txBody>
      </p:sp>
      <p:sp>
        <p:nvSpPr>
          <p:cNvPr id="7" name="文本框 6"/>
          <p:cNvSpPr txBox="1"/>
          <p:nvPr/>
        </p:nvSpPr>
        <p:spPr>
          <a:xfrm>
            <a:off x="9244330" y="2745105"/>
            <a:ext cx="403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A</a:t>
            </a:r>
            <a:endParaRPr lang="en-US" altLang="zh-CN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6731635" y="5629275"/>
            <a:ext cx="38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S</a:t>
            </a:r>
            <a:endParaRPr lang="en-US" altLang="zh-CN" sz="2400" b="1"/>
          </a:p>
        </p:txBody>
      </p:sp>
      <p:sp>
        <p:nvSpPr>
          <p:cNvPr id="9" name="文本框 8"/>
          <p:cNvSpPr txBox="1"/>
          <p:nvPr/>
        </p:nvSpPr>
        <p:spPr>
          <a:xfrm>
            <a:off x="3921125" y="5629275"/>
            <a:ext cx="386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E</a:t>
            </a:r>
            <a:endParaRPr lang="en-US" altLang="zh-CN" sz="2400" b="1"/>
          </a:p>
        </p:txBody>
      </p:sp>
      <p:sp>
        <p:nvSpPr>
          <p:cNvPr id="10" name="文本框 9"/>
          <p:cNvSpPr txBox="1"/>
          <p:nvPr/>
        </p:nvSpPr>
        <p:spPr>
          <a:xfrm>
            <a:off x="2761615" y="2745105"/>
            <a:ext cx="40322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/>
              <a:t>C</a:t>
            </a:r>
            <a:endParaRPr lang="en-US" altLang="zh-CN" sz="2400" b="1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241948" y="409565"/>
            <a:ext cx="662589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  <a:t>R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实用型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41948" y="1802186"/>
            <a:ext cx="5400000" cy="3358614"/>
            <a:chOff x="1187356" y="2333609"/>
            <a:chExt cx="5400000" cy="3358614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" name="圆角矩形 1"/>
            <p:cNvSpPr/>
            <p:nvPr/>
          </p:nvSpPr>
          <p:spPr>
            <a:xfrm>
              <a:off x="1187356" y="2333609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偏好具体任务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187356" y="3243881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喜欢动手操作机器</a:t>
              </a:r>
              <a:r>
                <a:rPr lang="en-US" altLang="zh-CN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工具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87356" y="4154153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偏好户外运动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187356" y="5064426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看重对实际成就的物质回报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585" y="492438"/>
            <a:ext cx="5789415" cy="4342061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260523" y="6376446"/>
            <a:ext cx="1994959" cy="366653"/>
            <a:chOff x="4682678" y="1710989"/>
            <a:chExt cx="1994959" cy="366653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9888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678" y="1710989"/>
              <a:ext cx="366653" cy="366653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5049332" y="1762642"/>
              <a:ext cx="1628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学生发展中心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6" name="圆角矩形 5"/>
          <p:cNvSpPr/>
          <p:nvPr/>
        </p:nvSpPr>
        <p:spPr>
          <a:xfrm>
            <a:off x="2576195" y="5484495"/>
            <a:ext cx="7747000" cy="6280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喜欢从事机械、电子、土木、建筑等工作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虚尾箭头 6"/>
          <p:cNvSpPr/>
          <p:nvPr/>
        </p:nvSpPr>
        <p:spPr>
          <a:xfrm>
            <a:off x="1242060" y="5560060"/>
            <a:ext cx="1090295" cy="476885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241948" y="409565"/>
            <a:ext cx="662589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探究型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41948" y="1579301"/>
            <a:ext cx="5400000" cy="3358614"/>
            <a:chOff x="1187356" y="2333609"/>
            <a:chExt cx="5400000" cy="3358614"/>
          </a:xfrm>
          <a:solidFill>
            <a:schemeClr val="bg1">
              <a:lumMod val="75000"/>
            </a:schemeClr>
          </a:solidFill>
        </p:grpSpPr>
        <p:sp>
          <p:nvSpPr>
            <p:cNvPr id="2" name="圆角矩形 1"/>
            <p:cNvSpPr/>
            <p:nvPr/>
          </p:nvSpPr>
          <p:spPr>
            <a:xfrm>
              <a:off x="1187356" y="2333609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崇尚和追求真理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187356" y="3243881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喜欢从事抽象思维活动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87356" y="4154153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求知欲强，喜欢动脑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187356" y="5064426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喜欢分析、评估、解决问题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60523" y="6376446"/>
            <a:ext cx="1994959" cy="366653"/>
            <a:chOff x="4682678" y="1710989"/>
            <a:chExt cx="1994959" cy="366653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9888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678" y="1710989"/>
              <a:ext cx="366653" cy="366653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/>
          </p:nvSpPr>
          <p:spPr>
            <a:xfrm>
              <a:off x="5049332" y="1762642"/>
              <a:ext cx="1628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学生发展中心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7" name="虚尾箭头 6"/>
          <p:cNvSpPr/>
          <p:nvPr/>
        </p:nvSpPr>
        <p:spPr>
          <a:xfrm>
            <a:off x="1242060" y="5260340"/>
            <a:ext cx="1090295" cy="476885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2585720" y="5260340"/>
            <a:ext cx="9147810" cy="6280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喜欢从事生物、化学、医药、数学、天文等工作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 descr="显微镜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485" y="1579245"/>
            <a:ext cx="4391025" cy="3278505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241948" y="409565"/>
            <a:ext cx="662589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艺术型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338580" y="1745615"/>
            <a:ext cx="5953125" cy="3105150"/>
            <a:chOff x="1187356" y="2333609"/>
            <a:chExt cx="5400000" cy="3358614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2" name="圆角矩形 1"/>
            <p:cNvSpPr/>
            <p:nvPr/>
          </p:nvSpPr>
          <p:spPr>
            <a:xfrm>
              <a:off x="1187356" y="2333609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追求美、自由和多样性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187356" y="3243881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喜欢运用创造力和想象力工作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87356" y="4154153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乐于创造新颖、与众不同的作品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187356" y="5064426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喜欢自我表达、内省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0523" y="6376446"/>
            <a:ext cx="1994959" cy="366653"/>
            <a:chOff x="4682678" y="1710989"/>
            <a:chExt cx="1994959" cy="36665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9888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678" y="1710989"/>
              <a:ext cx="366653" cy="36665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049332" y="1762642"/>
              <a:ext cx="1628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b="1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学生发展中心</a:t>
              </a:r>
              <a:endParaRPr lang="zh-CN" altLang="en-US" sz="1100" b="1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25" y="453390"/>
            <a:ext cx="3056255" cy="4397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虚尾箭头 4"/>
          <p:cNvSpPr/>
          <p:nvPr/>
        </p:nvSpPr>
        <p:spPr>
          <a:xfrm>
            <a:off x="1242060" y="5260340"/>
            <a:ext cx="1090295" cy="476885"/>
          </a:xfrm>
          <a:prstGeom prst="striped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585720" y="5260340"/>
            <a:ext cx="9147810" cy="6280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喜欢从事音乐、写作、戏剧、绘画、设计、舞蹈等工作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241948" y="409565"/>
            <a:ext cx="662589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社会型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42060" y="1784985"/>
            <a:ext cx="5243195" cy="3094355"/>
            <a:chOff x="1187356" y="2333609"/>
            <a:chExt cx="5400000" cy="3358614"/>
          </a:xfrm>
          <a:solidFill>
            <a:schemeClr val="accent4">
              <a:lumMod val="40000"/>
              <a:lumOff val="60000"/>
            </a:schemeClr>
          </a:solidFill>
        </p:grpSpPr>
        <p:sp>
          <p:nvSpPr>
            <p:cNvPr id="2" name="圆角矩形 1"/>
            <p:cNvSpPr/>
            <p:nvPr/>
          </p:nvSpPr>
          <p:spPr>
            <a:xfrm>
              <a:off x="1187356" y="2333609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喜欢与人交往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187356" y="3243881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乐于帮助、指导、关怀他人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87356" y="4154153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重视社会义务和社会道德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187356" y="5064426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有利他主义精神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0523" y="6376446"/>
            <a:ext cx="1994959" cy="366653"/>
            <a:chOff x="4682678" y="1710989"/>
            <a:chExt cx="1994959" cy="36665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9888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678" y="1710989"/>
              <a:ext cx="366653" cy="36665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049332" y="1762642"/>
              <a:ext cx="1628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学生发展中心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6" name="图片 5" descr="支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9355" y="1094105"/>
            <a:ext cx="3657600" cy="3054350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34000"/>
              </a:prstClr>
            </a:outerShdw>
          </a:effectLst>
        </p:spPr>
      </p:pic>
      <p:sp>
        <p:nvSpPr>
          <p:cNvPr id="7" name="虚尾箭头 6"/>
          <p:cNvSpPr/>
          <p:nvPr/>
        </p:nvSpPr>
        <p:spPr>
          <a:xfrm>
            <a:off x="1242060" y="5260340"/>
            <a:ext cx="1090295" cy="476885"/>
          </a:xfrm>
          <a:prstGeom prst="striped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585720" y="5260340"/>
            <a:ext cx="7677785" cy="6280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喜欢从事教师、志愿服务、社工、医护等工作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241948" y="409565"/>
            <a:ext cx="662589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企业型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82015" y="1739265"/>
            <a:ext cx="6089650" cy="3202940"/>
            <a:chOff x="1187356" y="2333609"/>
            <a:chExt cx="5400000" cy="3358614"/>
          </a:xfrm>
          <a:solidFill>
            <a:srgbClr val="FF3F3F">
              <a:alpha val="58000"/>
            </a:srgbClr>
          </a:solidFill>
        </p:grpSpPr>
        <p:sp>
          <p:nvSpPr>
            <p:cNvPr id="2" name="圆角矩形 1"/>
            <p:cNvSpPr/>
            <p:nvPr/>
          </p:nvSpPr>
          <p:spPr>
            <a:xfrm>
              <a:off x="1187356" y="2333609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追求领导、管理、督导他人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187356" y="3243881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有抱负、野心，敢冒险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87356" y="4154153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喜欢以利益得失衡量，目标明确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187356" y="5064426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喜欢说服和影响他人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0523" y="6376446"/>
            <a:ext cx="1994959" cy="366653"/>
            <a:chOff x="4682678" y="1710989"/>
            <a:chExt cx="1994959" cy="36665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9888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678" y="1710989"/>
              <a:ext cx="366653" cy="36665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049332" y="1762642"/>
              <a:ext cx="1628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学生发展中心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0"/>
          <a:stretch>
            <a:fillRect/>
          </a:stretch>
        </p:blipFill>
        <p:spPr>
          <a:xfrm>
            <a:off x="7468235" y="2116455"/>
            <a:ext cx="3893185" cy="2683510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35000"/>
              </a:prstClr>
            </a:outerShdw>
          </a:effectLst>
        </p:spPr>
      </p:pic>
      <p:sp>
        <p:nvSpPr>
          <p:cNvPr id="7" name="圆角矩形 6"/>
          <p:cNvSpPr/>
          <p:nvPr/>
        </p:nvSpPr>
        <p:spPr>
          <a:xfrm>
            <a:off x="2255520" y="5187315"/>
            <a:ext cx="7979410" cy="6280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喜欢从事管理、销售、司法、政治等工作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虚尾箭头 7"/>
          <p:cNvSpPr/>
          <p:nvPr/>
        </p:nvSpPr>
        <p:spPr>
          <a:xfrm>
            <a:off x="896620" y="5187315"/>
            <a:ext cx="1090295" cy="476885"/>
          </a:xfrm>
          <a:prstGeom prst="striped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文本框 44"/>
          <p:cNvSpPr txBox="1"/>
          <p:nvPr/>
        </p:nvSpPr>
        <p:spPr>
          <a:xfrm>
            <a:off x="1241948" y="409565"/>
            <a:ext cx="662589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4400" b="1" dirty="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zh-CN" altLang="en-US" sz="6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事务型</a:t>
            </a:r>
            <a:endParaRPr lang="zh-CN" altLang="en-US" sz="3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42060" y="1749425"/>
            <a:ext cx="4874260" cy="3075940"/>
            <a:chOff x="1187356" y="2333609"/>
            <a:chExt cx="5400000" cy="3358614"/>
          </a:xfrm>
          <a:solidFill>
            <a:srgbClr val="00B0F0">
              <a:alpha val="60000"/>
            </a:srgbClr>
          </a:solidFill>
        </p:grpSpPr>
        <p:sp>
          <p:nvSpPr>
            <p:cNvPr id="2" name="圆角矩形 1"/>
            <p:cNvSpPr/>
            <p:nvPr/>
          </p:nvSpPr>
          <p:spPr>
            <a:xfrm>
              <a:off x="1187356" y="2333609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尊重权威和规章制度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1187356" y="3243881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喜欢按照计划、流程办事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187356" y="4154153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喜欢接受他人的领导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1187356" y="5064426"/>
              <a:ext cx="5400000" cy="62779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3200" b="1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关注细节、谨慎保守</a:t>
              </a:r>
              <a:endPara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260523" y="6376446"/>
            <a:ext cx="1994959" cy="366653"/>
            <a:chOff x="4682678" y="1710989"/>
            <a:chExt cx="1994959" cy="366653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1" cstate="print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0" b="98889" l="0" r="98889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2678" y="1710989"/>
              <a:ext cx="366653" cy="366653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049332" y="1762642"/>
              <a:ext cx="162830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dirty="0"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学生发展中心</a:t>
              </a:r>
              <a:endParaRPr lang="zh-CN" altLang="en-US" sz="1100" dirty="0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8" name="图片 7" descr="职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395" y="1904365"/>
            <a:ext cx="4089400" cy="2726690"/>
          </a:xfrm>
          <a:prstGeom prst="rect">
            <a:avLst/>
          </a:prstGeom>
          <a:effectLst>
            <a:outerShdw blurRad="50800" dist="38100" dir="2700000" sx="101000" sy="101000" algn="tl" rotWithShape="0">
              <a:prstClr val="black">
                <a:alpha val="39000"/>
              </a:prstClr>
            </a:outerShdw>
          </a:effectLst>
        </p:spPr>
      </p:pic>
      <p:sp>
        <p:nvSpPr>
          <p:cNvPr id="15" name="圆角矩形 14"/>
          <p:cNvSpPr/>
          <p:nvPr/>
        </p:nvSpPr>
        <p:spPr>
          <a:xfrm>
            <a:off x="2576195" y="5111750"/>
            <a:ext cx="7804150" cy="6280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喜欢从事银行、金融、会计、秘书等工作</a:t>
            </a:r>
            <a:endParaRPr lang="zh-CN" altLang="en-US" sz="3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虚尾箭头 15"/>
          <p:cNvSpPr/>
          <p:nvPr/>
        </p:nvSpPr>
        <p:spPr>
          <a:xfrm>
            <a:off x="1242060" y="5187315"/>
            <a:ext cx="1090295" cy="476885"/>
          </a:xfrm>
          <a:prstGeom prst="striped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" name="矩形 24"/>
          <p:cNvSpPr/>
          <p:nvPr/>
        </p:nvSpPr>
        <p:spPr>
          <a:xfrm>
            <a:off x="958850" y="1889760"/>
            <a:ext cx="6035675" cy="3922395"/>
          </a:xfrm>
          <a:custGeom>
            <a:avLst/>
            <a:gdLst>
              <a:gd name="connsiteX0" fmla="*/ 0 w 10820402"/>
              <a:gd name="connsiteY0" fmla="*/ 0 h 5708650"/>
              <a:gd name="connsiteX1" fmla="*/ 10820402 w 10820402"/>
              <a:gd name="connsiteY1" fmla="*/ 0 h 5708650"/>
              <a:gd name="connsiteX2" fmla="*/ 10820402 w 10820402"/>
              <a:gd name="connsiteY2" fmla="*/ 5708650 h 5708650"/>
              <a:gd name="connsiteX3" fmla="*/ 0 w 10820402"/>
              <a:gd name="connsiteY3" fmla="*/ 5708650 h 5708650"/>
              <a:gd name="connsiteX4" fmla="*/ 0 w 10820402"/>
              <a:gd name="connsiteY4" fmla="*/ 0 h 5708650"/>
              <a:gd name="connsiteX0-1" fmla="*/ 0 w 10820402"/>
              <a:gd name="connsiteY0-2" fmla="*/ 0 h 5708650"/>
              <a:gd name="connsiteX1-3" fmla="*/ 10820402 w 10820402"/>
              <a:gd name="connsiteY1-4" fmla="*/ 0 h 5708650"/>
              <a:gd name="connsiteX2-5" fmla="*/ 10812781 w 10820402"/>
              <a:gd name="connsiteY2-6" fmla="*/ 5188585 h 5708650"/>
              <a:gd name="connsiteX3-7" fmla="*/ 10820402 w 10820402"/>
              <a:gd name="connsiteY3-8" fmla="*/ 5708650 h 5708650"/>
              <a:gd name="connsiteX4-9" fmla="*/ 0 w 10820402"/>
              <a:gd name="connsiteY4-10" fmla="*/ 5708650 h 5708650"/>
              <a:gd name="connsiteX5" fmla="*/ 0 w 10820402"/>
              <a:gd name="connsiteY5" fmla="*/ 0 h 5708650"/>
              <a:gd name="connsiteX0-11" fmla="*/ 0 w 10820402"/>
              <a:gd name="connsiteY0-12" fmla="*/ 0 h 5708650"/>
              <a:gd name="connsiteX1-13" fmla="*/ 10820402 w 10820402"/>
              <a:gd name="connsiteY1-14" fmla="*/ 0 h 5708650"/>
              <a:gd name="connsiteX2-15" fmla="*/ 10812781 w 10820402"/>
              <a:gd name="connsiteY2-16" fmla="*/ 5188585 h 5708650"/>
              <a:gd name="connsiteX3-17" fmla="*/ 10820402 w 10820402"/>
              <a:gd name="connsiteY3-18" fmla="*/ 5708650 h 5708650"/>
              <a:gd name="connsiteX4-19" fmla="*/ 9936481 w 10820402"/>
              <a:gd name="connsiteY4-20" fmla="*/ 5706745 h 5708650"/>
              <a:gd name="connsiteX5-21" fmla="*/ 0 w 10820402"/>
              <a:gd name="connsiteY5-22" fmla="*/ 5708650 h 5708650"/>
              <a:gd name="connsiteX6" fmla="*/ 0 w 10820402"/>
              <a:gd name="connsiteY6" fmla="*/ 0 h 5708650"/>
              <a:gd name="connsiteX0-23" fmla="*/ 0 w 10820402"/>
              <a:gd name="connsiteY0-24" fmla="*/ 0 h 5708650"/>
              <a:gd name="connsiteX1-25" fmla="*/ 10820402 w 10820402"/>
              <a:gd name="connsiteY1-26" fmla="*/ 0 h 5708650"/>
              <a:gd name="connsiteX2-27" fmla="*/ 10812781 w 10820402"/>
              <a:gd name="connsiteY2-28" fmla="*/ 5188585 h 5708650"/>
              <a:gd name="connsiteX3-29" fmla="*/ 9936481 w 10820402"/>
              <a:gd name="connsiteY3-30" fmla="*/ 5706745 h 5708650"/>
              <a:gd name="connsiteX4-31" fmla="*/ 0 w 10820402"/>
              <a:gd name="connsiteY4-32" fmla="*/ 5708650 h 5708650"/>
              <a:gd name="connsiteX5-33" fmla="*/ 0 w 10820402"/>
              <a:gd name="connsiteY5-34" fmla="*/ 0 h 570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10820402" h="5708650">
                <a:moveTo>
                  <a:pt x="0" y="0"/>
                </a:moveTo>
                <a:lnTo>
                  <a:pt x="10820402" y="0"/>
                </a:lnTo>
                <a:cubicBezTo>
                  <a:pt x="10817862" y="1729528"/>
                  <a:pt x="10815321" y="3459057"/>
                  <a:pt x="10812781" y="5188585"/>
                </a:cubicBezTo>
                <a:lnTo>
                  <a:pt x="9936481" y="5706745"/>
                </a:lnTo>
                <a:lnTo>
                  <a:pt x="0" y="57086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3000"/>
            </a:schemeClr>
          </a:solidFill>
          <a:ln w="3175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58850" y="490220"/>
            <a:ext cx="5781675" cy="647700"/>
          </a:xfrm>
        </p:spPr>
        <p:txBody>
          <a:bodyPr/>
          <a:p>
            <a:r>
              <a:rPr sz="4400">
                <a:solidFill>
                  <a:schemeClr val="bg1"/>
                </a:solidFill>
                <a:highlight>
                  <a:srgbClr val="FF0000"/>
                </a:highlight>
                <a:latin typeface="华文仿宋" panose="02010600040101010101" charset="-122"/>
                <a:ea typeface="华文仿宋" panose="02010600040101010101" charset="-122"/>
                <a:sym typeface="+mn-ea"/>
              </a:rPr>
              <a:t>六种人的逻辑思考  </a:t>
            </a:r>
            <a:endParaRPr lang="zh-CN" altLang="en-US" sz="4400">
              <a:solidFill>
                <a:schemeClr val="bg1"/>
              </a:solidFill>
              <a:highlight>
                <a:srgbClr val="FF0000"/>
              </a:highlight>
              <a:latin typeface="华文仿宋" panose="02010600040101010101" charset="-122"/>
              <a:ea typeface="华文仿宋" panose="02010600040101010101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43355" y="2084070"/>
            <a:ext cx="5067300" cy="1847850"/>
          </a:xfrm>
        </p:spPr>
        <p:txBody>
          <a:bodyPr/>
          <a:p>
            <a:pPr marL="0" indent="0">
              <a:lnSpc>
                <a:spcPct val="170000"/>
              </a:lnSpc>
              <a:buNone/>
            </a:pPr>
            <a:r>
              <a:rPr lang="en-US" altLang="zh-CN" sz="3600"/>
              <a:t>     </a:t>
            </a:r>
            <a:r>
              <a:rPr lang="en-US" altLang="zh-CN" sz="2800"/>
              <a:t> </a:t>
            </a:r>
            <a:r>
              <a:rPr lang="zh-CN" altLang="en-US" sz="2800"/>
              <a:t>数学老师在下课前出了一题很难的应用题，且算对的人月考加五分，眼看时间快到了，你会？</a:t>
            </a:r>
            <a:endParaRPr lang="zh-CN" altLang="en-US" sz="2800"/>
          </a:p>
        </p:txBody>
      </p:sp>
      <p:pic>
        <p:nvPicPr>
          <p:cNvPr id="4" name="图片 3" descr="作业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7505" y="2311400"/>
            <a:ext cx="3072130" cy="3078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0215" y="937895"/>
            <a:ext cx="1689100" cy="647700"/>
          </a:xfrm>
        </p:spPr>
        <p:txBody>
          <a:bodyPr/>
          <a:p>
            <a:r>
              <a:rPr lang="zh-CN" altLang="en-US">
                <a:solidFill>
                  <a:schemeClr val="tx1"/>
                </a:solidFill>
              </a:rPr>
              <a:t>实用型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139315" y="1031240"/>
            <a:ext cx="87541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想要加五分而默默地算，即使下课了还是会继续默默地进行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39315" y="1855470"/>
            <a:ext cx="91236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觉得题目很有挑战性，既然开始想来就要想办法完成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08530" y="2649855"/>
            <a:ext cx="8471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认为加不加分、算不算地出来都没关系</a:t>
            </a:r>
            <a:r>
              <a:rPr lang="en-US" altLang="zh-CN" sz="2400">
                <a:solidFill>
                  <a:schemeClr val="tx1"/>
                </a:solidFill>
              </a:rPr>
              <a:t>~</a:t>
            </a:r>
            <a:r>
              <a:rPr lang="zh-CN" altLang="en-US" sz="2400">
                <a:solidFill>
                  <a:schemeClr val="tx1"/>
                </a:solidFill>
              </a:rPr>
              <a:t>也不想浪费下课时间！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87725" y="4302125"/>
            <a:ext cx="65430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不太像要这么复杂的问题，觉得问别人比较快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75715" y="4986020"/>
            <a:ext cx="909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会仔细检查自己运算的步骤，但也希望老师可以多给一些线索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2460" y="3597275"/>
            <a:ext cx="92297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想问身边的人怎么算，如果算对了还会顺便教一下其他不会的同学</a:t>
            </a:r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13" name="标题 1"/>
          <p:cNvSpPr>
            <a:spLocks noGrp="1"/>
          </p:cNvSpPr>
          <p:nvPr/>
        </p:nvSpPr>
        <p:spPr>
          <a:xfrm>
            <a:off x="450215" y="1762125"/>
            <a:ext cx="1689100" cy="6477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探究型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标题 1"/>
          <p:cNvSpPr>
            <a:spLocks noGrp="1"/>
          </p:cNvSpPr>
          <p:nvPr/>
        </p:nvSpPr>
        <p:spPr>
          <a:xfrm>
            <a:off x="450215" y="2555875"/>
            <a:ext cx="1689100" cy="6477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艺术型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" name="标题 1"/>
          <p:cNvSpPr>
            <a:spLocks noGrp="1"/>
          </p:cNvSpPr>
          <p:nvPr/>
        </p:nvSpPr>
        <p:spPr>
          <a:xfrm>
            <a:off x="9862185" y="3503295"/>
            <a:ext cx="1689100" cy="6477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社会型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标题 1"/>
          <p:cNvSpPr>
            <a:spLocks noGrp="1"/>
          </p:cNvSpPr>
          <p:nvPr/>
        </p:nvSpPr>
        <p:spPr>
          <a:xfrm>
            <a:off x="9930765" y="4208145"/>
            <a:ext cx="1689100" cy="6477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企业型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标题 1"/>
          <p:cNvSpPr>
            <a:spLocks noGrp="1"/>
          </p:cNvSpPr>
          <p:nvPr/>
        </p:nvSpPr>
        <p:spPr>
          <a:xfrm>
            <a:off x="9930765" y="4892040"/>
            <a:ext cx="1689100" cy="6477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r>
              <a:rPr lang="zh-CN" altLang="en-US">
                <a:solidFill>
                  <a:schemeClr val="tx1"/>
                </a:solidFill>
              </a:rPr>
              <a:t>事务型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13" grpId="0"/>
      <p:bldP spid="7" grpId="0"/>
      <p:bldP spid="14" grpId="0"/>
      <p:bldP spid="8" grpId="0"/>
      <p:bldP spid="15" grpId="0"/>
      <p:bldP spid="12" grpId="0"/>
      <p:bldP spid="16" grpId="0"/>
      <p:bldP spid="9" grpId="0"/>
      <p:bldP spid="1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5400000">
            <a:off x="9625262" y="-1092574"/>
            <a:ext cx="2145393" cy="2145393"/>
            <a:chOff x="-1447560" y="1891958"/>
            <a:chExt cx="2895121" cy="2895121"/>
          </a:xfrm>
        </p:grpSpPr>
        <p:sp>
          <p:nvSpPr>
            <p:cNvPr id="3" name="等腰三角形 2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4" name="半闭框 3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 rot="16200000" flipV="1">
            <a:off x="9625261" y="5785303"/>
            <a:ext cx="2145393" cy="2145393"/>
            <a:chOff x="-1447560" y="1891958"/>
            <a:chExt cx="2895121" cy="2895121"/>
          </a:xfrm>
          <a:effectLst>
            <a:outerShdw blurRad="1905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等腰三角形 5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pic>
        <p:nvPicPr>
          <p:cNvPr id="9" name="图片 8" descr="迷茫必看_如何找到适合你的职业！_1_鑫鑫天赋教练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205" y="0"/>
            <a:ext cx="484695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2815" y="1035685"/>
            <a:ext cx="3548380" cy="647700"/>
          </a:xfrm>
        </p:spPr>
        <p:txBody>
          <a:bodyPr>
            <a:scene3d>
              <a:camera prst="orthographicFront"/>
              <a:lightRig rig="threePt" dir="t"/>
            </a:scene3d>
          </a:bodyPr>
          <a:p>
            <a:r>
              <a:rPr lang="zh-CN" altLang="en-US" sz="4800">
                <a:solidFill>
                  <a:srgbClr val="FF0000"/>
                </a:solidFill>
                <a:effectLst/>
              </a:rPr>
              <a:t>兴趣代码</a:t>
            </a:r>
            <a:endParaRPr lang="zh-CN" altLang="en-US" sz="4800">
              <a:solidFill>
                <a:srgbClr val="FF0000"/>
              </a:solidFill>
              <a:effectLst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1980" y="2172970"/>
            <a:ext cx="4580255" cy="1429385"/>
          </a:xfrm>
        </p:spPr>
        <p:txBody>
          <a:bodyPr/>
          <a:p>
            <a:pPr>
              <a:lnSpc>
                <a:spcPct val="160000"/>
              </a:lnSpc>
            </a:pPr>
            <a:r>
              <a:rPr lang="zh-CN" altLang="en-US" sz="3200"/>
              <a:t>第一码：主要兴趣</a:t>
            </a:r>
            <a:endParaRPr lang="zh-CN" altLang="en-US" sz="3200"/>
          </a:p>
          <a:p>
            <a:pPr>
              <a:lnSpc>
                <a:spcPct val="160000"/>
              </a:lnSpc>
            </a:pPr>
            <a:r>
              <a:rPr lang="zh-CN" altLang="en-US" sz="3200"/>
              <a:t>第二码：工作风格</a:t>
            </a:r>
            <a:endParaRPr lang="zh-CN" altLang="en-US" sz="3200"/>
          </a:p>
          <a:p>
            <a:pPr>
              <a:lnSpc>
                <a:spcPct val="160000"/>
              </a:lnSpc>
            </a:pPr>
            <a:r>
              <a:rPr lang="zh-CN" altLang="en-US" sz="3200"/>
              <a:t>第三码：变数较大</a:t>
            </a:r>
            <a:endParaRPr lang="zh-CN" altLang="en-US" sz="3200"/>
          </a:p>
        </p:txBody>
      </p:sp>
      <p:sp>
        <p:nvSpPr>
          <p:cNvPr id="26" name="矩形 24"/>
          <p:cNvSpPr/>
          <p:nvPr/>
        </p:nvSpPr>
        <p:spPr>
          <a:xfrm>
            <a:off x="6217920" y="1477010"/>
            <a:ext cx="5937885" cy="3903345"/>
          </a:xfrm>
          <a:custGeom>
            <a:avLst/>
            <a:gdLst>
              <a:gd name="connsiteX0" fmla="*/ 0 w 10820402"/>
              <a:gd name="connsiteY0" fmla="*/ 0 h 5708650"/>
              <a:gd name="connsiteX1" fmla="*/ 10820402 w 10820402"/>
              <a:gd name="connsiteY1" fmla="*/ 0 h 5708650"/>
              <a:gd name="connsiteX2" fmla="*/ 10820402 w 10820402"/>
              <a:gd name="connsiteY2" fmla="*/ 5708650 h 5708650"/>
              <a:gd name="connsiteX3" fmla="*/ 0 w 10820402"/>
              <a:gd name="connsiteY3" fmla="*/ 5708650 h 5708650"/>
              <a:gd name="connsiteX4" fmla="*/ 0 w 10820402"/>
              <a:gd name="connsiteY4" fmla="*/ 0 h 5708650"/>
              <a:gd name="connsiteX0-1" fmla="*/ 0 w 10820402"/>
              <a:gd name="connsiteY0-2" fmla="*/ 0 h 5708650"/>
              <a:gd name="connsiteX1-3" fmla="*/ 10820402 w 10820402"/>
              <a:gd name="connsiteY1-4" fmla="*/ 0 h 5708650"/>
              <a:gd name="connsiteX2-5" fmla="*/ 10812781 w 10820402"/>
              <a:gd name="connsiteY2-6" fmla="*/ 5188585 h 5708650"/>
              <a:gd name="connsiteX3-7" fmla="*/ 10820402 w 10820402"/>
              <a:gd name="connsiteY3-8" fmla="*/ 5708650 h 5708650"/>
              <a:gd name="connsiteX4-9" fmla="*/ 0 w 10820402"/>
              <a:gd name="connsiteY4-10" fmla="*/ 5708650 h 5708650"/>
              <a:gd name="connsiteX5" fmla="*/ 0 w 10820402"/>
              <a:gd name="connsiteY5" fmla="*/ 0 h 5708650"/>
              <a:gd name="connsiteX0-11" fmla="*/ 0 w 10820402"/>
              <a:gd name="connsiteY0-12" fmla="*/ 0 h 5708650"/>
              <a:gd name="connsiteX1-13" fmla="*/ 10820402 w 10820402"/>
              <a:gd name="connsiteY1-14" fmla="*/ 0 h 5708650"/>
              <a:gd name="connsiteX2-15" fmla="*/ 10812781 w 10820402"/>
              <a:gd name="connsiteY2-16" fmla="*/ 5188585 h 5708650"/>
              <a:gd name="connsiteX3-17" fmla="*/ 10820402 w 10820402"/>
              <a:gd name="connsiteY3-18" fmla="*/ 5708650 h 5708650"/>
              <a:gd name="connsiteX4-19" fmla="*/ 9936481 w 10820402"/>
              <a:gd name="connsiteY4-20" fmla="*/ 5706745 h 5708650"/>
              <a:gd name="connsiteX5-21" fmla="*/ 0 w 10820402"/>
              <a:gd name="connsiteY5-22" fmla="*/ 5708650 h 5708650"/>
              <a:gd name="connsiteX6" fmla="*/ 0 w 10820402"/>
              <a:gd name="connsiteY6" fmla="*/ 0 h 5708650"/>
              <a:gd name="connsiteX0-23" fmla="*/ 0 w 10820402"/>
              <a:gd name="connsiteY0-24" fmla="*/ 0 h 5708650"/>
              <a:gd name="connsiteX1-25" fmla="*/ 10820402 w 10820402"/>
              <a:gd name="connsiteY1-26" fmla="*/ 0 h 5708650"/>
              <a:gd name="connsiteX2-27" fmla="*/ 10812781 w 10820402"/>
              <a:gd name="connsiteY2-28" fmla="*/ 5188585 h 5708650"/>
              <a:gd name="connsiteX3-29" fmla="*/ 9936481 w 10820402"/>
              <a:gd name="connsiteY3-30" fmla="*/ 5706745 h 5708650"/>
              <a:gd name="connsiteX4-31" fmla="*/ 0 w 10820402"/>
              <a:gd name="connsiteY4-32" fmla="*/ 5708650 h 5708650"/>
              <a:gd name="connsiteX5-33" fmla="*/ 0 w 10820402"/>
              <a:gd name="connsiteY5-34" fmla="*/ 0 h 57086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10820402" h="5708650">
                <a:moveTo>
                  <a:pt x="0" y="0"/>
                </a:moveTo>
                <a:lnTo>
                  <a:pt x="10820402" y="0"/>
                </a:lnTo>
                <a:cubicBezTo>
                  <a:pt x="10817862" y="1729528"/>
                  <a:pt x="10815321" y="3459057"/>
                  <a:pt x="10812781" y="5188585"/>
                </a:cubicBezTo>
                <a:lnTo>
                  <a:pt x="9936481" y="5706745"/>
                </a:lnTo>
                <a:lnTo>
                  <a:pt x="0" y="57086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93000"/>
            </a:schemeClr>
          </a:solidFill>
          <a:ln w="3175">
            <a:noFill/>
          </a:ln>
          <a:effectLst>
            <a:outerShdw blurRad="127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860540" y="2172970"/>
            <a:ext cx="5029835" cy="229489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10000"/>
              </a:lnSpc>
              <a:buNone/>
            </a:pPr>
            <a:r>
              <a:rPr lang="zh-CN" altLang="en-US" sz="2400"/>
              <a:t>我最想去的是：</a:t>
            </a:r>
            <a:r>
              <a:rPr lang="en-US" altLang="zh-CN" sz="2400"/>
              <a:t>__________</a:t>
            </a:r>
            <a:r>
              <a:rPr sz="2400"/>
              <a:t>岛   </a:t>
            </a:r>
            <a:endParaRPr sz="2400"/>
          </a:p>
          <a:p>
            <a:pPr marL="0" indent="0">
              <a:lnSpc>
                <a:spcPct val="210000"/>
              </a:lnSpc>
              <a:buNone/>
            </a:pPr>
            <a:r>
              <a:rPr sz="2400"/>
              <a:t>其次是：</a:t>
            </a:r>
            <a:r>
              <a:rPr lang="en-US" altLang="zh-CN" sz="2400">
                <a:sym typeface="+mn-ea"/>
              </a:rPr>
              <a:t>__________</a:t>
            </a:r>
            <a:r>
              <a:rPr sz="2400">
                <a:sym typeface="+mn-ea"/>
              </a:rPr>
              <a:t>岛</a:t>
            </a:r>
            <a:r>
              <a:rPr sz="2400"/>
              <a:t>   </a:t>
            </a:r>
            <a:endParaRPr sz="2400"/>
          </a:p>
          <a:p>
            <a:pPr marL="0" indent="0">
              <a:lnSpc>
                <a:spcPct val="210000"/>
              </a:lnSpc>
              <a:buNone/>
            </a:pPr>
            <a:r>
              <a:rPr sz="2400"/>
              <a:t>最后是：</a:t>
            </a:r>
            <a:r>
              <a:rPr lang="en-US" altLang="zh-CN" sz="2400">
                <a:sym typeface="+mn-ea"/>
              </a:rPr>
              <a:t>__________</a:t>
            </a:r>
            <a:r>
              <a:rPr sz="2400">
                <a:sym typeface="+mn-ea"/>
              </a:rPr>
              <a:t>岛</a:t>
            </a:r>
            <a:endParaRPr sz="2400">
              <a:sym typeface="+mn-ea"/>
            </a:endParaRPr>
          </a:p>
          <a:p>
            <a:pPr marL="0" indent="0">
              <a:buNone/>
            </a:pPr>
            <a:endParaRPr sz="2400">
              <a:sym typeface="+mn-ea"/>
            </a:endParaRPr>
          </a:p>
        </p:txBody>
      </p:sp>
      <p:sp>
        <p:nvSpPr>
          <p:cNvPr id="5" name="虚尾箭头 4"/>
          <p:cNvSpPr/>
          <p:nvPr/>
        </p:nvSpPr>
        <p:spPr>
          <a:xfrm rot="10800000">
            <a:off x="4722495" y="3189605"/>
            <a:ext cx="1285875" cy="769620"/>
          </a:xfrm>
          <a:prstGeom prst="stripedRightArrow">
            <a:avLst/>
          </a:prstGeom>
          <a:solidFill>
            <a:srgbClr val="FAA0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864090" y="2366645"/>
            <a:ext cx="895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S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773160" y="3282315"/>
            <a:ext cx="895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F0"/>
                </a:solidFill>
              </a:rPr>
              <a:t>A</a:t>
            </a:r>
            <a:endParaRPr lang="en-US" altLang="zh-CN" sz="3200">
              <a:solidFill>
                <a:srgbClr val="00B0F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927465" y="4081780"/>
            <a:ext cx="895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00B0F0"/>
                </a:solidFill>
              </a:rPr>
              <a:t>I</a:t>
            </a:r>
            <a:endParaRPr lang="en-US" altLang="zh-CN" sz="3600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864090" y="2366645"/>
            <a:ext cx="895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A716EA"/>
                </a:solidFill>
              </a:rPr>
              <a:t>E</a:t>
            </a:r>
            <a:endParaRPr lang="en-US" altLang="zh-CN" sz="3200">
              <a:solidFill>
                <a:srgbClr val="A716EA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73160" y="3282315"/>
            <a:ext cx="8959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A716EA"/>
                </a:solidFill>
              </a:rPr>
              <a:t>C</a:t>
            </a:r>
            <a:endParaRPr lang="en-US" altLang="zh-CN" sz="3200">
              <a:solidFill>
                <a:srgbClr val="A716EA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823450" y="2305050"/>
            <a:ext cx="11690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rgbClr val="92D050"/>
                </a:solidFill>
              </a:rPr>
              <a:t>R</a:t>
            </a:r>
            <a:endParaRPr lang="en-US" altLang="zh-CN" sz="4000">
              <a:solidFill>
                <a:srgbClr val="92D050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6" grpId="1"/>
      <p:bldP spid="7" grpId="1"/>
      <p:bldP spid="8" grpId="1"/>
      <p:bldP spid="9" grpId="0"/>
      <p:bldP spid="10" grpId="0"/>
      <p:bldP spid="3" grpId="0" uiExpand="1" build="p"/>
      <p:bldP spid="5" grpId="0" bldLvl="0" animBg="1"/>
      <p:bldP spid="2" grpId="0"/>
      <p:bldP spid="9" grpId="1"/>
      <p:bldP spid="10" grpId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5400000">
            <a:off x="9625262" y="-1092574"/>
            <a:ext cx="2145393" cy="2145393"/>
            <a:chOff x="-1447560" y="1891958"/>
            <a:chExt cx="2895121" cy="2895121"/>
          </a:xfrm>
        </p:grpSpPr>
        <p:sp>
          <p:nvSpPr>
            <p:cNvPr id="3" name="等腰三角形 2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4" name="半闭框 3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 rot="16200000" flipV="1">
            <a:off x="9625261" y="5785303"/>
            <a:ext cx="2145393" cy="2145393"/>
            <a:chOff x="-1447560" y="1891958"/>
            <a:chExt cx="2895121" cy="2895121"/>
          </a:xfrm>
          <a:effectLst>
            <a:outerShdw blurRad="1905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等腰三角形 5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pic>
        <p:nvPicPr>
          <p:cNvPr id="8" name="图片 7" descr="霍兰德职业兴趣代号与其相应的职业对照表_1_Sylvia 瘦蛙求职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0"/>
            <a:ext cx="5143500" cy="6858000"/>
          </a:xfrm>
          <a:prstGeom prst="rect">
            <a:avLst/>
          </a:prstGeom>
        </p:spPr>
      </p:pic>
      <p:pic>
        <p:nvPicPr>
          <p:cNvPr id="10" name="图片 9" descr="霍兰德职业兴趣代号与其相应的职业对照表_2_Sylvia 瘦蛙求职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115" y="0"/>
            <a:ext cx="51435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5400000">
            <a:off x="9625262" y="-1092574"/>
            <a:ext cx="2145393" cy="2145393"/>
            <a:chOff x="-1447560" y="1891958"/>
            <a:chExt cx="2895121" cy="2895121"/>
          </a:xfrm>
        </p:grpSpPr>
        <p:sp>
          <p:nvSpPr>
            <p:cNvPr id="3" name="等腰三角形 2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4" name="半闭框 3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 rot="16200000" flipV="1">
            <a:off x="9625261" y="5785303"/>
            <a:ext cx="2145393" cy="2145393"/>
            <a:chOff x="-1447560" y="1891958"/>
            <a:chExt cx="2895121" cy="2895121"/>
          </a:xfrm>
          <a:effectLst>
            <a:outerShdw blurRad="1905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等腰三角形 5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pic>
        <p:nvPicPr>
          <p:cNvPr id="8" name="图片 7" descr="霍兰德职业兴趣代号与其相应的职业对照表_3_Sylvia 瘦蛙求职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95" y="0"/>
            <a:ext cx="5143500" cy="6858000"/>
          </a:xfrm>
          <a:prstGeom prst="rect">
            <a:avLst/>
          </a:prstGeom>
        </p:spPr>
      </p:pic>
      <p:pic>
        <p:nvPicPr>
          <p:cNvPr id="10" name="图片 9" descr="霍兰德职业兴趣代号与其相应的职业对照表_4_Sylvia 瘦蛙求职_来自小红书网页版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005" y="0"/>
            <a:ext cx="51435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5400000">
            <a:off x="9625262" y="-1092574"/>
            <a:ext cx="2145393" cy="2145393"/>
            <a:chOff x="-1447560" y="1891958"/>
            <a:chExt cx="2895121" cy="2895121"/>
          </a:xfrm>
        </p:grpSpPr>
        <p:sp>
          <p:nvSpPr>
            <p:cNvPr id="3" name="等腰三角形 2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4" name="半闭框 3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 rot="16200000" flipV="1">
            <a:off x="9625261" y="5785303"/>
            <a:ext cx="2145393" cy="2145393"/>
            <a:chOff x="-1447560" y="1891958"/>
            <a:chExt cx="2895121" cy="2895121"/>
          </a:xfrm>
          <a:effectLst>
            <a:outerShdw blurRad="1905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6" name="等腰三角形 5"/>
            <p:cNvSpPr/>
            <p:nvPr/>
          </p:nvSpPr>
          <p:spPr>
            <a:xfrm rot="8100000" flipH="1" flipV="1">
              <a:off x="-694063" y="2607437"/>
              <a:ext cx="1420452" cy="1455562"/>
            </a:xfrm>
            <a:prstGeom prst="triangle">
              <a:avLst>
                <a:gd name="adj" fmla="val 100000"/>
              </a:avLst>
            </a:prstGeom>
            <a:solidFill>
              <a:srgbClr val="001746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4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造字工房悦黑体验版纤细体" pitchFamily="50" charset="-122"/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rot="8100000">
              <a:off x="-1447560" y="1891958"/>
              <a:ext cx="2895121" cy="2895121"/>
            </a:xfrm>
            <a:prstGeom prst="halfFrame">
              <a:avLst>
                <a:gd name="adj1" fmla="val 16662"/>
                <a:gd name="adj2" fmla="val 16223"/>
              </a:avLst>
            </a:prstGeom>
            <a:solidFill>
              <a:srgbClr val="D80E2B"/>
            </a:solidFill>
            <a:ln>
              <a:noFill/>
            </a:ln>
            <a:effectLst>
              <a:outerShdw blurRad="152400" dist="38100" dir="5400000" algn="t" rotWithShape="0">
                <a:prstClr val="black">
                  <a:alpha val="4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造字工房悦黑体验版纤细体" pitchFamily="50" charset="-122"/>
              </a:endParaRPr>
            </a:p>
          </p:txBody>
        </p:sp>
      </p:grpSp>
      <p:pic>
        <p:nvPicPr>
          <p:cNvPr id="8" name="图片 7" descr="霍兰德职业兴趣代号与其相应的职业对照表_5_Sylvia 瘦蛙求职_来自小红书网页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rcRect t="3010" b="945"/>
          <a:stretch>
            <a:fillRect/>
          </a:stretch>
        </p:blipFill>
        <p:spPr>
          <a:xfrm>
            <a:off x="-19685" y="-17780"/>
            <a:ext cx="12231370" cy="69024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WPS 演示</Application>
  <PresentationFormat>宽屏</PresentationFormat>
  <Paragraphs>167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微软雅黑</vt:lpstr>
      <vt:lpstr>站酷快乐体</vt:lpstr>
      <vt:lpstr>Yu Gothic UI</vt:lpstr>
      <vt:lpstr>Gungsuh</vt:lpstr>
      <vt:lpstr>Malgun Gothic</vt:lpstr>
      <vt:lpstr>Arial Unicode MS</vt:lpstr>
      <vt:lpstr>造字工房悦黑体验版纤细体</vt:lpstr>
      <vt:lpstr>华文新魏</vt:lpstr>
      <vt:lpstr>BatangChe</vt:lpstr>
      <vt:lpstr>华文仿宋</vt:lpstr>
      <vt:lpstr>方正兰亭粗黑_GBK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六种人的逻辑思考  </vt:lpstr>
      <vt:lpstr>实用型</vt:lpstr>
      <vt:lpstr>PowerPoint 演示文稿</vt:lpstr>
      <vt:lpstr>兴趣代码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yA0</cp:lastModifiedBy>
  <cp:revision>158</cp:revision>
  <dcterms:created xsi:type="dcterms:W3CDTF">2019-06-19T02:08:00Z</dcterms:created>
  <dcterms:modified xsi:type="dcterms:W3CDTF">2025-09-22T01:53:09Z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8517AF6092A04596A4A3C6F2A8F87150_13</vt:lpwstr>
  </property>
  <property fmtid="{D5CDD505-2E9C-101B-9397-08002B2CF9AE}" pid="4" name="KSOSaveFontToCloudKey">
    <vt:lpwstr>710313843_btnclosed</vt:lpwstr>
  </property>
</Properties>
</file>
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80" r:id="rId2"/>
    <p:sldId id="288" r:id="rId3"/>
    <p:sldId id="282" r:id="rId4"/>
    <p:sldId id="284" r:id="rId5"/>
    <p:sldId id="285" r:id="rId6"/>
    <p:sldId id="286" r:id="rId7"/>
    <p:sldId id="287" r:id="rId8"/>
  </p:sldIdLst>
  <p:sldSz cx="12192000" cy="6858000"/>
  <p:notesSz cx="6858000" cy="9144000"/>
  <p:embeddedFontLst>
    <p:embeddedFont>
      <p:font typeface="等线" panose="02010600030101010101" pitchFamily="2" charset="-122"/>
      <p:regular r:id="rId10"/>
      <p:bold r:id="rId11"/>
    </p:embeddedFont>
    <p:embeddedFont>
      <p:font typeface="等线 Light" panose="02010600030101010101" pitchFamily="2" charset="-122"/>
      <p:regular r:id="rId12"/>
    </p:embeddedFont>
    <p:embeddedFont>
      <p:font typeface="黑体" panose="02010609060101010101" pitchFamily="49" charset="-122"/>
      <p:regular r:id="rId1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4C5"/>
    <a:srgbClr val="FCE4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658" y="62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D1FA0-43E1-4CE7-8FF6-1A2F3373F2E8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250DB-AB4B-492B-9B10-5E03F8593CB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9A4757-CCDE-4488-9E7B-E42A06797AD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e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4311E-6487-4213-8130-CA1F669E4CCC}" type="datetimeFigureOut">
              <a:rPr lang="zh-CN" altLang="en-US" smtClean="0"/>
              <a:t>2025/8/12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84675-7F07-498E-B3EC-2E4B20AB443D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 descr="图片包含 地面, 地板&#10;&#10;已生成高可信度的说明"/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bgt-01.jpg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0" y="2717"/>
            <a:ext cx="12192000" cy="685256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65122" y="1774858"/>
            <a:ext cx="98617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5400" b="1" dirty="0"/>
              <a:t>厦门一中</a:t>
            </a:r>
            <a:r>
              <a:rPr lang="zh-CN" altLang="en-US" sz="5400" b="1" dirty="0"/>
              <a:t>保卫科问题</a:t>
            </a:r>
            <a:r>
              <a:rPr lang="zh-CN" altLang="zh-CN" sz="5400" b="1" dirty="0"/>
              <a:t>及应对措施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49624" y="3772531"/>
            <a:ext cx="7492752" cy="1669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b="1" dirty="0"/>
              <a:t>王天德</a:t>
            </a:r>
          </a:p>
          <a:p>
            <a:pPr algn="ctr">
              <a:lnSpc>
                <a:spcPct val="150000"/>
              </a:lnSpc>
            </a:pPr>
            <a:r>
              <a:rPr lang="en-US" altLang="zh-CN" sz="3600" b="1" dirty="0"/>
              <a:t>2025</a:t>
            </a:r>
            <a:r>
              <a:rPr lang="zh-CN" altLang="en-US" sz="3600" b="1" dirty="0"/>
              <a:t>年</a:t>
            </a:r>
            <a:r>
              <a:rPr lang="en-US" altLang="zh-CN" sz="3600" b="1" dirty="0"/>
              <a:t>8</a:t>
            </a:r>
            <a:r>
              <a:rPr lang="zh-CN" altLang="en-US" sz="3600" b="1" dirty="0"/>
              <a:t>月</a:t>
            </a:r>
            <a:r>
              <a:rPr lang="en-US" altLang="zh-CN" sz="3600" b="1" dirty="0"/>
              <a:t>10</a:t>
            </a:r>
            <a:r>
              <a:rPr lang="zh-CN" altLang="en-US" sz="3600" b="1" dirty="0"/>
              <a:t>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EA4E6-72A6-0713-ED6C-D7D6345D8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A00486-D2D4-26DD-FD91-CDF11B62D4A9}"/>
              </a:ext>
            </a:extLst>
          </p:cNvPr>
          <p:cNvSpPr txBox="1"/>
          <p:nvPr/>
        </p:nvSpPr>
        <p:spPr>
          <a:xfrm>
            <a:off x="521110" y="754972"/>
            <a:ext cx="11149780" cy="5645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0"/>
              </a:lnSpc>
            </a:pPr>
            <a:r>
              <a:rPr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一、工作难点与背景</a:t>
            </a:r>
            <a:endParaRPr lang="en-US" altLang="zh-CN" sz="28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4400"/>
              </a:lnSpc>
            </a:pPr>
            <a:r>
              <a:rPr lang="zh-CN" altLang="en-US" sz="2400" b="1" dirty="0">
                <a:solidFill>
                  <a:srgbClr val="0070C0"/>
                </a:solidFill>
              </a:rPr>
              <a:t>（一）工作难点       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>
              <a:lnSpc>
                <a:spcPts val="44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学校预防诈骗安全教育形式多样，但师生防诈意识、重视程度较弱，整体教育效果不尽人意，师生诈骗案件仍高发不止。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4400"/>
              </a:lnSpc>
            </a:pPr>
            <a:r>
              <a:rPr lang="zh-CN" altLang="en-US" sz="2400" b="1" dirty="0">
                <a:solidFill>
                  <a:srgbClr val="0070C0"/>
                </a:solidFill>
              </a:rPr>
              <a:t>（二）难点背景</a:t>
            </a:r>
            <a:r>
              <a:rPr lang="en-US" altLang="zh-CN" sz="2400" b="1" dirty="0">
                <a:solidFill>
                  <a:srgbClr val="0070C0"/>
                </a:solidFill>
              </a:rPr>
              <a:t>​</a:t>
            </a:r>
            <a:endParaRPr lang="zh-CN" altLang="zh-CN" sz="2400" b="1" dirty="0">
              <a:solidFill>
                <a:srgbClr val="0070C0"/>
              </a:solidFill>
            </a:endParaRPr>
          </a:p>
          <a:p>
            <a:pPr>
              <a:lnSpc>
                <a:spcPts val="44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2025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年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月至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月，思明校区、海沧校区共发生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11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起未成年人网络诈骗案件，受害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学生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涉及初一至高三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涉案金额跨度极大（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280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元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-81794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元），累计损失超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14.5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万元。案件类型集中于网络商品交易诈骗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​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起）和按摩色诱类诈骗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​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起），两类占比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100%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，且均通过社交平台（抖音、小红书、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QQ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等）发起引流，利用未成年人社会经验不足、防诈意识薄弱的特点实施精准诈骗。</a:t>
            </a:r>
          </a:p>
        </p:txBody>
      </p:sp>
    </p:spTree>
    <p:extLst>
      <p:ext uri="{BB962C8B-B14F-4D97-AF65-F5344CB8AC3E}">
        <p14:creationId xmlns:p14="http://schemas.microsoft.com/office/powerpoint/2010/main" val="3192404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A5942-4216-EEAD-FC9F-C2CEB583E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909A48-2178-4401-EBFE-8868D321C4E8}"/>
              </a:ext>
            </a:extLst>
          </p:cNvPr>
          <p:cNvSpPr txBox="1"/>
          <p:nvPr/>
        </p:nvSpPr>
        <p:spPr>
          <a:xfrm>
            <a:off x="973394" y="593288"/>
            <a:ext cx="9822426" cy="61715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000"/>
              </a:lnSpc>
            </a:pPr>
            <a:r>
              <a:rPr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二、问题趋势与警示</a:t>
            </a:r>
          </a:p>
          <a:p>
            <a:pPr>
              <a:lnSpc>
                <a:spcPts val="4000"/>
              </a:lnSpc>
            </a:pPr>
            <a:r>
              <a:rPr lang="zh-CN" altLang="en-US" sz="2400" b="1" dirty="0">
                <a:solidFill>
                  <a:srgbClr val="0070C0"/>
                </a:solidFill>
              </a:rPr>
              <a:t>（一）问题趋势</a:t>
            </a:r>
          </a:p>
          <a:p>
            <a:pPr>
              <a:lnSpc>
                <a:spcPts val="4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精准化：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根据未成年人兴趣（如游戏账号、明星周边、演唱会门票、约炮等）定制诈骗剧本。</a:t>
            </a:r>
          </a:p>
          <a:p>
            <a:pPr>
              <a:lnSpc>
                <a:spcPts val="4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场景化：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依托社交平台日常场景（商品交易、约稿、交友）渗透，降低警惕性。</a:t>
            </a:r>
          </a:p>
          <a:p>
            <a:pPr>
              <a:lnSpc>
                <a:spcPts val="4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心理操控化：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利用“贪小便宜”“怕责备”“好奇”等心理，通过“小额返利”“任务认证”逐步突破防线。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4000"/>
              </a:lnSpc>
            </a:pPr>
            <a:r>
              <a:rPr lang="zh-CN" altLang="en-US" sz="2400" b="1" dirty="0">
                <a:solidFill>
                  <a:srgbClr val="0070C0"/>
                </a:solidFill>
              </a:rPr>
              <a:t>（二）问题警示</a:t>
            </a:r>
            <a:endParaRPr lang="zh-CN" altLang="zh-CN" sz="2400" b="1" dirty="0">
              <a:solidFill>
                <a:srgbClr val="0070C0"/>
              </a:solidFill>
            </a:endParaRPr>
          </a:p>
          <a:p>
            <a:pPr>
              <a:lnSpc>
                <a:spcPts val="4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学校的生理教育、性引导是否缺失？教务处、德育处是否将生理教育及性的引导开展教研，以统一的教育形式通过生物课及班会课的形式进行开展。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3816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19537-FA7D-074E-6CAD-D7F752A22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148D10-08C8-70B2-B7C0-15018588110C}"/>
              </a:ext>
            </a:extLst>
          </p:cNvPr>
          <p:cNvSpPr txBox="1"/>
          <p:nvPr/>
        </p:nvSpPr>
        <p:spPr>
          <a:xfrm>
            <a:off x="953729" y="787688"/>
            <a:ext cx="9822426" cy="52793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0"/>
              </a:lnSpc>
            </a:pPr>
            <a:r>
              <a:rPr lang="zh-CN" altLang="en-US" sz="2800" b="1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三、具体教育内容与措施</a:t>
            </a:r>
            <a:endParaRPr lang="en-US" altLang="zh-CN" sz="2800" b="1" dirty="0">
              <a:solidFill>
                <a:srgbClr val="0070C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ts val="4400"/>
              </a:lnSpc>
            </a:pPr>
            <a:r>
              <a:rPr lang="zh-CN" altLang="zh-CN" sz="2400" b="1" dirty="0">
                <a:solidFill>
                  <a:srgbClr val="0070C0"/>
                </a:solidFill>
              </a:rPr>
              <a:t>（一）专题课程：识别常见诈骗套路</a:t>
            </a:r>
            <a:r>
              <a:rPr lang="en-US" altLang="zh-CN" sz="2400" b="1" dirty="0">
                <a:solidFill>
                  <a:srgbClr val="0070C0"/>
                </a:solidFill>
              </a:rPr>
              <a:t>​</a:t>
            </a:r>
            <a:endParaRPr lang="zh-CN" altLang="zh-CN" sz="2400" b="1" dirty="0">
              <a:solidFill>
                <a:srgbClr val="0070C0"/>
              </a:solidFill>
            </a:endParaRPr>
          </a:p>
          <a:p>
            <a:pPr>
              <a:lnSpc>
                <a:spcPts val="4400"/>
              </a:lnSpc>
            </a:pPr>
            <a:r>
              <a:rPr lang="en-US" altLang="zh-CN" sz="2400" b="1" dirty="0">
                <a:solidFill>
                  <a:srgbClr val="0070C0"/>
                </a:solidFill>
              </a:rPr>
              <a:t>​    1. </a:t>
            </a:r>
            <a:r>
              <a:rPr lang="zh-CN" altLang="zh-CN" sz="2400" b="1" dirty="0">
                <a:solidFill>
                  <a:srgbClr val="0070C0"/>
                </a:solidFill>
              </a:rPr>
              <a:t>商品交易类诈骗</a:t>
            </a:r>
            <a:r>
              <a:rPr lang="en-US" altLang="zh-CN" sz="2400" b="1" dirty="0">
                <a:solidFill>
                  <a:srgbClr val="0070C0"/>
                </a:solidFill>
              </a:rPr>
              <a:t>——</a:t>
            </a:r>
            <a:r>
              <a:rPr lang="zh-CN" altLang="zh-CN" sz="2400" b="1" dirty="0">
                <a:solidFill>
                  <a:srgbClr val="0070C0"/>
                </a:solidFill>
              </a:rPr>
              <a:t>牢记</a:t>
            </a:r>
            <a:r>
              <a:rPr lang="en-US" altLang="zh-CN" sz="2400" b="1" dirty="0">
                <a:solidFill>
                  <a:srgbClr val="0070C0"/>
                </a:solidFill>
              </a:rPr>
              <a:t>“</a:t>
            </a:r>
            <a:r>
              <a:rPr lang="zh-CN" altLang="zh-CN" sz="2400" b="1" dirty="0">
                <a:solidFill>
                  <a:srgbClr val="0070C0"/>
                </a:solidFill>
              </a:rPr>
              <a:t>平台交易</a:t>
            </a:r>
            <a:r>
              <a:rPr lang="en-US" altLang="zh-CN" sz="2400" b="1" dirty="0">
                <a:solidFill>
                  <a:srgbClr val="0070C0"/>
                </a:solidFill>
              </a:rPr>
              <a:t>”</a:t>
            </a:r>
            <a:r>
              <a:rPr lang="zh-CN" altLang="zh-CN" sz="2400" b="1" dirty="0">
                <a:solidFill>
                  <a:srgbClr val="0070C0"/>
                </a:solidFill>
              </a:rPr>
              <a:t>铁律</a:t>
            </a:r>
            <a:r>
              <a:rPr lang="en-US" altLang="zh-CN" sz="2400" b="1" dirty="0">
                <a:solidFill>
                  <a:srgbClr val="0070C0"/>
                </a:solidFill>
              </a:rPr>
              <a:t>​</a:t>
            </a:r>
            <a:r>
              <a:rPr lang="zh-CN" altLang="en-US" sz="2400" b="1" dirty="0">
                <a:solidFill>
                  <a:srgbClr val="0070C0"/>
                </a:solidFill>
              </a:rPr>
              <a:t>。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>
              <a:lnSpc>
                <a:spcPts val="36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重点强调“任何要求私下转账、脱离平台的交易都是诈骗”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拒绝“屏幕共享”“提供家长信息”（屏幕共享直接导致家长银行卡被盗刷）；遇到“交易问题”（如“未发货”“需补款”），立即停止联系并告知家长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老师。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4400"/>
              </a:lnSpc>
            </a:pPr>
            <a:r>
              <a:rPr lang="en-US" altLang="zh-CN" sz="2800" dirty="0">
                <a:solidFill>
                  <a:srgbClr val="0070C0"/>
                </a:solidFill>
              </a:rPr>
              <a:t>    </a:t>
            </a:r>
            <a:r>
              <a:rPr lang="en-US" altLang="zh-CN" sz="2400" b="1" dirty="0">
                <a:solidFill>
                  <a:srgbClr val="0070C0"/>
                </a:solidFill>
              </a:rPr>
              <a:t>2. </a:t>
            </a:r>
            <a:r>
              <a:rPr lang="zh-CN" altLang="zh-CN" sz="2400" b="1" dirty="0">
                <a:solidFill>
                  <a:srgbClr val="0070C0"/>
                </a:solidFill>
              </a:rPr>
              <a:t>按摩色诱类诈骗</a:t>
            </a:r>
            <a:r>
              <a:rPr lang="en-US" altLang="zh-CN" sz="2400" b="1" dirty="0">
                <a:solidFill>
                  <a:srgbClr val="0070C0"/>
                </a:solidFill>
              </a:rPr>
              <a:t>——</a:t>
            </a:r>
            <a:r>
              <a:rPr lang="zh-CN" altLang="zh-CN" sz="2400" b="1" dirty="0">
                <a:solidFill>
                  <a:srgbClr val="0070C0"/>
                </a:solidFill>
              </a:rPr>
              <a:t>守住</a:t>
            </a:r>
            <a:r>
              <a:rPr lang="en-US" altLang="zh-CN" sz="2400" b="1" dirty="0">
                <a:solidFill>
                  <a:srgbClr val="0070C0"/>
                </a:solidFill>
              </a:rPr>
              <a:t>“</a:t>
            </a:r>
            <a:r>
              <a:rPr lang="zh-CN" altLang="zh-CN" sz="2400" b="1" dirty="0">
                <a:solidFill>
                  <a:srgbClr val="0070C0"/>
                </a:solidFill>
              </a:rPr>
              <a:t>拒绝诱惑</a:t>
            </a:r>
            <a:r>
              <a:rPr lang="en-US" altLang="zh-CN" sz="2400" b="1" dirty="0">
                <a:solidFill>
                  <a:srgbClr val="0070C0"/>
                </a:solidFill>
              </a:rPr>
              <a:t>”</a:t>
            </a:r>
            <a:r>
              <a:rPr lang="zh-CN" altLang="zh-CN" sz="2400" b="1" dirty="0">
                <a:solidFill>
                  <a:srgbClr val="0070C0"/>
                </a:solidFill>
              </a:rPr>
              <a:t>红线</a:t>
            </a:r>
            <a:r>
              <a:rPr lang="en-US" altLang="zh-CN" sz="2400" b="1" dirty="0">
                <a:solidFill>
                  <a:srgbClr val="0070C0"/>
                </a:solidFill>
              </a:rPr>
              <a:t>​</a:t>
            </a:r>
            <a:r>
              <a:rPr lang="zh-CN" altLang="en-US" sz="2400" b="1" dirty="0">
                <a:solidFill>
                  <a:srgbClr val="0070C0"/>
                </a:solidFill>
              </a:rPr>
              <a:t>。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>
              <a:lnSpc>
                <a:spcPts val="4400"/>
              </a:lnSpc>
            </a:pPr>
            <a:r>
              <a:rPr lang="zh-CN" altLang="en-US" sz="2800" dirty="0"/>
              <a:t>     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明确“色情广告、约炮信息均为诈骗”；警惕“小额返利”陷阱（如“转账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30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元返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33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元”是诱导加大投入的套路）；</a:t>
            </a:r>
            <a:endParaRPr lang="zh-CN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4256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CE5EC-B877-23EC-9562-846212BE2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B5119F-C82E-3AF2-B995-F27257C173B3}"/>
              </a:ext>
            </a:extLst>
          </p:cNvPr>
          <p:cNvSpPr txBox="1"/>
          <p:nvPr/>
        </p:nvSpPr>
        <p:spPr>
          <a:xfrm>
            <a:off x="993059" y="925340"/>
            <a:ext cx="9822426" cy="4509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0"/>
              </a:lnSpc>
            </a:pPr>
            <a:r>
              <a:rPr lang="zh-CN" altLang="en-US" sz="2400" b="1" dirty="0">
                <a:solidFill>
                  <a:srgbClr val="0070C0"/>
                </a:solidFill>
              </a:rPr>
              <a:t>（二）家校协同：构建“监督</a:t>
            </a:r>
            <a:r>
              <a:rPr lang="en-US" altLang="zh-CN" sz="2400" b="1" dirty="0">
                <a:solidFill>
                  <a:srgbClr val="0070C0"/>
                </a:solidFill>
              </a:rPr>
              <a:t>-</a:t>
            </a:r>
            <a:r>
              <a:rPr lang="zh-CN" altLang="en-US" sz="2400" b="1" dirty="0">
                <a:solidFill>
                  <a:srgbClr val="0070C0"/>
                </a:solidFill>
              </a:rPr>
              <a:t>沟通</a:t>
            </a:r>
            <a:r>
              <a:rPr lang="en-US" altLang="zh-CN" sz="2400" b="1" dirty="0">
                <a:solidFill>
                  <a:srgbClr val="0070C0"/>
                </a:solidFill>
              </a:rPr>
              <a:t>-</a:t>
            </a:r>
            <a:r>
              <a:rPr lang="zh-CN" altLang="en-US" sz="2400" b="1" dirty="0">
                <a:solidFill>
                  <a:srgbClr val="0070C0"/>
                </a:solidFill>
              </a:rPr>
              <a:t>保护”防护网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>
              <a:lnSpc>
                <a:spcPts val="4400"/>
              </a:lnSpc>
            </a:pPr>
            <a:r>
              <a:rPr lang="en-US" altLang="zh-CN" sz="2400" b="1" dirty="0">
                <a:solidFill>
                  <a:srgbClr val="0070C0"/>
                </a:solidFill>
              </a:rPr>
              <a:t>    1.</a:t>
            </a:r>
            <a:r>
              <a:rPr lang="zh-CN" altLang="zh-CN" sz="2400" b="1" dirty="0">
                <a:solidFill>
                  <a:srgbClr val="0070C0"/>
                </a:solidFill>
              </a:rPr>
              <a:t>家长层面</a:t>
            </a:r>
            <a:r>
              <a:rPr lang="en-US" altLang="zh-CN" sz="2400" b="1" dirty="0">
                <a:solidFill>
                  <a:srgbClr val="0070C0"/>
                </a:solidFill>
              </a:rPr>
              <a:t>​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设备管理：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限制未成年人使用手机时长，禁止安装非正规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APP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支付保护：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为未成年人手机设置“支付限额”“指纹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人脸验证”，绑定银行卡的支付宝、微信需家长本人授权；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日常沟通：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定期与孩子交流网络社交情况，建立“无隐瞒”的信任关系。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514350" indent="-514350">
              <a:lnSpc>
                <a:spcPts val="4400"/>
              </a:lnSpc>
              <a:buAutoNum type="arabicPeriod"/>
            </a:pPr>
            <a:endParaRPr lang="zh-CN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025051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F1EDDE-B114-2F84-0C1F-8A2B574A6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CD6FB75-B5D1-FDA6-C5E4-593C1F554B6F}"/>
              </a:ext>
            </a:extLst>
          </p:cNvPr>
          <p:cNvSpPr txBox="1"/>
          <p:nvPr/>
        </p:nvSpPr>
        <p:spPr>
          <a:xfrm>
            <a:off x="1002892" y="780763"/>
            <a:ext cx="9822426" cy="4645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altLang="zh-CN" sz="2400" b="1" dirty="0">
                <a:solidFill>
                  <a:srgbClr val="0070C0"/>
                </a:solidFill>
              </a:rPr>
              <a:t>2. </a:t>
            </a:r>
            <a:r>
              <a:rPr lang="zh-CN" altLang="en-US" sz="2400" b="1" dirty="0">
                <a:solidFill>
                  <a:srgbClr val="0070C0"/>
                </a:solidFill>
              </a:rPr>
              <a:t>学校层面</a:t>
            </a:r>
          </a:p>
          <a:p>
            <a:pPr>
              <a:lnSpc>
                <a:spcPts val="36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文化浸润：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通过持续、高频、多角度的渗透（通过食堂、宿舍多媒体推送视频），营造“时时警惕、人人参与”的校园安全文化。    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36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宣传教育：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德育处、保卫科推送安全短视频教育材料、制度化在班会课前五分钟组织视频教育；。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36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一中反诈宣传日：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举办“反诈金点子”大赛，学生团队用短视频、海报、小程序等形式比拼创意，优胜作品在校园大屏幕滚动播放并上传学校官微，学校并进行表扬及奖励。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ts val="3600"/>
              </a:lnSpc>
            </a:pP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zh-CN" altLang="en-US" sz="24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家长课堂：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每学期组织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次“家长防诈培训”，讲解“未成年人常见诈骗套路”“如何与孩子沟通防诈”等内容，（附“防诈口诀”）。</a:t>
            </a:r>
            <a:endParaRPr lang="en-US" altLang="zh-CN" sz="2400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8804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70B00-ACCC-2A5C-8D0B-4ACCF82E3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B6E110-52CF-326A-EDFF-BB0B3728E4F2}"/>
              </a:ext>
            </a:extLst>
          </p:cNvPr>
          <p:cNvSpPr txBox="1"/>
          <p:nvPr/>
        </p:nvSpPr>
        <p:spPr>
          <a:xfrm>
            <a:off x="2423651" y="1810243"/>
            <a:ext cx="7344697" cy="2786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4400"/>
              </a:lnSpc>
            </a:pPr>
            <a:r>
              <a:rPr lang="zh-CN" altLang="en-US" sz="2400" b="1" dirty="0">
                <a:solidFill>
                  <a:srgbClr val="0070C0"/>
                </a:solidFill>
              </a:rPr>
              <a:t>标语：</a:t>
            </a:r>
            <a:r>
              <a:rPr lang="en-US" altLang="zh-CN" sz="2800" dirty="0"/>
              <a:t>​</a:t>
            </a:r>
            <a:endParaRPr lang="zh-CN" altLang="zh-CN" sz="2800" dirty="0"/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“陌生链接不点击，私下交易不参与！”</a:t>
            </a:r>
          </a:p>
          <a:p>
            <a:pPr>
              <a:lnSpc>
                <a:spcPct val="150000"/>
              </a:lnSpc>
            </a:pPr>
            <a:r>
              <a:rPr lang="zh-CN" altLang="en-US" sz="2400" b="1">
                <a:latin typeface="宋体" panose="02010600030101010101" pitchFamily="2" charset="-122"/>
                <a:ea typeface="宋体" panose="02010600030101010101" pitchFamily="2" charset="-122"/>
              </a:rPr>
              <a:t>    “黄色广告</a:t>
            </a: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是陷阱，屏幕共享是大忌！”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“家长信息保护好，验证码是‘护身符’！”</a:t>
            </a: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    “遇到问题别慌张，告诉爸妈再报警！”</a:t>
            </a:r>
          </a:p>
        </p:txBody>
      </p:sp>
    </p:spTree>
    <p:extLst>
      <p:ext uri="{BB962C8B-B14F-4D97-AF65-F5344CB8AC3E}">
        <p14:creationId xmlns:p14="http://schemas.microsoft.com/office/powerpoint/2010/main" val="1565416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2000">
        <p:random/>
      </p:transition>
    </mc:Choice>
    <mc:Fallback xmlns="">
      <p:transition spd="slow" advClick="0" advTm="2000">
        <p:random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自定义 34">
      <a:dk1>
        <a:srgbClr val="C00000"/>
      </a:dk1>
      <a:lt1>
        <a:srgbClr val="FFFFFF"/>
      </a:lt1>
      <a:dk2>
        <a:srgbClr val="C00000"/>
      </a:dk2>
      <a:lt2>
        <a:srgbClr val="C00000"/>
      </a:lt2>
      <a:accent1>
        <a:srgbClr val="C00000"/>
      </a:accent1>
      <a:accent2>
        <a:srgbClr val="C00000"/>
      </a:accent2>
      <a:accent3>
        <a:srgbClr val="C00000"/>
      </a:accent3>
      <a:accent4>
        <a:srgbClr val="C00000"/>
      </a:accent4>
      <a:accent5>
        <a:srgbClr val="C00000"/>
      </a:accent5>
      <a:accent6>
        <a:srgbClr val="C00000"/>
      </a:accent6>
      <a:hlink>
        <a:srgbClr val="C00000"/>
      </a:hlink>
      <a:folHlink>
        <a:srgbClr val="FF404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753</Words>
  <Application>Microsoft Office PowerPoint</Application>
  <PresentationFormat>宽屏</PresentationFormat>
  <Paragraphs>37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3" baseType="lpstr">
      <vt:lpstr>宋体</vt:lpstr>
      <vt:lpstr>Arial</vt:lpstr>
      <vt:lpstr>黑体</vt:lpstr>
      <vt:lpstr>等线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幻页科技</dc:creator>
  <cp:lastModifiedBy>天德 王</cp:lastModifiedBy>
  <cp:revision>66</cp:revision>
  <dcterms:created xsi:type="dcterms:W3CDTF">2017-09-17T16:40:00Z</dcterms:created>
  <dcterms:modified xsi:type="dcterms:W3CDTF">2025-08-12T03:29:50Z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</Properties>
</file>

<file path=[Content_Types].xml><?xml version="1.0" encoding="utf-8"?>
<Types xmlns="http://schemas.openxmlformats.org/package/2006/content-types">
  <Default Extension="gif" ContentType="image/gif"/>
  <Default Extension="png" ContentType="image/png"/>
  <Default Extension="jpeg" ContentType="image/jpeg"/>
  <Default Extension="JPG" ContentType="image/.jpg"/>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7" r:id="rId3"/>
    <p:sldId id="258" r:id="rId4"/>
    <p:sldId id="259" r:id="rId5"/>
    <p:sldId id="260" r:id="rId6"/>
    <p:sldId id="261" r:id="rId7"/>
    <p:sldId id="263" r:id="rId8"/>
    <p:sldId id="264" r:id="rId9"/>
    <p:sldId id="265" r:id="rId10"/>
    <p:sldId id="266" r:id="rId11"/>
    <p:sldId id="267" r:id="rId12"/>
    <p:sldId id="271" r:id="rId13"/>
    <p:sldId id="272" r:id="rId14"/>
    <p:sldId id="273" r:id="rId15"/>
    <p:sldId id="274" r:id="rId16"/>
    <p:sldId id="275" r:id="rId17"/>
    <p:sldId id="276" r:id="rId18"/>
    <p:sldId id="277" r:id="rId19"/>
    <p:sldId id="278" r:id="rId20"/>
    <p:sldId id="280" r:id="rId21"/>
    <p:sldId id="281" r:id="rId22"/>
    <p:sldId id="282" r:id="rId23"/>
    <p:sldId id="283" r:id="rId24"/>
    <p:sldId id="284" r:id="rId25"/>
    <p:sldId id="285" r:id="rId26"/>
    <p:sldId id="286" r:id="rId27"/>
    <p:sldId id="287" r:id="rId28"/>
    <p:sldId id="288" r:id="rId29"/>
    <p:sldId id="289" r:id="rId30"/>
  </p:sldIdLst>
  <p:sldSz cx="12192000" cy="6858000"/>
  <p:notesSz cx="6858000" cy="9144000"/>
  <p:embeddedFontLst>
    <p:embeddedFont>
      <p:font typeface="微软雅黑" panose="020B0503020204020204" charset="-122"/>
      <p:regular r:id="rId34"/>
    </p:embeddedFont>
    <p:embeddedFont>
      <p:font typeface="等线" panose="02010600030101010101" charset="-122"/>
      <p:regular r:id="rId35"/>
    </p:embeddedFont>
    <p:embeddedFont>
      <p:font typeface="微软雅黑 Light" panose="020B0502040204020203" charset="-122"/>
      <p:regular r:id="rId36"/>
    </p:embeddedFont>
  </p:embeddedFontLst>
  <p:custDataLst>
    <p:tags r:id="rId3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7" d="100"/>
          <a:sy n="107" d="100"/>
        </p:scale>
        <p:origin x="60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7" Type="http://schemas.openxmlformats.org/officeDocument/2006/relationships/tags" Target="tags/tag1.xml"/><Relationship Id="rId36" Type="http://schemas.openxmlformats.org/officeDocument/2006/relationships/font" Target="fonts/font3.fntdata"/><Relationship Id="rId35" Type="http://schemas.openxmlformats.org/officeDocument/2006/relationships/font" Target="fonts/font2.fntdata"/><Relationship Id="rId34" Type="http://schemas.openxmlformats.org/officeDocument/2006/relationships/font" Target="fonts/font1.fntdata"/><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5" Type="http://schemas.openxmlformats.org/officeDocument/2006/relationships/theme" Target="../theme/theme1.xml"/><Relationship Id="rId34" Type="http://schemas.openxmlformats.org/officeDocument/2006/relationships/slideLayout" Target="../slideLayouts/slideLayout34.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GIF"/></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5.xml.rels><?xml version="1.0" encoding="UTF-8" standalone="yes"?>
<Relationships xmlns="http://schemas.openxmlformats.org/package/2006/relationships"><Relationship Id="rId9" Type="http://schemas.openxmlformats.org/officeDocument/2006/relationships/image" Target="../media/image18.jpeg"/><Relationship Id="rId8" Type="http://schemas.openxmlformats.org/officeDocument/2006/relationships/image" Target="../media/image17.jpeg"/><Relationship Id="rId7" Type="http://schemas.openxmlformats.org/officeDocument/2006/relationships/image" Target="../media/image16.jpeg"/><Relationship Id="rId6" Type="http://schemas.openxmlformats.org/officeDocument/2006/relationships/image" Target="../media/image15.jpeg"/><Relationship Id="rId5" Type="http://schemas.openxmlformats.org/officeDocument/2006/relationships/image" Target="../media/image14.png"/><Relationship Id="rId4" Type="http://schemas.microsoft.com/office/2007/relationships/media" Target="../media/media1.mp4"/><Relationship Id="rId3" Type="http://schemas.openxmlformats.org/officeDocument/2006/relationships/video" Target="../media/media1.mp4"/><Relationship Id="rId2" Type="http://schemas.openxmlformats.org/officeDocument/2006/relationships/image" Target="../media/image11.png"/><Relationship Id="rId10" Type="http://schemas.openxmlformats.org/officeDocument/2006/relationships/slideLayout" Target="../slideLayouts/slideLayout6.xml"/><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image" Target="../media/image11.png"/><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9.xml"/><Relationship Id="rId3" Type="http://schemas.openxmlformats.org/officeDocument/2006/relationships/image" Target="../media/image19.png"/><Relationship Id="rId2" Type="http://schemas.openxmlformats.org/officeDocument/2006/relationships/image" Target="../media/image11.png"/><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0.xml"/><Relationship Id="rId3" Type="http://schemas.openxmlformats.org/officeDocument/2006/relationships/image" Target="../media/image20.png"/><Relationship Id="rId2" Type="http://schemas.openxmlformats.org/officeDocument/2006/relationships/image" Target="../media/image11.png"/><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11.xml"/><Relationship Id="rId7" Type="http://schemas.openxmlformats.org/officeDocument/2006/relationships/image" Target="../media/image25.jpeg"/><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jpeg"/><Relationship Id="rId3" Type="http://schemas.openxmlformats.org/officeDocument/2006/relationships/image" Target="../media/image21.png"/><Relationship Id="rId2" Type="http://schemas.openxmlformats.org/officeDocument/2006/relationships/image" Target="../media/image11.png"/><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26.png"/><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image" Target="../media/image27.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17.xml"/><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11.png"/><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18.xml"/><Relationship Id="rId4" Type="http://schemas.openxmlformats.org/officeDocument/2006/relationships/image" Target="../media/image31.GIF"/><Relationship Id="rId3" Type="http://schemas.openxmlformats.org/officeDocument/2006/relationships/image" Target="../media/image30.GIF"/><Relationship Id="rId2" Type="http://schemas.openxmlformats.org/officeDocument/2006/relationships/image" Target="../media/image11.png"/><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19.xml"/><Relationship Id="rId3" Type="http://schemas.openxmlformats.org/officeDocument/2006/relationships/image" Target="../media/image32.png"/><Relationship Id="rId2" Type="http://schemas.openxmlformats.org/officeDocument/2006/relationships/image" Target="../media/image11.png"/><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8" Type="http://schemas.openxmlformats.org/officeDocument/2006/relationships/slideLayout" Target="../slideLayouts/slideLayout20.xml"/><Relationship Id="rId7" Type="http://schemas.openxmlformats.org/officeDocument/2006/relationships/image" Target="../media/image37.png"/><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 Id="rId3" Type="http://schemas.openxmlformats.org/officeDocument/2006/relationships/image" Target="../media/image33.png"/><Relationship Id="rId2" Type="http://schemas.openxmlformats.org/officeDocument/2006/relationships/image" Target="../media/image11.png"/><Relationship Id="rId1"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1.xml"/><Relationship Id="rId1" Type="http://schemas.openxmlformats.org/officeDocument/2006/relationships/image" Target="../media/image38.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2.xml"/><Relationship Id="rId1" Type="http://schemas.openxmlformats.org/officeDocument/2006/relationships/image" Target="../media/image39.pn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3.xml"/><Relationship Id="rId3" Type="http://schemas.openxmlformats.org/officeDocument/2006/relationships/image" Target="../media/image41.jpeg"/><Relationship Id="rId2" Type="http://schemas.openxmlformats.org/officeDocument/2006/relationships/image" Target="../media/image40.png"/><Relationship Id="rId1" Type="http://schemas.openxmlformats.org/officeDocument/2006/relationships/image" Target="../media/image10.png"/></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25.xml"/><Relationship Id="rId5" Type="http://schemas.openxmlformats.org/officeDocument/2006/relationships/image" Target="../media/image44.png"/><Relationship Id="rId4" Type="http://schemas.openxmlformats.org/officeDocument/2006/relationships/image" Target="../media/image43.png"/><Relationship Id="rId3" Type="http://schemas.openxmlformats.org/officeDocument/2006/relationships/image" Target="../media/image42.png"/><Relationship Id="rId2" Type="http://schemas.openxmlformats.org/officeDocument/2006/relationships/image" Target="../media/image11.png"/><Relationship Id="rId1" Type="http://schemas.openxmlformats.org/officeDocument/2006/relationships/image" Target="../media/image10.png"/></Relationships>
</file>

<file path=ppt/slides/_rels/slide20.xml.rels><?xml version="1.0" encoding="UTF-8" standalone="yes"?>
<Relationships xmlns="http://schemas.openxmlformats.org/package/2006/relationships"><Relationship Id="rId6" Type="http://schemas.openxmlformats.org/officeDocument/2006/relationships/slideLayout" Target="../slideLayouts/slideLayout26.xml"/><Relationship Id="rId5" Type="http://schemas.openxmlformats.org/officeDocument/2006/relationships/image" Target="../media/image47.png"/><Relationship Id="rId4" Type="http://schemas.openxmlformats.org/officeDocument/2006/relationships/image" Target="../media/image46.png"/><Relationship Id="rId3" Type="http://schemas.openxmlformats.org/officeDocument/2006/relationships/image" Target="../media/image45.png"/><Relationship Id="rId2" Type="http://schemas.openxmlformats.org/officeDocument/2006/relationships/image" Target="../media/image11.png"/><Relationship Id="rId1" Type="http://schemas.openxmlformats.org/officeDocument/2006/relationships/image" Target="../media/image10.png"/></Relationships>
</file>

<file path=ppt/slides/_rels/slide21.xml.rels><?xml version="1.0" encoding="UTF-8" standalone="yes"?>
<Relationships xmlns="http://schemas.openxmlformats.org/package/2006/relationships"><Relationship Id="rId6" Type="http://schemas.openxmlformats.org/officeDocument/2006/relationships/slideLayout" Target="../slideLayouts/slideLayout27.xml"/><Relationship Id="rId5" Type="http://schemas.openxmlformats.org/officeDocument/2006/relationships/image" Target="../media/image50.png"/><Relationship Id="rId4" Type="http://schemas.openxmlformats.org/officeDocument/2006/relationships/image" Target="../media/image49.png"/><Relationship Id="rId3" Type="http://schemas.openxmlformats.org/officeDocument/2006/relationships/image" Target="../media/image48.png"/><Relationship Id="rId2" Type="http://schemas.openxmlformats.org/officeDocument/2006/relationships/image" Target="../media/image11.png"/><Relationship Id="rId1" Type="http://schemas.openxmlformats.org/officeDocument/2006/relationships/image" Target="../media/image10.png"/></Relationships>
</file>

<file path=ppt/slides/_rels/slide22.xml.rels><?xml version="1.0" encoding="UTF-8" standalone="yes"?>
<Relationships xmlns="http://schemas.openxmlformats.org/package/2006/relationships"><Relationship Id="rId8" Type="http://schemas.openxmlformats.org/officeDocument/2006/relationships/slideLayout" Target="../slideLayouts/slideLayout28.xml"/><Relationship Id="rId7" Type="http://schemas.openxmlformats.org/officeDocument/2006/relationships/image" Target="../media/image55.png"/><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 Id="rId3" Type="http://schemas.openxmlformats.org/officeDocument/2006/relationships/image" Target="../media/image51.png"/><Relationship Id="rId2" Type="http://schemas.openxmlformats.org/officeDocument/2006/relationships/image" Target="../media/image11.png"/><Relationship Id="rId1"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57.png"/><Relationship Id="rId1" Type="http://schemas.openxmlformats.org/officeDocument/2006/relationships/image" Target="../media/image56.png"/></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30.xml"/><Relationship Id="rId3" Type="http://schemas.openxmlformats.org/officeDocument/2006/relationships/image" Target="../media/image58.png"/><Relationship Id="rId2" Type="http://schemas.openxmlformats.org/officeDocument/2006/relationships/image" Target="../media/image11.png"/><Relationship Id="rId1" Type="http://schemas.openxmlformats.org/officeDocument/2006/relationships/image" Target="../media/image10.png"/></Relationships>
</file>

<file path=ppt/slides/_rels/slide25.xml.rels><?xml version="1.0" encoding="UTF-8" standalone="yes"?>
<Relationships xmlns="http://schemas.openxmlformats.org/package/2006/relationships"><Relationship Id="rId6" Type="http://schemas.openxmlformats.org/officeDocument/2006/relationships/slideLayout" Target="../slideLayouts/slideLayout31.xml"/><Relationship Id="rId5" Type="http://schemas.openxmlformats.org/officeDocument/2006/relationships/image" Target="../media/image63.png"/><Relationship Id="rId4" Type="http://schemas.openxmlformats.org/officeDocument/2006/relationships/image" Target="../media/image62.png"/><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image" Target="../media/image59.png"/></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32.xml"/><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image" Target="../media/image64.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33.xml"/><Relationship Id="rId1" Type="http://schemas.openxmlformats.org/officeDocument/2006/relationships/image" Target="../media/image67.jpe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34.xml"/><Relationship Id="rId2" Type="http://schemas.openxmlformats.org/officeDocument/2006/relationships/image" Target="../media/image69.png"/><Relationship Id="rId1" Type="http://schemas.openxmlformats.org/officeDocument/2006/relationships/image" Target="../media/image6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tretch>
            <a:fillRect/>
          </a:stretch>
        </p:blipFill>
        <p:spPr>
          <a:xfrm>
            <a:off x="4124982" y="1572778"/>
            <a:ext cx="3943350" cy="3943350"/>
          </a:xfrm>
          <a:prstGeom prst="ellipse">
            <a:avLst/>
          </a:prstGeom>
          <a:ln w="95250">
            <a:solidFill>
              <a:srgbClr val="FFFFFF"/>
            </a:solidFill>
          </a:ln>
          <a:scene3d>
            <a:camera prst="orthographicFront"/>
            <a:lightRig rig="contrasting" dir="t">
              <a:rot lat="0" lon="0" rev="3000000"/>
            </a:lightRig>
          </a:scene3d>
          <a:sp3d contourW="7620">
            <a:bevelT w="95250" h="31750"/>
            <a:contourClr>
              <a:srgbClr val="333333"/>
            </a:contourClr>
          </a:sp3d>
        </p:spPr>
      </p:pic>
      <p:sp>
        <p:nvSpPr>
          <p:cNvPr id="3" name="形状1"/>
          <p:cNvSpPr txBox="1"/>
          <p:nvPr/>
        </p:nvSpPr>
        <p:spPr>
          <a:xfrm>
            <a:off x="5479885" y="3005509"/>
            <a:ext cx="1234269" cy="952700"/>
          </a:xfrm>
          <a:custGeom>
            <a:avLst/>
            <a:gdLst>
              <a:gd name="connsiteX0" fmla="*/ 158783 w 1234269"/>
              <a:gd name="connsiteY0" fmla="*/ 0 h 952700"/>
              <a:gd name="connsiteX1" fmla="*/ 1075485 w 1234269"/>
              <a:gd name="connsiteY1" fmla="*/ 0 h 952700"/>
              <a:gd name="connsiteX2" fmla="*/ 1163179 w 1234269"/>
              <a:gd name="connsiteY2" fmla="*/ 0 h 952700"/>
              <a:gd name="connsiteX3" fmla="*/ 1234269 w 1234269"/>
              <a:gd name="connsiteY3" fmla="*/ 793917 h 952700"/>
              <a:gd name="connsiteX4" fmla="*/ 1234269 w 1234269"/>
              <a:gd name="connsiteY4" fmla="*/ 836029 h 952700"/>
              <a:gd name="connsiteX5" fmla="*/ 1157984 w 1234269"/>
              <a:gd name="connsiteY5" fmla="*/ 935971 h 952700"/>
              <a:gd name="connsiteX6" fmla="*/ 158783 w 1234269"/>
              <a:gd name="connsiteY6" fmla="*/ 952700 h 952700"/>
              <a:gd name="connsiteX7" fmla="*/ 116671 w 1234269"/>
              <a:gd name="connsiteY7" fmla="*/ 952700 h 952700"/>
              <a:gd name="connsiteX8" fmla="*/ 16729 w 1234269"/>
              <a:gd name="connsiteY8" fmla="*/ 876416 h 952700"/>
              <a:gd name="connsiteX9" fmla="*/ 0 w 1234269"/>
              <a:gd name="connsiteY9" fmla="*/ 158783 h 952700"/>
              <a:gd name="connsiteX10" fmla="*/ 0 w 1234269"/>
              <a:gd name="connsiteY10" fmla="*/ 71090 h 952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34269" h="952700">
                <a:moveTo>
                  <a:pt x="158783" y="0"/>
                </a:moveTo>
                <a:lnTo>
                  <a:pt x="1075485" y="0"/>
                </a:lnTo>
                <a:cubicBezTo>
                  <a:pt x="1163179" y="0"/>
                  <a:pt x="1234269" y="71090"/>
                  <a:pt x="1234269" y="158783"/>
                </a:cubicBezTo>
                <a:lnTo>
                  <a:pt x="1234269" y="793917"/>
                </a:lnTo>
                <a:cubicBezTo>
                  <a:pt x="1234269" y="836029"/>
                  <a:pt x="1217540" y="876416"/>
                  <a:pt x="1187762" y="906193"/>
                </a:cubicBezTo>
                <a:cubicBezTo>
                  <a:pt x="1157984" y="935971"/>
                  <a:pt x="1117597" y="952700"/>
                  <a:pt x="1075485" y="952700"/>
                </a:cubicBezTo>
                <a:lnTo>
                  <a:pt x="158783" y="952700"/>
                </a:lnTo>
                <a:cubicBezTo>
                  <a:pt x="116671" y="952700"/>
                  <a:pt x="76284" y="935971"/>
                  <a:pt x="46507" y="906193"/>
                </a:cubicBezTo>
                <a:cubicBezTo>
                  <a:pt x="16729" y="876416"/>
                  <a:pt x="0" y="836029"/>
                  <a:pt x="0" y="793917"/>
                </a:cubicBezTo>
                <a:lnTo>
                  <a:pt x="0" y="158783"/>
                </a:lnTo>
                <a:cubicBezTo>
                  <a:pt x="0" y="71090"/>
                  <a:pt x="71090" y="0"/>
                  <a:pt x="158783" y="0"/>
                </a:cubicBezTo>
                <a:close/>
              </a:path>
            </a:pathLst>
          </a:custGeom>
          <a:solidFill>
            <a:srgbClr val="E1D85A"/>
          </a:solidFill>
          <a:ln w="38100">
            <a:solidFill>
              <a:srgbClr val="000000"/>
            </a:solidFill>
            <a:prstDash val="solid"/>
          </a:ln>
        </p:spPr>
        <p:txBody>
          <a:bodyPr wrap="square" rtlCol="0" anchor="ctr"/>
          <a:lstStyle/>
          <a:p>
            <a:pPr marL="0" algn="ctr"/>
          </a:p>
        </p:txBody>
      </p:sp>
      <p:sp>
        <p:nvSpPr>
          <p:cNvPr id="4" name="文本1"/>
          <p:cNvSpPr txBox="1"/>
          <p:nvPr/>
        </p:nvSpPr>
        <p:spPr>
          <a:xfrm>
            <a:off x="5519471" y="3092596"/>
            <a:ext cx="1155700" cy="778669"/>
          </a:xfrm>
          <a:prstGeom prst="rect">
            <a:avLst/>
          </a:prstGeom>
          <a:noFill/>
        </p:spPr>
        <p:txBody>
          <a:bodyPr wrap="square" rtlCol="0" anchor="t"/>
          <a:lstStyle/>
          <a:p>
            <a:pPr marL="0" algn="l"/>
            <a:r>
              <a:rPr lang="zh-CN" altLang="en-US" sz="3800" b="0" i="0" dirty="0">
                <a:solidFill>
                  <a:srgbClr val="000000"/>
                </a:solidFill>
                <a:latin typeface="方正粗黑宋简体" panose="02000000000000000000" charset="-122"/>
                <a:ea typeface="方正粗黑宋简体" panose="02000000000000000000" charset="-122"/>
              </a:rPr>
              <a:t>大学</a:t>
            </a:r>
            <a:endParaRPr lang="zh-CN" altLang="en-US" sz="3800" b="0" i="0" dirty="0">
              <a:solidFill>
                <a:srgbClr val="000000"/>
              </a:solidFill>
              <a:latin typeface="方正粗黑宋简体" panose="02000000000000000000" charset="-122"/>
              <a:ea typeface="方正粗黑宋简体" panose="02000000000000000000" charset="-122"/>
            </a:endParaRPr>
          </a:p>
        </p:txBody>
      </p:sp>
      <p:sp>
        <p:nvSpPr>
          <p:cNvPr id="5" name="文本2"/>
          <p:cNvSpPr txBox="1"/>
          <p:nvPr/>
        </p:nvSpPr>
        <p:spPr>
          <a:xfrm>
            <a:off x="7224293" y="3071193"/>
            <a:ext cx="190500" cy="716756"/>
          </a:xfrm>
          <a:prstGeom prst="rect">
            <a:avLst/>
          </a:prstGeom>
          <a:noFill/>
        </p:spPr>
        <p:txBody>
          <a:bodyPr wrap="square" rtlCol="0" anchor="t"/>
          <a:lstStyle/>
          <a:p>
            <a:pPr marL="0" algn="l"/>
          </a:p>
        </p:txBody>
      </p:sp>
      <p:sp>
        <p:nvSpPr>
          <p:cNvPr id="6" name="形状2"/>
          <p:cNvSpPr txBox="1"/>
          <p:nvPr/>
        </p:nvSpPr>
        <p:spPr>
          <a:xfrm>
            <a:off x="8171234" y="593590"/>
            <a:ext cx="1971472" cy="1763949"/>
          </a:xfrm>
          <a:custGeom>
            <a:avLst/>
            <a:gdLst>
              <a:gd name="connsiteX0" fmla="*/ 985736 w 1971472"/>
              <a:gd name="connsiteY0" fmla="*/ 0 h 1763949"/>
              <a:gd name="connsiteX1" fmla="*/ 1530143 w 1971472"/>
              <a:gd name="connsiteY1" fmla="*/ 0 h 1763949"/>
              <a:gd name="connsiteX2" fmla="*/ 1971472 w 1971472"/>
              <a:gd name="connsiteY2" fmla="*/ 1369076 h 1763949"/>
              <a:gd name="connsiteX3" fmla="*/ 441329 w 1971472"/>
              <a:gd name="connsiteY3" fmla="*/ 1763949 h 1763949"/>
              <a:gd name="connsiteX4" fmla="*/ 0 w 1971472"/>
              <a:gd name="connsiteY4" fmla="*/ 394873 h 1763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1472" h="1763949">
                <a:moveTo>
                  <a:pt x="985736" y="0"/>
                </a:moveTo>
                <a:cubicBezTo>
                  <a:pt x="1530143" y="0"/>
                  <a:pt x="1971472" y="394873"/>
                  <a:pt x="1971472" y="881974"/>
                </a:cubicBezTo>
                <a:cubicBezTo>
                  <a:pt x="1971472" y="1369076"/>
                  <a:pt x="1530143" y="1763949"/>
                  <a:pt x="985736" y="1763949"/>
                </a:cubicBezTo>
                <a:cubicBezTo>
                  <a:pt x="441329" y="1763949"/>
                  <a:pt x="0" y="1369076"/>
                  <a:pt x="0" y="881974"/>
                </a:cubicBezTo>
                <a:cubicBezTo>
                  <a:pt x="0" y="394873"/>
                  <a:pt x="441329" y="0"/>
                  <a:pt x="985736" y="0"/>
                </a:cubicBezTo>
                <a:close/>
              </a:path>
            </a:pathLst>
          </a:custGeom>
          <a:solidFill>
            <a:srgbClr val="E1D85A"/>
          </a:solidFill>
          <a:ln w="38100">
            <a:solidFill>
              <a:srgbClr val="000000"/>
            </a:solidFill>
            <a:prstDash val="solid"/>
          </a:ln>
        </p:spPr>
        <p:txBody>
          <a:bodyPr wrap="square" rtlCol="0" anchor="ctr"/>
          <a:lstStyle/>
          <a:p>
            <a:pPr marL="0" algn="ctr"/>
          </a:p>
        </p:txBody>
      </p:sp>
      <p:sp>
        <p:nvSpPr>
          <p:cNvPr id="7" name="文本3"/>
          <p:cNvSpPr txBox="1"/>
          <p:nvPr/>
        </p:nvSpPr>
        <p:spPr>
          <a:xfrm>
            <a:off x="8300437" y="1194330"/>
            <a:ext cx="1714500" cy="561975"/>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低分上名校</a:t>
            </a:r>
            <a:endParaRPr lang="zh-CN" altLang="en-US" sz="2400" b="0" i="0" dirty="0">
              <a:solidFill>
                <a:srgbClr val="000000"/>
              </a:solidFill>
              <a:latin typeface="方正粗黑宋简体" panose="02000000000000000000" charset="-122"/>
              <a:ea typeface="方正粗黑宋简体" panose="02000000000000000000" charset="-122"/>
            </a:endParaRPr>
          </a:p>
        </p:txBody>
      </p:sp>
      <p:sp>
        <p:nvSpPr>
          <p:cNvPr id="8" name="形状3"/>
          <p:cNvSpPr txBox="1"/>
          <p:nvPr/>
        </p:nvSpPr>
        <p:spPr>
          <a:xfrm>
            <a:off x="8976198" y="2834240"/>
            <a:ext cx="1971472" cy="1763949"/>
          </a:xfrm>
          <a:custGeom>
            <a:avLst/>
            <a:gdLst>
              <a:gd name="connsiteX0" fmla="*/ 985736 w 1971472"/>
              <a:gd name="connsiteY0" fmla="*/ 0 h 1763949"/>
              <a:gd name="connsiteX1" fmla="*/ 1530143 w 1971472"/>
              <a:gd name="connsiteY1" fmla="*/ 0 h 1763949"/>
              <a:gd name="connsiteX2" fmla="*/ 1971472 w 1971472"/>
              <a:gd name="connsiteY2" fmla="*/ 1369076 h 1763949"/>
              <a:gd name="connsiteX3" fmla="*/ 441329 w 1971472"/>
              <a:gd name="connsiteY3" fmla="*/ 1763949 h 1763949"/>
              <a:gd name="connsiteX4" fmla="*/ 0 w 1971472"/>
              <a:gd name="connsiteY4" fmla="*/ 394873 h 1763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1472" h="1763949">
                <a:moveTo>
                  <a:pt x="985736" y="0"/>
                </a:moveTo>
                <a:cubicBezTo>
                  <a:pt x="1530143" y="0"/>
                  <a:pt x="1971472" y="394873"/>
                  <a:pt x="1971472" y="881974"/>
                </a:cubicBezTo>
                <a:cubicBezTo>
                  <a:pt x="1971472" y="1369076"/>
                  <a:pt x="1530143" y="1763949"/>
                  <a:pt x="985736" y="1763949"/>
                </a:cubicBezTo>
                <a:cubicBezTo>
                  <a:pt x="441329" y="1763949"/>
                  <a:pt x="0" y="1369076"/>
                  <a:pt x="0" y="881974"/>
                </a:cubicBezTo>
                <a:cubicBezTo>
                  <a:pt x="0" y="394873"/>
                  <a:pt x="441329" y="0"/>
                  <a:pt x="985736" y="0"/>
                </a:cubicBezTo>
                <a:close/>
              </a:path>
            </a:pathLst>
          </a:custGeom>
          <a:solidFill>
            <a:srgbClr val="E1D85A"/>
          </a:solidFill>
          <a:ln w="38100">
            <a:solidFill>
              <a:srgbClr val="000000"/>
            </a:solidFill>
            <a:prstDash val="solid"/>
          </a:ln>
        </p:spPr>
        <p:txBody>
          <a:bodyPr wrap="square" rtlCol="0" anchor="ctr"/>
          <a:lstStyle/>
          <a:p>
            <a:pPr marL="0" algn="ctr"/>
          </a:p>
        </p:txBody>
      </p:sp>
      <p:sp>
        <p:nvSpPr>
          <p:cNvPr id="9" name="文本4"/>
          <p:cNvSpPr txBox="1"/>
          <p:nvPr/>
        </p:nvSpPr>
        <p:spPr>
          <a:xfrm>
            <a:off x="9256814" y="3434944"/>
            <a:ext cx="1409700" cy="561975"/>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身体素质</a:t>
            </a:r>
            <a:endParaRPr lang="zh-CN" altLang="en-US" sz="2400" b="0" i="0" dirty="0">
              <a:solidFill>
                <a:srgbClr val="000000"/>
              </a:solidFill>
              <a:latin typeface="方正粗黑宋简体" panose="02000000000000000000" charset="-122"/>
              <a:ea typeface="方正粗黑宋简体" panose="02000000000000000000" charset="-122"/>
            </a:endParaRPr>
          </a:p>
        </p:txBody>
      </p:sp>
      <p:sp>
        <p:nvSpPr>
          <p:cNvPr id="10" name="形状4"/>
          <p:cNvSpPr txBox="1"/>
          <p:nvPr/>
        </p:nvSpPr>
        <p:spPr>
          <a:xfrm>
            <a:off x="8470954" y="5012255"/>
            <a:ext cx="1971472" cy="1763949"/>
          </a:xfrm>
          <a:custGeom>
            <a:avLst/>
            <a:gdLst>
              <a:gd name="connsiteX0" fmla="*/ 985736 w 1971472"/>
              <a:gd name="connsiteY0" fmla="*/ 0 h 1763949"/>
              <a:gd name="connsiteX1" fmla="*/ 1530143 w 1971472"/>
              <a:gd name="connsiteY1" fmla="*/ 0 h 1763949"/>
              <a:gd name="connsiteX2" fmla="*/ 1971472 w 1971472"/>
              <a:gd name="connsiteY2" fmla="*/ 1369076 h 1763949"/>
              <a:gd name="connsiteX3" fmla="*/ 441329 w 1971472"/>
              <a:gd name="connsiteY3" fmla="*/ 1763949 h 1763949"/>
              <a:gd name="connsiteX4" fmla="*/ 0 w 1971472"/>
              <a:gd name="connsiteY4" fmla="*/ 394873 h 1763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1472" h="1763949">
                <a:moveTo>
                  <a:pt x="985736" y="0"/>
                </a:moveTo>
                <a:cubicBezTo>
                  <a:pt x="1530143" y="0"/>
                  <a:pt x="1971472" y="394873"/>
                  <a:pt x="1971472" y="881974"/>
                </a:cubicBezTo>
                <a:cubicBezTo>
                  <a:pt x="1971472" y="1369076"/>
                  <a:pt x="1530143" y="1763949"/>
                  <a:pt x="985736" y="1763949"/>
                </a:cubicBezTo>
                <a:cubicBezTo>
                  <a:pt x="441329" y="1763949"/>
                  <a:pt x="0" y="1369076"/>
                  <a:pt x="0" y="881974"/>
                </a:cubicBezTo>
                <a:cubicBezTo>
                  <a:pt x="0" y="394873"/>
                  <a:pt x="441329" y="0"/>
                  <a:pt x="985736" y="0"/>
                </a:cubicBezTo>
                <a:close/>
              </a:path>
            </a:pathLst>
          </a:custGeom>
          <a:solidFill>
            <a:srgbClr val="E1D85A"/>
          </a:solidFill>
          <a:ln w="38100">
            <a:solidFill>
              <a:srgbClr val="000000"/>
            </a:solidFill>
            <a:prstDash val="solid"/>
          </a:ln>
        </p:spPr>
        <p:txBody>
          <a:bodyPr wrap="square" rtlCol="0" anchor="ctr"/>
          <a:lstStyle/>
          <a:p>
            <a:pPr marL="0" algn="ctr"/>
          </a:p>
        </p:txBody>
      </p:sp>
      <p:sp>
        <p:nvSpPr>
          <p:cNvPr id="11" name="文本5"/>
          <p:cNvSpPr txBox="1"/>
          <p:nvPr/>
        </p:nvSpPr>
        <p:spPr>
          <a:xfrm>
            <a:off x="8751694" y="5612968"/>
            <a:ext cx="1409700" cy="561975"/>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艺术天赋</a:t>
            </a:r>
            <a:endParaRPr lang="zh-CN" altLang="en-US" sz="2400" b="0" i="0" dirty="0">
              <a:solidFill>
                <a:srgbClr val="000000"/>
              </a:solidFill>
              <a:latin typeface="方正粗黑宋简体" panose="02000000000000000000" charset="-122"/>
              <a:ea typeface="方正粗黑宋简体" panose="02000000000000000000" charset="-122"/>
            </a:endParaRPr>
          </a:p>
        </p:txBody>
      </p:sp>
      <p:sp>
        <p:nvSpPr>
          <p:cNvPr id="12" name="形状5"/>
          <p:cNvSpPr txBox="1"/>
          <p:nvPr/>
        </p:nvSpPr>
        <p:spPr>
          <a:xfrm>
            <a:off x="1905152" y="456047"/>
            <a:ext cx="1971472" cy="1763949"/>
          </a:xfrm>
          <a:custGeom>
            <a:avLst/>
            <a:gdLst>
              <a:gd name="connsiteX0" fmla="*/ 985736 w 1971472"/>
              <a:gd name="connsiteY0" fmla="*/ 0 h 1763949"/>
              <a:gd name="connsiteX1" fmla="*/ 1530143 w 1971472"/>
              <a:gd name="connsiteY1" fmla="*/ 0 h 1763949"/>
              <a:gd name="connsiteX2" fmla="*/ 1971472 w 1971472"/>
              <a:gd name="connsiteY2" fmla="*/ 1369076 h 1763949"/>
              <a:gd name="connsiteX3" fmla="*/ 441329 w 1971472"/>
              <a:gd name="connsiteY3" fmla="*/ 1763949 h 1763949"/>
              <a:gd name="connsiteX4" fmla="*/ 0 w 1971472"/>
              <a:gd name="connsiteY4" fmla="*/ 394873 h 1763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1472" h="1763949">
                <a:moveTo>
                  <a:pt x="985736" y="0"/>
                </a:moveTo>
                <a:cubicBezTo>
                  <a:pt x="1530143" y="0"/>
                  <a:pt x="1971472" y="394873"/>
                  <a:pt x="1971472" y="881974"/>
                </a:cubicBezTo>
                <a:cubicBezTo>
                  <a:pt x="1971472" y="1369076"/>
                  <a:pt x="1530143" y="1763949"/>
                  <a:pt x="985736" y="1763949"/>
                </a:cubicBezTo>
                <a:cubicBezTo>
                  <a:pt x="441329" y="1763949"/>
                  <a:pt x="0" y="1369076"/>
                  <a:pt x="0" y="881974"/>
                </a:cubicBezTo>
                <a:cubicBezTo>
                  <a:pt x="0" y="394873"/>
                  <a:pt x="441329" y="0"/>
                  <a:pt x="985736" y="0"/>
                </a:cubicBezTo>
                <a:close/>
              </a:path>
            </a:pathLst>
          </a:custGeom>
          <a:solidFill>
            <a:srgbClr val="E1D85A"/>
          </a:solidFill>
          <a:ln w="38100">
            <a:solidFill>
              <a:srgbClr val="000000"/>
            </a:solidFill>
            <a:prstDash val="solid"/>
          </a:ln>
        </p:spPr>
        <p:txBody>
          <a:bodyPr wrap="square" rtlCol="0" anchor="ctr"/>
          <a:lstStyle/>
          <a:p>
            <a:pPr marL="0" algn="ctr"/>
          </a:p>
        </p:txBody>
      </p:sp>
      <p:sp>
        <p:nvSpPr>
          <p:cNvPr id="13" name="形状6"/>
          <p:cNvSpPr txBox="1"/>
          <p:nvPr/>
        </p:nvSpPr>
        <p:spPr>
          <a:xfrm>
            <a:off x="1117063" y="2663666"/>
            <a:ext cx="1971472" cy="1763949"/>
          </a:xfrm>
          <a:custGeom>
            <a:avLst/>
            <a:gdLst>
              <a:gd name="connsiteX0" fmla="*/ 985736 w 1971472"/>
              <a:gd name="connsiteY0" fmla="*/ 0 h 1763949"/>
              <a:gd name="connsiteX1" fmla="*/ 1530143 w 1971472"/>
              <a:gd name="connsiteY1" fmla="*/ 0 h 1763949"/>
              <a:gd name="connsiteX2" fmla="*/ 1971472 w 1971472"/>
              <a:gd name="connsiteY2" fmla="*/ 1369076 h 1763949"/>
              <a:gd name="connsiteX3" fmla="*/ 441329 w 1971472"/>
              <a:gd name="connsiteY3" fmla="*/ 1763949 h 1763949"/>
              <a:gd name="connsiteX4" fmla="*/ 0 w 1971472"/>
              <a:gd name="connsiteY4" fmla="*/ 394873 h 1763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1472" h="1763949">
                <a:moveTo>
                  <a:pt x="985736" y="0"/>
                </a:moveTo>
                <a:cubicBezTo>
                  <a:pt x="1530143" y="0"/>
                  <a:pt x="1971472" y="394873"/>
                  <a:pt x="1971472" y="881974"/>
                </a:cubicBezTo>
                <a:cubicBezTo>
                  <a:pt x="1971472" y="1369076"/>
                  <a:pt x="1530143" y="1763949"/>
                  <a:pt x="985736" y="1763949"/>
                </a:cubicBezTo>
                <a:cubicBezTo>
                  <a:pt x="441329" y="1763949"/>
                  <a:pt x="0" y="1369076"/>
                  <a:pt x="0" y="881974"/>
                </a:cubicBezTo>
                <a:cubicBezTo>
                  <a:pt x="0" y="394873"/>
                  <a:pt x="441329" y="0"/>
                  <a:pt x="985736" y="0"/>
                </a:cubicBezTo>
                <a:close/>
              </a:path>
            </a:pathLst>
          </a:custGeom>
          <a:solidFill>
            <a:srgbClr val="E1D85A"/>
          </a:solidFill>
          <a:ln w="38100">
            <a:solidFill>
              <a:srgbClr val="000000"/>
            </a:solidFill>
            <a:prstDash val="solid"/>
          </a:ln>
        </p:spPr>
        <p:txBody>
          <a:bodyPr wrap="square" rtlCol="0" anchor="ctr"/>
          <a:lstStyle/>
          <a:p>
            <a:pPr marL="0" algn="ctr"/>
          </a:p>
        </p:txBody>
      </p:sp>
      <p:sp>
        <p:nvSpPr>
          <p:cNvPr id="14" name="形状7"/>
          <p:cNvSpPr txBox="1"/>
          <p:nvPr/>
        </p:nvSpPr>
        <p:spPr>
          <a:xfrm>
            <a:off x="1753095" y="5012246"/>
            <a:ext cx="1971472" cy="1763949"/>
          </a:xfrm>
          <a:custGeom>
            <a:avLst/>
            <a:gdLst>
              <a:gd name="connsiteX0" fmla="*/ 985736 w 1971472"/>
              <a:gd name="connsiteY0" fmla="*/ 0 h 1763949"/>
              <a:gd name="connsiteX1" fmla="*/ 1530143 w 1971472"/>
              <a:gd name="connsiteY1" fmla="*/ 0 h 1763949"/>
              <a:gd name="connsiteX2" fmla="*/ 1971472 w 1971472"/>
              <a:gd name="connsiteY2" fmla="*/ 1369076 h 1763949"/>
              <a:gd name="connsiteX3" fmla="*/ 441329 w 1971472"/>
              <a:gd name="connsiteY3" fmla="*/ 1763949 h 1763949"/>
              <a:gd name="connsiteX4" fmla="*/ 0 w 1971472"/>
              <a:gd name="connsiteY4" fmla="*/ 394873 h 1763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1472" h="1763949">
                <a:moveTo>
                  <a:pt x="985736" y="0"/>
                </a:moveTo>
                <a:cubicBezTo>
                  <a:pt x="1530143" y="0"/>
                  <a:pt x="1971472" y="394873"/>
                  <a:pt x="1971472" y="881974"/>
                </a:cubicBezTo>
                <a:cubicBezTo>
                  <a:pt x="1971472" y="1369076"/>
                  <a:pt x="1530143" y="1763949"/>
                  <a:pt x="985736" y="1763949"/>
                </a:cubicBezTo>
                <a:cubicBezTo>
                  <a:pt x="441329" y="1763949"/>
                  <a:pt x="0" y="1369076"/>
                  <a:pt x="0" y="881974"/>
                </a:cubicBezTo>
                <a:cubicBezTo>
                  <a:pt x="0" y="394873"/>
                  <a:pt x="441329" y="0"/>
                  <a:pt x="985736" y="0"/>
                </a:cubicBezTo>
                <a:close/>
              </a:path>
            </a:pathLst>
          </a:custGeom>
          <a:solidFill>
            <a:srgbClr val="E1D85A"/>
          </a:solidFill>
          <a:ln w="38100">
            <a:solidFill>
              <a:srgbClr val="000000"/>
            </a:solidFill>
            <a:prstDash val="solid"/>
          </a:ln>
        </p:spPr>
        <p:txBody>
          <a:bodyPr wrap="square" rtlCol="0" anchor="ctr"/>
          <a:lstStyle/>
          <a:p>
            <a:pPr marL="0" algn="ctr"/>
          </a:p>
        </p:txBody>
      </p:sp>
      <p:sp>
        <p:nvSpPr>
          <p:cNvPr id="15" name="文本6"/>
          <p:cNvSpPr txBox="1"/>
          <p:nvPr/>
        </p:nvSpPr>
        <p:spPr>
          <a:xfrm>
            <a:off x="2185768" y="1057046"/>
            <a:ext cx="1409700" cy="561975"/>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特殊身份</a:t>
            </a:r>
            <a:endParaRPr lang="zh-CN" altLang="en-US" sz="2400" b="0" i="0" dirty="0">
              <a:solidFill>
                <a:srgbClr val="000000"/>
              </a:solidFill>
              <a:latin typeface="方正粗黑宋简体" panose="02000000000000000000" charset="-122"/>
              <a:ea typeface="方正粗黑宋简体" panose="02000000000000000000" charset="-122"/>
            </a:endParaRPr>
          </a:p>
        </p:txBody>
      </p:sp>
      <p:sp>
        <p:nvSpPr>
          <p:cNvPr id="16" name="文本7"/>
          <p:cNvSpPr txBox="1"/>
          <p:nvPr/>
        </p:nvSpPr>
        <p:spPr>
          <a:xfrm>
            <a:off x="1397908" y="3148546"/>
            <a:ext cx="1409700" cy="933450"/>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家国情怀</a:t>
            </a:r>
            <a:endParaRPr lang="zh-CN" altLang="en-US" sz="2400" b="0" i="0" dirty="0">
              <a:solidFill>
                <a:srgbClr val="000000"/>
              </a:solidFill>
              <a:latin typeface="方正粗黑宋简体" panose="02000000000000000000" charset="-122"/>
              <a:ea typeface="方正粗黑宋简体" panose="02000000000000000000" charset="-122"/>
            </a:endParaRPr>
          </a:p>
          <a:p>
            <a:pPr marL="0" algn="l"/>
            <a:r>
              <a:rPr lang="zh-CN" altLang="en-US" sz="2400" b="0" i="0" dirty="0">
                <a:solidFill>
                  <a:srgbClr val="000000"/>
                </a:solidFill>
                <a:latin typeface="方正粗黑宋简体" panose="02000000000000000000" charset="-122"/>
                <a:ea typeface="方正粗黑宋简体" panose="02000000000000000000" charset="-122"/>
              </a:rPr>
              <a:t>雄心壮志</a:t>
            </a:r>
            <a:endParaRPr lang="zh-CN" altLang="en-US" sz="2400" b="0" i="0" dirty="0">
              <a:solidFill>
                <a:srgbClr val="000000"/>
              </a:solidFill>
              <a:latin typeface="方正粗黑宋简体" panose="02000000000000000000" charset="-122"/>
              <a:ea typeface="方正粗黑宋简体" panose="02000000000000000000" charset="-122"/>
            </a:endParaRPr>
          </a:p>
        </p:txBody>
      </p:sp>
      <p:sp>
        <p:nvSpPr>
          <p:cNvPr id="17" name="文本8"/>
          <p:cNvSpPr txBox="1"/>
          <p:nvPr/>
        </p:nvSpPr>
        <p:spPr>
          <a:xfrm>
            <a:off x="2124732" y="5642896"/>
            <a:ext cx="1104900" cy="561975"/>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不高考</a:t>
            </a:r>
            <a:endParaRPr lang="zh-CN" altLang="en-US" sz="2400" b="0" i="0" dirty="0">
              <a:solidFill>
                <a:srgbClr val="000000"/>
              </a:solidFill>
              <a:latin typeface="方正粗黑宋简体" panose="02000000000000000000" charset="-122"/>
              <a:ea typeface="方正粗黑宋简体" panose="02000000000000000000" charset="-122"/>
            </a:endParaRPr>
          </a:p>
        </p:txBody>
      </p:sp>
      <p:sp>
        <p:nvSpPr>
          <p:cNvPr id="18" name="形状8"/>
          <p:cNvSpPr txBox="1"/>
          <p:nvPr/>
        </p:nvSpPr>
        <p:spPr>
          <a:xfrm>
            <a:off x="8231762" y="562851"/>
            <a:ext cx="475574" cy="475574"/>
          </a:xfrm>
          <a:custGeom>
            <a:avLst/>
            <a:gdLst>
              <a:gd name="connsiteX0" fmla="*/ 237787 w 475574"/>
              <a:gd name="connsiteY0" fmla="*/ 0 h 475574"/>
              <a:gd name="connsiteX1" fmla="*/ 369114 w 475574"/>
              <a:gd name="connsiteY1" fmla="*/ 0 h 475574"/>
              <a:gd name="connsiteX2" fmla="*/ 475574 w 475574"/>
              <a:gd name="connsiteY2" fmla="*/ 369114 h 475574"/>
              <a:gd name="connsiteX3" fmla="*/ 106461 w 475574"/>
              <a:gd name="connsiteY3" fmla="*/ 475574 h 475574"/>
              <a:gd name="connsiteX4" fmla="*/ 0 w 475574"/>
              <a:gd name="connsiteY4" fmla="*/ 106461 h 475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574" h="475574">
                <a:moveTo>
                  <a:pt x="237787" y="0"/>
                </a:moveTo>
                <a:cubicBezTo>
                  <a:pt x="369114" y="0"/>
                  <a:pt x="475574" y="106461"/>
                  <a:pt x="475574" y="237787"/>
                </a:cubicBezTo>
                <a:cubicBezTo>
                  <a:pt x="475574" y="369114"/>
                  <a:pt x="369114" y="475574"/>
                  <a:pt x="237787" y="475574"/>
                </a:cubicBezTo>
                <a:cubicBezTo>
                  <a:pt x="106461" y="475574"/>
                  <a:pt x="0" y="369114"/>
                  <a:pt x="0" y="237787"/>
                </a:cubicBezTo>
                <a:cubicBezTo>
                  <a:pt x="0" y="106461"/>
                  <a:pt x="106461" y="0"/>
                  <a:pt x="237787" y="0"/>
                </a:cubicBezTo>
                <a:close/>
              </a:path>
            </a:pathLst>
          </a:custGeom>
          <a:solidFill>
            <a:srgbClr val="009CAE"/>
          </a:solidFill>
          <a:ln w="38100">
            <a:solidFill>
              <a:srgbClr val="000000"/>
            </a:solidFill>
            <a:prstDash val="solid"/>
          </a:ln>
        </p:spPr>
        <p:txBody>
          <a:bodyPr wrap="square" rtlCol="0" anchor="ctr"/>
          <a:lstStyle/>
          <a:p>
            <a:pPr marL="0" algn="ctr"/>
          </a:p>
        </p:txBody>
      </p:sp>
      <p:sp>
        <p:nvSpPr>
          <p:cNvPr id="19" name="形状9"/>
          <p:cNvSpPr txBox="1"/>
          <p:nvPr/>
        </p:nvSpPr>
        <p:spPr>
          <a:xfrm>
            <a:off x="10523972" y="4101084"/>
            <a:ext cx="475574" cy="475574"/>
          </a:xfrm>
          <a:custGeom>
            <a:avLst/>
            <a:gdLst>
              <a:gd name="connsiteX0" fmla="*/ 237787 w 475574"/>
              <a:gd name="connsiteY0" fmla="*/ 0 h 475574"/>
              <a:gd name="connsiteX1" fmla="*/ 369114 w 475574"/>
              <a:gd name="connsiteY1" fmla="*/ 0 h 475574"/>
              <a:gd name="connsiteX2" fmla="*/ 475574 w 475574"/>
              <a:gd name="connsiteY2" fmla="*/ 369114 h 475574"/>
              <a:gd name="connsiteX3" fmla="*/ 106461 w 475574"/>
              <a:gd name="connsiteY3" fmla="*/ 475574 h 475574"/>
              <a:gd name="connsiteX4" fmla="*/ 0 w 475574"/>
              <a:gd name="connsiteY4" fmla="*/ 106461 h 475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574" h="475574">
                <a:moveTo>
                  <a:pt x="237787" y="0"/>
                </a:moveTo>
                <a:cubicBezTo>
                  <a:pt x="369114" y="0"/>
                  <a:pt x="475574" y="106461"/>
                  <a:pt x="475574" y="237787"/>
                </a:cubicBezTo>
                <a:cubicBezTo>
                  <a:pt x="475574" y="369114"/>
                  <a:pt x="369114" y="475574"/>
                  <a:pt x="237787" y="475574"/>
                </a:cubicBezTo>
                <a:cubicBezTo>
                  <a:pt x="106461" y="475574"/>
                  <a:pt x="0" y="369114"/>
                  <a:pt x="0" y="237787"/>
                </a:cubicBezTo>
                <a:cubicBezTo>
                  <a:pt x="0" y="106461"/>
                  <a:pt x="106461" y="0"/>
                  <a:pt x="237787" y="0"/>
                </a:cubicBezTo>
                <a:close/>
              </a:path>
            </a:pathLst>
          </a:custGeom>
          <a:solidFill>
            <a:srgbClr val="FF7E00"/>
          </a:solidFill>
          <a:ln w="38100">
            <a:solidFill>
              <a:srgbClr val="000000"/>
            </a:solidFill>
            <a:prstDash val="solid"/>
          </a:ln>
        </p:spPr>
        <p:txBody>
          <a:bodyPr wrap="square" rtlCol="0" anchor="ctr"/>
          <a:lstStyle/>
          <a:p>
            <a:pPr marL="0" algn="ctr"/>
          </a:p>
        </p:txBody>
      </p:sp>
      <p:sp>
        <p:nvSpPr>
          <p:cNvPr id="20" name="形状10"/>
          <p:cNvSpPr txBox="1"/>
          <p:nvPr/>
        </p:nvSpPr>
        <p:spPr>
          <a:xfrm>
            <a:off x="8363083" y="6300816"/>
            <a:ext cx="475574" cy="475574"/>
          </a:xfrm>
          <a:custGeom>
            <a:avLst/>
            <a:gdLst>
              <a:gd name="connsiteX0" fmla="*/ 237787 w 475574"/>
              <a:gd name="connsiteY0" fmla="*/ 0 h 475574"/>
              <a:gd name="connsiteX1" fmla="*/ 369114 w 475574"/>
              <a:gd name="connsiteY1" fmla="*/ 0 h 475574"/>
              <a:gd name="connsiteX2" fmla="*/ 475574 w 475574"/>
              <a:gd name="connsiteY2" fmla="*/ 369114 h 475574"/>
              <a:gd name="connsiteX3" fmla="*/ 106461 w 475574"/>
              <a:gd name="connsiteY3" fmla="*/ 475574 h 475574"/>
              <a:gd name="connsiteX4" fmla="*/ 0 w 475574"/>
              <a:gd name="connsiteY4" fmla="*/ 106461 h 475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574" h="475574">
                <a:moveTo>
                  <a:pt x="237787" y="0"/>
                </a:moveTo>
                <a:cubicBezTo>
                  <a:pt x="369114" y="0"/>
                  <a:pt x="475574" y="106461"/>
                  <a:pt x="475574" y="237787"/>
                </a:cubicBezTo>
                <a:cubicBezTo>
                  <a:pt x="475574" y="369114"/>
                  <a:pt x="369114" y="475574"/>
                  <a:pt x="237787" y="475574"/>
                </a:cubicBezTo>
                <a:cubicBezTo>
                  <a:pt x="106461" y="475574"/>
                  <a:pt x="0" y="369114"/>
                  <a:pt x="0" y="237787"/>
                </a:cubicBezTo>
                <a:cubicBezTo>
                  <a:pt x="0" y="106461"/>
                  <a:pt x="106461" y="0"/>
                  <a:pt x="237787" y="0"/>
                </a:cubicBezTo>
                <a:close/>
              </a:path>
            </a:pathLst>
          </a:custGeom>
          <a:solidFill>
            <a:srgbClr val="660A0A"/>
          </a:solidFill>
          <a:ln w="38100">
            <a:solidFill>
              <a:srgbClr val="000000"/>
            </a:solidFill>
            <a:prstDash val="solid"/>
          </a:ln>
        </p:spPr>
        <p:txBody>
          <a:bodyPr wrap="square" rtlCol="0" anchor="ctr"/>
          <a:lstStyle/>
          <a:p>
            <a:pPr marL="0" algn="ctr"/>
          </a:p>
        </p:txBody>
      </p:sp>
      <p:sp>
        <p:nvSpPr>
          <p:cNvPr id="21" name="形状11"/>
          <p:cNvSpPr txBox="1"/>
          <p:nvPr/>
        </p:nvSpPr>
        <p:spPr>
          <a:xfrm>
            <a:off x="3452508" y="593684"/>
            <a:ext cx="475574" cy="475574"/>
          </a:xfrm>
          <a:custGeom>
            <a:avLst/>
            <a:gdLst>
              <a:gd name="connsiteX0" fmla="*/ 237787 w 475574"/>
              <a:gd name="connsiteY0" fmla="*/ 0 h 475574"/>
              <a:gd name="connsiteX1" fmla="*/ 369114 w 475574"/>
              <a:gd name="connsiteY1" fmla="*/ 0 h 475574"/>
              <a:gd name="connsiteX2" fmla="*/ 475574 w 475574"/>
              <a:gd name="connsiteY2" fmla="*/ 369114 h 475574"/>
              <a:gd name="connsiteX3" fmla="*/ 106461 w 475574"/>
              <a:gd name="connsiteY3" fmla="*/ 475574 h 475574"/>
              <a:gd name="connsiteX4" fmla="*/ 0 w 475574"/>
              <a:gd name="connsiteY4" fmla="*/ 106461 h 475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574" h="475574">
                <a:moveTo>
                  <a:pt x="237787" y="0"/>
                </a:moveTo>
                <a:cubicBezTo>
                  <a:pt x="369114" y="0"/>
                  <a:pt x="475574" y="106461"/>
                  <a:pt x="475574" y="237787"/>
                </a:cubicBezTo>
                <a:cubicBezTo>
                  <a:pt x="475574" y="369114"/>
                  <a:pt x="369114" y="475574"/>
                  <a:pt x="237787" y="475574"/>
                </a:cubicBezTo>
                <a:cubicBezTo>
                  <a:pt x="106461" y="475574"/>
                  <a:pt x="0" y="369114"/>
                  <a:pt x="0" y="237787"/>
                </a:cubicBezTo>
                <a:cubicBezTo>
                  <a:pt x="0" y="106461"/>
                  <a:pt x="106461" y="0"/>
                  <a:pt x="237787" y="0"/>
                </a:cubicBezTo>
                <a:close/>
              </a:path>
            </a:pathLst>
          </a:custGeom>
          <a:solidFill>
            <a:srgbClr val="2A8C51"/>
          </a:solidFill>
          <a:ln w="38100">
            <a:solidFill>
              <a:srgbClr val="000000"/>
            </a:solidFill>
            <a:prstDash val="solid"/>
          </a:ln>
        </p:spPr>
        <p:txBody>
          <a:bodyPr wrap="square" rtlCol="0" anchor="ctr"/>
          <a:lstStyle/>
          <a:p>
            <a:pPr marL="0" algn="ctr"/>
          </a:p>
        </p:txBody>
      </p:sp>
      <p:sp>
        <p:nvSpPr>
          <p:cNvPr id="22" name="形状12"/>
          <p:cNvSpPr txBox="1"/>
          <p:nvPr/>
        </p:nvSpPr>
        <p:spPr>
          <a:xfrm>
            <a:off x="1117035" y="3952494"/>
            <a:ext cx="475574" cy="475574"/>
          </a:xfrm>
          <a:custGeom>
            <a:avLst/>
            <a:gdLst>
              <a:gd name="connsiteX0" fmla="*/ 237787 w 475574"/>
              <a:gd name="connsiteY0" fmla="*/ 0 h 475574"/>
              <a:gd name="connsiteX1" fmla="*/ 369114 w 475574"/>
              <a:gd name="connsiteY1" fmla="*/ 0 h 475574"/>
              <a:gd name="connsiteX2" fmla="*/ 475574 w 475574"/>
              <a:gd name="connsiteY2" fmla="*/ 369114 h 475574"/>
              <a:gd name="connsiteX3" fmla="*/ 106461 w 475574"/>
              <a:gd name="connsiteY3" fmla="*/ 475574 h 475574"/>
              <a:gd name="connsiteX4" fmla="*/ 0 w 475574"/>
              <a:gd name="connsiteY4" fmla="*/ 106461 h 475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574" h="475574">
                <a:moveTo>
                  <a:pt x="237787" y="0"/>
                </a:moveTo>
                <a:cubicBezTo>
                  <a:pt x="369114" y="0"/>
                  <a:pt x="475574" y="106461"/>
                  <a:pt x="475574" y="237787"/>
                </a:cubicBezTo>
                <a:cubicBezTo>
                  <a:pt x="475574" y="369114"/>
                  <a:pt x="369114" y="475574"/>
                  <a:pt x="237787" y="475574"/>
                </a:cubicBezTo>
                <a:cubicBezTo>
                  <a:pt x="106461" y="475574"/>
                  <a:pt x="0" y="369114"/>
                  <a:pt x="0" y="237787"/>
                </a:cubicBezTo>
                <a:cubicBezTo>
                  <a:pt x="0" y="106461"/>
                  <a:pt x="106461" y="0"/>
                  <a:pt x="237787" y="0"/>
                </a:cubicBezTo>
                <a:close/>
              </a:path>
            </a:pathLst>
          </a:custGeom>
          <a:solidFill>
            <a:srgbClr val="949499"/>
          </a:solidFill>
          <a:ln w="38100">
            <a:solidFill>
              <a:srgbClr val="000000"/>
            </a:solidFill>
            <a:prstDash val="solid"/>
          </a:ln>
        </p:spPr>
        <p:txBody>
          <a:bodyPr wrap="square" rtlCol="0" anchor="ctr"/>
          <a:lstStyle/>
          <a:p>
            <a:pPr marL="0" algn="ctr"/>
          </a:p>
        </p:txBody>
      </p:sp>
      <p:sp>
        <p:nvSpPr>
          <p:cNvPr id="23" name="形状13"/>
          <p:cNvSpPr txBox="1"/>
          <p:nvPr/>
        </p:nvSpPr>
        <p:spPr>
          <a:xfrm>
            <a:off x="3248787" y="6223845"/>
            <a:ext cx="475574" cy="475574"/>
          </a:xfrm>
          <a:custGeom>
            <a:avLst/>
            <a:gdLst>
              <a:gd name="connsiteX0" fmla="*/ 237787 w 475574"/>
              <a:gd name="connsiteY0" fmla="*/ 0 h 475574"/>
              <a:gd name="connsiteX1" fmla="*/ 369114 w 475574"/>
              <a:gd name="connsiteY1" fmla="*/ 0 h 475574"/>
              <a:gd name="connsiteX2" fmla="*/ 475574 w 475574"/>
              <a:gd name="connsiteY2" fmla="*/ 369114 h 475574"/>
              <a:gd name="connsiteX3" fmla="*/ 106461 w 475574"/>
              <a:gd name="connsiteY3" fmla="*/ 475574 h 475574"/>
              <a:gd name="connsiteX4" fmla="*/ 0 w 475574"/>
              <a:gd name="connsiteY4" fmla="*/ 106461 h 475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5574" h="475574">
                <a:moveTo>
                  <a:pt x="237787" y="0"/>
                </a:moveTo>
                <a:cubicBezTo>
                  <a:pt x="369114" y="0"/>
                  <a:pt x="475574" y="106461"/>
                  <a:pt x="475574" y="237787"/>
                </a:cubicBezTo>
                <a:cubicBezTo>
                  <a:pt x="475574" y="369114"/>
                  <a:pt x="369114" y="475574"/>
                  <a:pt x="237787" y="475574"/>
                </a:cubicBezTo>
                <a:cubicBezTo>
                  <a:pt x="106461" y="475574"/>
                  <a:pt x="0" y="369114"/>
                  <a:pt x="0" y="237787"/>
                </a:cubicBezTo>
                <a:cubicBezTo>
                  <a:pt x="0" y="106461"/>
                  <a:pt x="106461" y="0"/>
                  <a:pt x="237787" y="0"/>
                </a:cubicBezTo>
                <a:close/>
              </a:path>
            </a:pathLst>
          </a:custGeom>
          <a:solidFill>
            <a:srgbClr val="471ECC"/>
          </a:solidFill>
          <a:ln w="38100">
            <a:solidFill>
              <a:srgbClr val="000000"/>
            </a:solidFill>
            <a:prstDash val="solid"/>
          </a:ln>
        </p:spPr>
        <p:txBody>
          <a:bodyPr wrap="square" rtlCol="0" anchor="ctr"/>
          <a:lstStyle/>
          <a:p>
            <a:pPr marL="0" algn="ctr"/>
          </a:p>
        </p:txBody>
      </p:sp>
      <p:pic>
        <p:nvPicPr>
          <p:cNvPr id="24" name="图片2"/>
          <p:cNvPicPr>
            <a:picLocks noChangeAspect="1"/>
          </p:cNvPicPr>
          <p:nvPr/>
        </p:nvPicPr>
        <p:blipFill>
          <a:blip r:embed="rId2"/>
          <a:stretch>
            <a:fillRect/>
          </a:stretch>
        </p:blipFill>
        <p:spPr>
          <a:xfrm>
            <a:off x="3973001" y="5642781"/>
            <a:ext cx="4248150" cy="9810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3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3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3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3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3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3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3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3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3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300"/>
                                        <p:tgtEl>
                                          <p:spTgt spid="15"/>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fade">
                                      <p:cBhvr>
                                        <p:cTn id="57" dur="300"/>
                                        <p:tgtEl>
                                          <p:spTgt spid="13"/>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fade">
                                      <p:cBhvr>
                                        <p:cTn id="62" dur="300"/>
                                        <p:tgtEl>
                                          <p:spTgt spid="16"/>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4"/>
                                        </p:tgtEl>
                                        <p:attrNameLst>
                                          <p:attrName>style.visibility</p:attrName>
                                        </p:attrNameLst>
                                      </p:cBhvr>
                                      <p:to>
                                        <p:strVal val="visible"/>
                                      </p:to>
                                    </p:set>
                                    <p:animEffect transition="in" filter="fade">
                                      <p:cBhvr>
                                        <p:cTn id="67" dur="300"/>
                                        <p:tgtEl>
                                          <p:spTgt spid="14"/>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fade">
                                      <p:cBhvr>
                                        <p:cTn id="72" dur="3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6" grpId="0" animBg="1"/>
      <p:bldP spid="7" grpId="0" animBg="1"/>
      <p:bldP spid="8" grpId="0" animBg="1"/>
      <p:bldP spid="9" grpId="0" animBg="1"/>
      <p:bldP spid="10" grpId="0" animBg="1"/>
      <p:bldP spid="11" grpId="0" animBg="1"/>
      <p:bldP spid="12" grpId="0" animBg="1"/>
      <p:bldP spid="15" grpId="0" animBg="1"/>
      <p:bldP spid="13" grpId="0" animBg="1"/>
      <p:bldP spid="16" grpId="0" animBg="1"/>
      <p:bldP spid="14" grpId="0" animBg="1"/>
      <p:bldP spid="1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2" name="组合1"/>
          <p:cNvGrpSpPr/>
          <p:nvPr/>
        </p:nvGrpSpPr>
        <p:grpSpPr>
          <a:xfrm>
            <a:off x="0" y="-2666999"/>
            <a:ext cx="12192000" cy="12192000"/>
            <a:chOff x="0" y="0"/>
            <a:chExt cx="12192000" cy="12192000"/>
          </a:xfrm>
        </p:grpSpPr>
        <p:pic>
          <p:nvPicPr>
            <p:cNvPr id="3" name="图片3"/>
            <p:cNvPicPr>
              <a:picLocks noChangeAspect="1"/>
            </p:cNvPicPr>
            <p:nvPr/>
          </p:nvPicPr>
          <p:blipFill>
            <a:blip r:embed="rId1"/>
            <a:srcRect l="27720" t="16518" r="9392" b="6946"/>
            <a:stretch>
              <a:fillRect/>
            </a:stretch>
          </p:blipFill>
          <p:spPr>
            <a:xfrm rot="16200000">
              <a:off x="2667002" y="0"/>
              <a:ext cx="6857996" cy="12192000"/>
            </a:xfrm>
            <a:prstGeom prst="rect">
              <a:avLst/>
            </a:prstGeom>
          </p:spPr>
        </p:pic>
        <p:pic>
          <p:nvPicPr>
            <p:cNvPr id="4" name="图片4"/>
            <p:cNvPicPr>
              <a:picLocks noChangeAspect="1"/>
            </p:cNvPicPr>
            <p:nvPr/>
          </p:nvPicPr>
          <p:blipFill>
            <a:blip r:embed="rId2"/>
            <a:srcRect l="12447"/>
            <a:stretch>
              <a:fillRect/>
            </a:stretch>
          </p:blipFill>
          <p:spPr>
            <a:xfrm>
              <a:off x="0" y="3380954"/>
              <a:ext cx="12192000" cy="3750250"/>
            </a:xfrm>
            <a:prstGeom prst="rect">
              <a:avLst/>
            </a:prstGeom>
          </p:spPr>
        </p:pic>
        <p:sp>
          <p:nvSpPr>
            <p:cNvPr id="5" name="形状1"/>
            <p:cNvSpPr txBox="1"/>
            <p:nvPr/>
          </p:nvSpPr>
          <p:spPr>
            <a:xfrm flipH="1">
              <a:off x="0" y="6217626"/>
              <a:ext cx="12192000" cy="3309726"/>
            </a:xfrm>
            <a:prstGeom prst="rect">
              <a:avLst/>
            </a:prstGeom>
            <a:solidFill>
              <a:srgbClr val="FFFFFF"/>
            </a:solidFill>
            <a:ln w="9525">
              <a:solidFill>
                <a:srgbClr val="FFFFFF">
                  <a:alpha val="0"/>
                </a:srgbClr>
              </a:solidFill>
            </a:ln>
          </p:spPr>
          <p:txBody>
            <a:bodyPr wrap="square" rtlCol="0" anchor="ctr"/>
            <a:lstStyle/>
            <a:p>
              <a:pPr marL="0" algn="ctr"/>
            </a:p>
          </p:txBody>
        </p:sp>
      </p:grpSp>
      <p:pic>
        <p:nvPicPr>
          <p:cNvPr id="6" name="图片1"/>
          <p:cNvPicPr>
            <a:picLocks noChangeAspect="1"/>
          </p:cNvPicPr>
          <p:nvPr/>
        </p:nvPicPr>
        <p:blipFill>
          <a:blip r:embed="rId3"/>
          <a:stretch>
            <a:fillRect/>
          </a:stretch>
        </p:blipFill>
        <p:spPr>
          <a:xfrm rot="10800000">
            <a:off x="10166002" y="911589"/>
            <a:ext cx="1518345" cy="1302424"/>
          </a:xfrm>
          <a:prstGeom prst="rect">
            <a:avLst/>
          </a:prstGeom>
        </p:spPr>
      </p:pic>
      <p:pic>
        <p:nvPicPr>
          <p:cNvPr id="7" name="图片2"/>
          <p:cNvPicPr>
            <a:picLocks noChangeAspect="1"/>
          </p:cNvPicPr>
          <p:nvPr/>
        </p:nvPicPr>
        <p:blipFill>
          <a:blip r:embed="rId4"/>
          <a:stretch>
            <a:fillRect/>
          </a:stretch>
        </p:blipFill>
        <p:spPr>
          <a:xfrm>
            <a:off x="-222425" y="565974"/>
            <a:ext cx="5861225" cy="6292025"/>
          </a:xfrm>
          <a:prstGeom prst="rect">
            <a:avLst/>
          </a:prstGeom>
        </p:spPr>
      </p:pic>
      <p:grpSp>
        <p:nvGrpSpPr>
          <p:cNvPr id="8" name="组合2"/>
          <p:cNvGrpSpPr/>
          <p:nvPr/>
        </p:nvGrpSpPr>
        <p:grpSpPr>
          <a:xfrm>
            <a:off x="6106135" y="3142145"/>
            <a:ext cx="6702202" cy="1025548"/>
            <a:chOff x="0" y="0"/>
            <a:chExt cx="6702202" cy="1025548"/>
          </a:xfrm>
        </p:grpSpPr>
        <p:sp>
          <p:nvSpPr>
            <p:cNvPr id="9" name="形状2"/>
            <p:cNvSpPr txBox="1"/>
            <p:nvPr/>
          </p:nvSpPr>
          <p:spPr>
            <a:xfrm>
              <a:off x="0" y="49530"/>
              <a:ext cx="6497320" cy="922020"/>
            </a:xfrm>
            <a:prstGeom prst="rect">
              <a:avLst/>
            </a:prstGeom>
            <a:solidFill>
              <a:srgbClr val="FFFFFF">
                <a:alpha val="0"/>
              </a:srgbClr>
            </a:solidFill>
            <a:ln w="9525">
              <a:solidFill>
                <a:srgbClr val="FFFFFF">
                  <a:alpha val="0"/>
                </a:srgbClr>
              </a:solidFill>
            </a:ln>
          </p:spPr>
          <p:txBody>
            <a:bodyPr wrap="square" rtlCol="0" anchor="ctr"/>
            <a:lstStyle/>
            <a:p>
              <a:pPr marL="0" algn="ctr"/>
            </a:p>
          </p:txBody>
        </p:sp>
        <p:sp>
          <p:nvSpPr>
            <p:cNvPr id="10" name="文本2"/>
            <p:cNvSpPr txBox="1"/>
            <p:nvPr/>
          </p:nvSpPr>
          <p:spPr>
            <a:xfrm>
              <a:off x="14382" y="0"/>
              <a:ext cx="6687820" cy="1025548"/>
            </a:xfrm>
            <a:prstGeom prst="rect">
              <a:avLst/>
            </a:prstGeom>
            <a:noFill/>
          </p:spPr>
          <p:txBody>
            <a:bodyPr wrap="square" rtlCol="0" anchor="t"/>
            <a:lstStyle/>
            <a:p>
              <a:pPr marL="0" algn="l"/>
              <a:r>
                <a:rPr lang="zh-CN" altLang="en-US" sz="5500" b="1" i="0" dirty="0">
                  <a:solidFill>
                    <a:srgbClr val="000000"/>
                  </a:solidFill>
                  <a:latin typeface="爱奇艺黑体 Black"/>
                  <a:ea typeface="爱奇艺黑体 Black"/>
                </a:rPr>
                <a:t>上大学的N种途径</a:t>
              </a:r>
              <a:endParaRPr lang="zh-CN" altLang="en-US" sz="5500" b="1" i="0" dirty="0">
                <a:solidFill>
                  <a:srgbClr val="000000"/>
                </a:solidFill>
                <a:latin typeface="爱奇艺黑体 Black"/>
                <a:ea typeface="爱奇艺黑体 Black"/>
              </a:endParaRPr>
            </a:p>
          </p:txBody>
        </p:sp>
      </p:grpSp>
      <p:sp>
        <p:nvSpPr>
          <p:cNvPr id="11" name="文本1"/>
          <p:cNvSpPr txBox="1"/>
          <p:nvPr/>
        </p:nvSpPr>
        <p:spPr>
          <a:xfrm>
            <a:off x="7028917" y="4613681"/>
            <a:ext cx="3238500" cy="561975"/>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厦门一中学生发展中心</a:t>
            </a:r>
            <a:endParaRPr lang="zh-CN" altLang="en-US" sz="2400" b="0" i="0" dirty="0">
              <a:solidFill>
                <a:srgbClr val="000000"/>
              </a:solidFill>
              <a:latin typeface="方正粗黑宋简体" panose="02000000000000000000" charset="-122"/>
              <a:ea typeface="方正粗黑宋简体" panose="02000000000000000000"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tretch>
            <a:fillRect/>
          </a:stretch>
        </p:blipFill>
        <p:spPr>
          <a:xfrm>
            <a:off x="391" y="-1857"/>
            <a:ext cx="12191810" cy="6859857"/>
          </a:xfrm>
          <a:prstGeom prst="rect">
            <a:avLst/>
          </a:prstGeom>
        </p:spPr>
      </p:pic>
      <p:pic>
        <p:nvPicPr>
          <p:cNvPr id="3" name="图片2"/>
          <p:cNvPicPr>
            <a:picLocks noChangeAspect="1"/>
          </p:cNvPicPr>
          <p:nvPr/>
        </p:nvPicPr>
        <p:blipFill>
          <a:blip r:embed="rId2"/>
          <a:stretch>
            <a:fillRect/>
          </a:stretch>
        </p:blipFill>
        <p:spPr>
          <a:xfrm>
            <a:off x="410" y="-1734"/>
            <a:ext cx="12191409" cy="6859791"/>
          </a:xfrm>
          <a:prstGeom prst="rect">
            <a:avLst/>
          </a:prstGeom>
        </p:spPr>
      </p:pic>
      <p:sp>
        <p:nvSpPr>
          <p:cNvPr id="4" name="文本1"/>
          <p:cNvSpPr txBox="1"/>
          <p:nvPr/>
        </p:nvSpPr>
        <p:spPr>
          <a:xfrm>
            <a:off x="3416989" y="2677478"/>
            <a:ext cx="5791200" cy="1165606"/>
          </a:xfrm>
          <a:prstGeom prst="rect">
            <a:avLst/>
          </a:prstGeom>
          <a:noFill/>
        </p:spPr>
        <p:txBody>
          <a:bodyPr wrap="square" rtlCol="0" anchor="t"/>
          <a:lstStyle/>
          <a:p>
            <a:pPr marL="0" algn="l"/>
            <a:r>
              <a:rPr lang="zh-CN" altLang="en-US" sz="6300" b="0" i="0" dirty="0">
                <a:solidFill>
                  <a:srgbClr val="FFFFFF"/>
                </a:solidFill>
                <a:latin typeface="方正粗黑宋简体" panose="02000000000000000000" charset="-122"/>
                <a:ea typeface="方正粗黑宋简体" panose="02000000000000000000" charset="-122"/>
              </a:rPr>
              <a:t>假如我成绩优异</a:t>
            </a:r>
            <a:endParaRPr lang="zh-CN" altLang="en-US" sz="6300" b="0" i="0" dirty="0">
              <a:solidFill>
                <a:srgbClr val="FFFFFF"/>
              </a:solidFill>
              <a:latin typeface="方正粗黑宋简体" panose="02000000000000000000" charset="-122"/>
              <a:ea typeface="方正粗黑宋简体" panose="02000000000000000000" charset="-122"/>
            </a:endParaRPr>
          </a:p>
        </p:txBody>
      </p:sp>
      <p:pic>
        <p:nvPicPr>
          <p:cNvPr id="5" name="图片3"/>
          <p:cNvPicPr>
            <a:picLocks noChangeAspect="1"/>
          </p:cNvPicPr>
          <p:nvPr/>
        </p:nvPicPr>
        <p:blipFill>
          <a:blip r:embed="rId3"/>
          <a:stretch>
            <a:fillRect/>
          </a:stretch>
        </p:blipFill>
        <p:spPr>
          <a:xfrm>
            <a:off x="5874020" y="912609"/>
            <a:ext cx="876300" cy="847725"/>
          </a:xfrm>
          <a:prstGeom prst="rect">
            <a:avLst/>
          </a:prstGeom>
        </p:spPr>
      </p:pic>
      <p:pic>
        <p:nvPicPr>
          <p:cNvPr id="6" name="图片4"/>
          <p:cNvPicPr>
            <a:picLocks noChangeAspect="1"/>
          </p:cNvPicPr>
          <p:nvPr/>
        </p:nvPicPr>
        <p:blipFill>
          <a:blip r:embed="rId3"/>
          <a:stretch>
            <a:fillRect/>
          </a:stretch>
        </p:blipFill>
        <p:spPr>
          <a:xfrm rot="10800000">
            <a:off x="5874487" y="4398083"/>
            <a:ext cx="876300" cy="8477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rcRect l="9392" t="16518" r="27720" b="6946"/>
          <a:stretch>
            <a:fillRect/>
          </a:stretch>
        </p:blipFill>
        <p:spPr>
          <a:xfrm rot="5400000">
            <a:off x="2667002" y="-2666999"/>
            <a:ext cx="6857996" cy="12192000"/>
          </a:xfrm>
          <a:prstGeom prst="rect">
            <a:avLst/>
          </a:prstGeom>
        </p:spPr>
      </p:pic>
      <p:sp>
        <p:nvSpPr>
          <p:cNvPr id="3" name="形状1"/>
          <p:cNvSpPr txBox="1"/>
          <p:nvPr/>
        </p:nvSpPr>
        <p:spPr>
          <a:xfrm>
            <a:off x="89937" y="117262"/>
            <a:ext cx="12025863" cy="6623475"/>
          </a:xfrm>
          <a:prstGeom prst="roundRect">
            <a:avLst/>
          </a:prstGeom>
          <a:solidFill>
            <a:srgbClr val="FFFFFF">
              <a:alpha val="98823"/>
            </a:srgbClr>
          </a:solidFill>
          <a:ln w="9525">
            <a:solidFill>
              <a:srgbClr val="FFFFFF">
                <a:alpha val="0"/>
              </a:srgbClr>
            </a:solidFill>
          </a:ln>
        </p:spPr>
        <p:txBody>
          <a:bodyPr wrap="square" rtlCol="0" anchor="ctr"/>
          <a:lstStyle/>
          <a:p>
            <a:pPr marL="0" algn="ctr"/>
          </a:p>
        </p:txBody>
      </p:sp>
      <p:pic>
        <p:nvPicPr>
          <p:cNvPr id="4" name="图片2"/>
          <p:cNvPicPr>
            <a:picLocks noChangeAspect="1"/>
          </p:cNvPicPr>
          <p:nvPr/>
        </p:nvPicPr>
        <p:blipFill>
          <a:blip r:embed="rId2"/>
          <a:stretch>
            <a:fillRect/>
          </a:stretch>
        </p:blipFill>
        <p:spPr>
          <a:xfrm rot="4613640">
            <a:off x="200440" y="184833"/>
            <a:ext cx="1189917" cy="1020701"/>
          </a:xfrm>
          <a:prstGeom prst="rect">
            <a:avLst/>
          </a:prstGeom>
        </p:spPr>
      </p:pic>
      <p:sp>
        <p:nvSpPr>
          <p:cNvPr id="5" name="文本1"/>
          <p:cNvSpPr txBox="1"/>
          <p:nvPr/>
        </p:nvSpPr>
        <p:spPr>
          <a:xfrm>
            <a:off x="1554832" y="559575"/>
            <a:ext cx="9520523" cy="579839"/>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 谢娜侄子高考692分进清华，本是分享喜悦，却遭网友一片“质疑” </a:t>
            </a:r>
            <a:endParaRPr lang="zh-CN" altLang="en-US" sz="2400" b="0" i="0" dirty="0">
              <a:solidFill>
                <a:srgbClr val="000000"/>
              </a:solidFill>
              <a:latin typeface="方正粗黑宋简体" panose="02000000000000000000" charset="-122"/>
              <a:ea typeface="方正粗黑宋简体" panose="02000000000000000000" charset="-122"/>
            </a:endParaRPr>
          </a:p>
        </p:txBody>
      </p:sp>
      <p:sp>
        <p:nvSpPr>
          <p:cNvPr id="6" name="文本2"/>
          <p:cNvSpPr txBox="1"/>
          <p:nvPr/>
        </p:nvSpPr>
        <p:spPr>
          <a:xfrm>
            <a:off x="4776445" y="3758765"/>
            <a:ext cx="6353966" cy="2543175"/>
          </a:xfrm>
          <a:prstGeom prst="rect">
            <a:avLst/>
          </a:prstGeom>
          <a:noFill/>
        </p:spPr>
        <p:txBody>
          <a:bodyPr wrap="square" rtlCol="0" anchor="ctr"/>
          <a:lstStyle/>
          <a:p>
            <a:pPr marL="0" algn="l"/>
            <a:r>
              <a:rPr lang="zh-CN" altLang="en-US" sz="2000" b="0" i="0" dirty="0">
                <a:solidFill>
                  <a:srgbClr val="000000"/>
                </a:solidFill>
                <a:latin typeface="方正粗黑宋简体" panose="02000000000000000000" charset="-122"/>
                <a:ea typeface="方正粗黑宋简体" panose="02000000000000000000" charset="-122"/>
              </a:rPr>
              <a:t>谢娜侄子以</a:t>
            </a:r>
            <a:r>
              <a:rPr lang="zh-CN" altLang="en-US" sz="2000" b="0" i="0" dirty="0">
                <a:solidFill>
                  <a:srgbClr val="FF0000"/>
                </a:solidFill>
                <a:latin typeface="方正粗黑宋简体" panose="02000000000000000000" charset="-122"/>
                <a:ea typeface="方正粗黑宋简体" panose="02000000000000000000" charset="-122"/>
              </a:rPr>
              <a:t>692分</a:t>
            </a:r>
            <a:r>
              <a:rPr lang="zh-CN" altLang="en-US" sz="2000" b="0" i="0" dirty="0">
                <a:solidFill>
                  <a:srgbClr val="000000"/>
                </a:solidFill>
                <a:latin typeface="方正粗黑宋简体" panose="02000000000000000000" charset="-122"/>
                <a:ea typeface="方正粗黑宋简体" panose="02000000000000000000" charset="-122"/>
              </a:rPr>
              <a:t>的成绩考上清华大学，</a:t>
            </a:r>
            <a:r>
              <a:rPr lang="zh-CN" altLang="en-US" sz="2000" b="0" i="0" dirty="0">
                <a:solidFill>
                  <a:srgbClr val="FF0000"/>
                </a:solidFill>
                <a:latin typeface="方正粗黑宋简体" panose="02000000000000000000" charset="-122"/>
                <a:ea typeface="方正粗黑宋简体" panose="02000000000000000000" charset="-122"/>
              </a:rPr>
              <a:t>里面是否存在猫腻？</a:t>
            </a:r>
            <a:r>
              <a:rPr lang="zh-CN" altLang="en-US" sz="2000" b="0" i="0" dirty="0">
                <a:solidFill>
                  <a:srgbClr val="000000"/>
                </a:solidFill>
                <a:latin typeface="方正粗黑宋简体" panose="02000000000000000000" charset="-122"/>
                <a:ea typeface="方正粗黑宋简体" panose="02000000000000000000" charset="-122"/>
              </a:rPr>
              <a:t>毕竟2021年清华大学的录取分数线在</a:t>
            </a:r>
            <a:r>
              <a:rPr lang="zh-CN" altLang="en-US" sz="2000" b="0" i="0" dirty="0">
                <a:solidFill>
                  <a:srgbClr val="FF0000"/>
                </a:solidFill>
                <a:latin typeface="方正粗黑宋简体" panose="02000000000000000000" charset="-122"/>
                <a:ea typeface="方正粗黑宋简体" panose="02000000000000000000" charset="-122"/>
              </a:rPr>
              <a:t>705分，</a:t>
            </a:r>
            <a:r>
              <a:rPr lang="zh-CN" altLang="en-US" sz="2000" b="0" i="0" dirty="0">
                <a:solidFill>
                  <a:srgbClr val="000000"/>
                </a:solidFill>
                <a:latin typeface="方正粗黑宋简体" panose="02000000000000000000" charset="-122"/>
                <a:ea typeface="方正粗黑宋简体" panose="02000000000000000000" charset="-122"/>
              </a:rPr>
              <a:t>在离清华录取分数线还差</a:t>
            </a:r>
            <a:r>
              <a:rPr lang="zh-CN" altLang="en-US" sz="2000" b="0" i="0" dirty="0">
                <a:solidFill>
                  <a:srgbClr val="FF0000"/>
                </a:solidFill>
                <a:latin typeface="方正粗黑宋简体" panose="02000000000000000000" charset="-122"/>
                <a:ea typeface="方正粗黑宋简体" panose="02000000000000000000" charset="-122"/>
              </a:rPr>
              <a:t>13</a:t>
            </a:r>
            <a:r>
              <a:rPr lang="zh-CN" altLang="en-US" sz="2000" b="0" i="0" dirty="0">
                <a:solidFill>
                  <a:srgbClr val="000000"/>
                </a:solidFill>
                <a:latin typeface="方正粗黑宋简体" panose="02000000000000000000" charset="-122"/>
                <a:ea typeface="方正粗黑宋简体" panose="02000000000000000000" charset="-122"/>
              </a:rPr>
              <a:t>分的情况下，他是如何被清华录取的？</a:t>
            </a:r>
            <a:endParaRPr lang="zh-CN" altLang="en-US" sz="2000" b="0" i="0" dirty="0">
              <a:solidFill>
                <a:srgbClr val="000000"/>
              </a:solidFill>
              <a:latin typeface="方正粗黑宋简体" panose="02000000000000000000" charset="-122"/>
              <a:ea typeface="方正粗黑宋简体" panose="02000000000000000000" charset="-122"/>
            </a:endParaRPr>
          </a:p>
        </p:txBody>
      </p:sp>
      <p:pic>
        <p:nvPicPr>
          <p:cNvPr id="7" name="图片3"/>
          <p:cNvPicPr>
            <a:picLocks noChangeAspect="1"/>
          </p:cNvPicPr>
          <p:nvPr/>
        </p:nvPicPr>
        <p:blipFill>
          <a:blip r:embed="rId3"/>
          <a:stretch>
            <a:fillRect/>
          </a:stretch>
        </p:blipFill>
        <p:spPr>
          <a:xfrm>
            <a:off x="884368" y="1182548"/>
            <a:ext cx="10097995" cy="2337797"/>
          </a:xfrm>
          <a:prstGeom prst="rect">
            <a:avLst/>
          </a:prstGeom>
        </p:spPr>
      </p:pic>
      <p:pic>
        <p:nvPicPr>
          <p:cNvPr id="8" name="图片4"/>
          <p:cNvPicPr>
            <a:picLocks noChangeAspect="1"/>
          </p:cNvPicPr>
          <p:nvPr/>
        </p:nvPicPr>
        <p:blipFill>
          <a:blip r:embed="rId4"/>
          <a:stretch>
            <a:fillRect/>
          </a:stretch>
        </p:blipFill>
        <p:spPr>
          <a:xfrm>
            <a:off x="884472" y="3567989"/>
            <a:ext cx="3810867" cy="307299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3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3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rcRect l="9392" t="16518" r="27720" b="6946"/>
          <a:stretch>
            <a:fillRect/>
          </a:stretch>
        </p:blipFill>
        <p:spPr>
          <a:xfrm rot="5400000">
            <a:off x="2667002" y="-2666999"/>
            <a:ext cx="6857996" cy="12192000"/>
          </a:xfrm>
          <a:prstGeom prst="rect">
            <a:avLst/>
          </a:prstGeom>
        </p:spPr>
      </p:pic>
      <p:sp>
        <p:nvSpPr>
          <p:cNvPr id="3" name="形状1"/>
          <p:cNvSpPr txBox="1"/>
          <p:nvPr/>
        </p:nvSpPr>
        <p:spPr>
          <a:xfrm>
            <a:off x="89937" y="117262"/>
            <a:ext cx="12025863" cy="6623475"/>
          </a:xfrm>
          <a:prstGeom prst="roundRect">
            <a:avLst/>
          </a:prstGeom>
          <a:solidFill>
            <a:srgbClr val="FFFFFF">
              <a:alpha val="98823"/>
            </a:srgbClr>
          </a:solidFill>
          <a:ln w="9525">
            <a:solidFill>
              <a:srgbClr val="FFFFFF">
                <a:alpha val="0"/>
              </a:srgbClr>
            </a:solidFill>
          </a:ln>
        </p:spPr>
        <p:txBody>
          <a:bodyPr wrap="square" rtlCol="0" anchor="ctr"/>
          <a:lstStyle/>
          <a:p>
            <a:pPr marL="0" algn="ctr"/>
          </a:p>
        </p:txBody>
      </p:sp>
      <p:pic>
        <p:nvPicPr>
          <p:cNvPr id="4" name="图片2"/>
          <p:cNvPicPr>
            <a:picLocks noChangeAspect="1"/>
          </p:cNvPicPr>
          <p:nvPr/>
        </p:nvPicPr>
        <p:blipFill>
          <a:blip r:embed="rId2"/>
          <a:stretch>
            <a:fillRect/>
          </a:stretch>
        </p:blipFill>
        <p:spPr>
          <a:xfrm rot="4613640">
            <a:off x="200440" y="184833"/>
            <a:ext cx="1189917" cy="1020701"/>
          </a:xfrm>
          <a:prstGeom prst="rect">
            <a:avLst/>
          </a:prstGeom>
        </p:spPr>
      </p:pic>
      <p:sp>
        <p:nvSpPr>
          <p:cNvPr id="5" name="文本1"/>
          <p:cNvSpPr txBox="1"/>
          <p:nvPr/>
        </p:nvSpPr>
        <p:spPr>
          <a:xfrm>
            <a:off x="1554832" y="559575"/>
            <a:ext cx="9520523" cy="579839"/>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 </a:t>
            </a:r>
            <a:endParaRPr lang="zh-CN" altLang="en-US" sz="2400" b="0" i="0" dirty="0">
              <a:solidFill>
                <a:srgbClr val="000000"/>
              </a:solidFill>
              <a:latin typeface="方正粗黑宋简体" panose="02000000000000000000" charset="-122"/>
              <a:ea typeface="方正粗黑宋简体" panose="02000000000000000000" charset="-122"/>
            </a:endParaRPr>
          </a:p>
        </p:txBody>
      </p:sp>
      <p:sp>
        <p:nvSpPr>
          <p:cNvPr id="6" name="文本2"/>
          <p:cNvSpPr txBox="1"/>
          <p:nvPr/>
        </p:nvSpPr>
        <p:spPr>
          <a:xfrm>
            <a:off x="2427399" y="5980119"/>
            <a:ext cx="7775572" cy="531019"/>
          </a:xfrm>
          <a:prstGeom prst="rect">
            <a:avLst/>
          </a:prstGeom>
          <a:noFill/>
        </p:spPr>
        <p:txBody>
          <a:bodyPr wrap="square" rtlCol="0" anchor="t"/>
          <a:lstStyle/>
          <a:p>
            <a:pPr marL="0" algn="l"/>
            <a:r>
              <a:rPr lang="zh-CN" altLang="en-US" sz="2200" b="0" i="0" dirty="0">
                <a:solidFill>
                  <a:srgbClr val="000000"/>
                </a:solidFill>
                <a:latin typeface="方正粗黑宋简体" panose="02000000000000000000" charset="-122"/>
                <a:ea typeface="方正粗黑宋简体" panose="02000000000000000000" charset="-122"/>
              </a:rPr>
              <a:t>高考</a:t>
            </a:r>
            <a:r>
              <a:rPr lang="zh-CN" altLang="en-US" sz="2200" b="0" i="0" dirty="0">
                <a:solidFill>
                  <a:srgbClr val="FF0000"/>
                </a:solidFill>
                <a:latin typeface="方正粗黑宋简体" panose="02000000000000000000" charset="-122"/>
                <a:ea typeface="方正粗黑宋简体" panose="02000000000000000000" charset="-122"/>
              </a:rPr>
              <a:t>636</a:t>
            </a:r>
            <a:r>
              <a:rPr lang="zh-CN" altLang="en-US" sz="2200" b="0" i="0" dirty="0">
                <a:solidFill>
                  <a:srgbClr val="000000"/>
                </a:solidFill>
                <a:latin typeface="方正粗黑宋简体" panose="02000000000000000000" charset="-122"/>
                <a:ea typeface="方正粗黑宋简体" panose="02000000000000000000" charset="-122"/>
              </a:rPr>
              <a:t>分，她是如何被清华录取的？——</a:t>
            </a:r>
            <a:r>
              <a:rPr lang="zh-CN" altLang="en-US" sz="2200" b="0" i="0" dirty="0">
                <a:solidFill>
                  <a:srgbClr val="FF0000"/>
                </a:solidFill>
                <a:latin typeface="方正粗黑宋简体" panose="02000000000000000000" charset="-122"/>
                <a:ea typeface="方正粗黑宋简体" panose="02000000000000000000" charset="-122"/>
              </a:rPr>
              <a:t>强基计划助梦名校</a:t>
            </a:r>
            <a:endParaRPr lang="zh-CN" altLang="en-US" sz="2200" b="0" i="0" dirty="0">
              <a:solidFill>
                <a:srgbClr val="FF0000"/>
              </a:solidFill>
              <a:latin typeface="方正粗黑宋简体" panose="02000000000000000000" charset="-122"/>
              <a:ea typeface="方正粗黑宋简体" panose="02000000000000000000" charset="-122"/>
            </a:endParaRPr>
          </a:p>
        </p:txBody>
      </p:sp>
      <p:pic>
        <p:nvPicPr>
          <p:cNvPr id="7" name="视频1">
            <a:hlinkClick r:id="" action="ppaction://media"/>
          </p:cNvPr>
          <p:cNvPicPr>
            <a:picLocks noChangeAspect="1"/>
          </p:cNvPicPr>
          <p:nvPr>
            <a:videoFile r:link="rId3"/>
            <p:extLst>
              <p:ext uri="{DAA4B4D4-6D71-4841-9C94-3DE7FCFB9230}">
                <p14:media xmlns:p14="http://schemas.microsoft.com/office/powerpoint/2010/main" r:embed="rId4"/>
              </p:ext>
            </p:extLst>
          </p:nvPr>
        </p:nvPicPr>
        <p:blipFill>
          <a:blip r:embed="rId5"/>
          <a:stretch>
            <a:fillRect/>
          </a:stretch>
        </p:blipFill>
        <p:spPr>
          <a:xfrm>
            <a:off x="792340" y="400431"/>
            <a:ext cx="2966847" cy="5274402"/>
          </a:xfrm>
          <a:prstGeom prst="rect">
            <a:avLst/>
          </a:prstGeom>
        </p:spPr>
      </p:pic>
      <p:pic>
        <p:nvPicPr>
          <p:cNvPr id="8" name="图片3"/>
          <p:cNvPicPr>
            <a:picLocks noChangeAspect="1"/>
          </p:cNvPicPr>
          <p:nvPr/>
        </p:nvPicPr>
        <p:blipFill>
          <a:blip r:embed="rId6"/>
          <a:srcRect t="4854" b="21428"/>
          <a:stretch>
            <a:fillRect/>
          </a:stretch>
        </p:blipFill>
        <p:spPr>
          <a:xfrm>
            <a:off x="4709782" y="611438"/>
            <a:ext cx="3109998" cy="5274793"/>
          </a:xfrm>
          <a:prstGeom prst="rect">
            <a:avLst/>
          </a:prstGeom>
        </p:spPr>
      </p:pic>
      <p:pic>
        <p:nvPicPr>
          <p:cNvPr id="9" name="图片4"/>
          <p:cNvPicPr>
            <a:picLocks noChangeAspect="1"/>
          </p:cNvPicPr>
          <p:nvPr/>
        </p:nvPicPr>
        <p:blipFill>
          <a:blip r:embed="rId7"/>
          <a:srcRect b="48270"/>
          <a:stretch>
            <a:fillRect/>
          </a:stretch>
        </p:blipFill>
        <p:spPr>
          <a:xfrm>
            <a:off x="8646620" y="611543"/>
            <a:ext cx="3035579" cy="3013691"/>
          </a:xfrm>
          <a:prstGeom prst="rect">
            <a:avLst/>
          </a:prstGeom>
        </p:spPr>
      </p:pic>
      <p:pic>
        <p:nvPicPr>
          <p:cNvPr id="10" name="图片5"/>
          <p:cNvPicPr>
            <a:picLocks noChangeAspect="1"/>
          </p:cNvPicPr>
          <p:nvPr/>
        </p:nvPicPr>
        <p:blipFill>
          <a:blip r:embed="rId8"/>
          <a:srcRect t="35491" b="55133"/>
          <a:stretch>
            <a:fillRect/>
          </a:stretch>
        </p:blipFill>
        <p:spPr>
          <a:xfrm>
            <a:off x="8737035" y="3428638"/>
            <a:ext cx="3035579" cy="663845"/>
          </a:xfrm>
          <a:prstGeom prst="rect">
            <a:avLst/>
          </a:prstGeom>
        </p:spPr>
      </p:pic>
      <p:pic>
        <p:nvPicPr>
          <p:cNvPr id="11" name="图片6"/>
          <p:cNvPicPr>
            <a:picLocks noChangeAspect="1"/>
          </p:cNvPicPr>
          <p:nvPr/>
        </p:nvPicPr>
        <p:blipFill>
          <a:blip r:embed="rId9"/>
          <a:srcRect t="38169" b="45870"/>
          <a:stretch>
            <a:fillRect/>
          </a:stretch>
        </p:blipFill>
        <p:spPr>
          <a:xfrm>
            <a:off x="8706955" y="4151995"/>
            <a:ext cx="2974867" cy="953443"/>
          </a:xfrm>
          <a:prstGeom prst="rect">
            <a:avLst/>
          </a:prstGeom>
        </p:spPr>
      </p:pic>
      <p:pic>
        <p:nvPicPr>
          <p:cNvPr id="12" name="图片7"/>
          <p:cNvPicPr>
            <a:picLocks noChangeAspect="1"/>
          </p:cNvPicPr>
          <p:nvPr/>
        </p:nvPicPr>
        <p:blipFill>
          <a:blip r:embed="rId9"/>
          <a:srcRect t="68415" b="21205"/>
          <a:stretch>
            <a:fillRect/>
          </a:stretch>
        </p:blipFill>
        <p:spPr>
          <a:xfrm>
            <a:off x="8737121" y="5092141"/>
            <a:ext cx="2974867" cy="725253"/>
          </a:xfrm>
          <a:prstGeom prst="rect">
            <a:avLst/>
          </a:prstGeom>
        </p:spPr>
      </p:pic>
      <p:sp>
        <p:nvSpPr>
          <p:cNvPr id="13" name="形状2"/>
          <p:cNvSpPr txBox="1"/>
          <p:nvPr/>
        </p:nvSpPr>
        <p:spPr>
          <a:xfrm>
            <a:off x="4709417" y="2625585"/>
            <a:ext cx="3211116" cy="1054913"/>
          </a:xfrm>
          <a:custGeom>
            <a:avLst/>
            <a:gdLst>
              <a:gd name="connsiteX0" fmla="*/ 175819 w 3211116"/>
              <a:gd name="connsiteY0" fmla="*/ 0 h 1054913"/>
              <a:gd name="connsiteX1" fmla="*/ 3035297 w 3211116"/>
              <a:gd name="connsiteY1" fmla="*/ 0 h 1054913"/>
              <a:gd name="connsiteX2" fmla="*/ 3081927 w 3211116"/>
              <a:gd name="connsiteY2" fmla="*/ 0 h 1054913"/>
              <a:gd name="connsiteX3" fmla="*/ 3192592 w 3211116"/>
              <a:gd name="connsiteY3" fmla="*/ 84469 h 1054913"/>
              <a:gd name="connsiteX4" fmla="*/ 3211116 w 3211116"/>
              <a:gd name="connsiteY4" fmla="*/ 879094 h 1054913"/>
              <a:gd name="connsiteX5" fmla="*/ 3211116 w 3211116"/>
              <a:gd name="connsiteY5" fmla="*/ 925724 h 1054913"/>
              <a:gd name="connsiteX6" fmla="*/ 3126647 w 3211116"/>
              <a:gd name="connsiteY6" fmla="*/ 1036389 h 1054913"/>
              <a:gd name="connsiteX7" fmla="*/ 175819 w 3211116"/>
              <a:gd name="connsiteY7" fmla="*/ 1054913 h 1054913"/>
              <a:gd name="connsiteX8" fmla="*/ 78717 w 3211116"/>
              <a:gd name="connsiteY8" fmla="*/ 1054913 h 1054913"/>
              <a:gd name="connsiteX9" fmla="*/ 0 w 3211116"/>
              <a:gd name="connsiteY9" fmla="*/ 175819 h 1054913"/>
              <a:gd name="connsiteX10" fmla="*/ 0 w 3211116"/>
              <a:gd name="connsiteY10" fmla="*/ 78717 h 1054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11116" h="1054913">
                <a:moveTo>
                  <a:pt x="175819" y="0"/>
                </a:moveTo>
                <a:lnTo>
                  <a:pt x="3035297" y="0"/>
                </a:lnTo>
                <a:cubicBezTo>
                  <a:pt x="3081927" y="0"/>
                  <a:pt x="3126647" y="18524"/>
                  <a:pt x="3159619" y="51496"/>
                </a:cubicBezTo>
                <a:cubicBezTo>
                  <a:pt x="3192592" y="84469"/>
                  <a:pt x="3211116" y="129189"/>
                  <a:pt x="3211116" y="175819"/>
                </a:cubicBezTo>
                <a:lnTo>
                  <a:pt x="3211116" y="879094"/>
                </a:lnTo>
                <a:cubicBezTo>
                  <a:pt x="3211116" y="925724"/>
                  <a:pt x="3192592" y="970444"/>
                  <a:pt x="3159619" y="1003417"/>
                </a:cubicBezTo>
                <a:cubicBezTo>
                  <a:pt x="3126647" y="1036389"/>
                  <a:pt x="3081927" y="1054913"/>
                  <a:pt x="3035297" y="1054913"/>
                </a:cubicBezTo>
                <a:lnTo>
                  <a:pt x="175819" y="1054913"/>
                </a:lnTo>
                <a:cubicBezTo>
                  <a:pt x="78717" y="1054913"/>
                  <a:pt x="0" y="976196"/>
                  <a:pt x="0" y="879094"/>
                </a:cubicBezTo>
                <a:lnTo>
                  <a:pt x="0" y="175819"/>
                </a:lnTo>
                <a:cubicBezTo>
                  <a:pt x="0" y="78717"/>
                  <a:pt x="78717" y="0"/>
                  <a:pt x="175819" y="0"/>
                </a:cubicBezTo>
                <a:close/>
              </a:path>
            </a:pathLst>
          </a:custGeom>
          <a:solidFill>
            <a:srgbClr val="FFFFFF">
              <a:alpha val="0"/>
            </a:srgbClr>
          </a:solidFill>
          <a:ln w="28575">
            <a:solidFill>
              <a:srgbClr val="FF0000"/>
            </a:solidFill>
            <a:prstDash val="solid"/>
          </a:ln>
        </p:spPr>
        <p:txBody>
          <a:bodyPr wrap="square" rtlCol="0" anchor="ctr"/>
          <a:lstStyle/>
          <a:p>
            <a:pPr marL="0" algn="ctr"/>
          </a:p>
        </p:txBody>
      </p:sp>
      <p:sp>
        <p:nvSpPr>
          <p:cNvPr id="14" name="形状3"/>
          <p:cNvSpPr txBox="1"/>
          <p:nvPr/>
        </p:nvSpPr>
        <p:spPr>
          <a:xfrm>
            <a:off x="4709379" y="4620235"/>
            <a:ext cx="3211116" cy="1054913"/>
          </a:xfrm>
          <a:custGeom>
            <a:avLst/>
            <a:gdLst>
              <a:gd name="connsiteX0" fmla="*/ 175819 w 3211116"/>
              <a:gd name="connsiteY0" fmla="*/ 0 h 1054913"/>
              <a:gd name="connsiteX1" fmla="*/ 3035297 w 3211116"/>
              <a:gd name="connsiteY1" fmla="*/ 0 h 1054913"/>
              <a:gd name="connsiteX2" fmla="*/ 3081927 w 3211116"/>
              <a:gd name="connsiteY2" fmla="*/ 0 h 1054913"/>
              <a:gd name="connsiteX3" fmla="*/ 3192592 w 3211116"/>
              <a:gd name="connsiteY3" fmla="*/ 84469 h 1054913"/>
              <a:gd name="connsiteX4" fmla="*/ 3211116 w 3211116"/>
              <a:gd name="connsiteY4" fmla="*/ 879094 h 1054913"/>
              <a:gd name="connsiteX5" fmla="*/ 3211116 w 3211116"/>
              <a:gd name="connsiteY5" fmla="*/ 925724 h 1054913"/>
              <a:gd name="connsiteX6" fmla="*/ 3126647 w 3211116"/>
              <a:gd name="connsiteY6" fmla="*/ 1036389 h 1054913"/>
              <a:gd name="connsiteX7" fmla="*/ 175819 w 3211116"/>
              <a:gd name="connsiteY7" fmla="*/ 1054913 h 1054913"/>
              <a:gd name="connsiteX8" fmla="*/ 78717 w 3211116"/>
              <a:gd name="connsiteY8" fmla="*/ 1054913 h 1054913"/>
              <a:gd name="connsiteX9" fmla="*/ 0 w 3211116"/>
              <a:gd name="connsiteY9" fmla="*/ 175819 h 1054913"/>
              <a:gd name="connsiteX10" fmla="*/ 0 w 3211116"/>
              <a:gd name="connsiteY10" fmla="*/ 78717 h 1054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11116" h="1054913">
                <a:moveTo>
                  <a:pt x="175819" y="0"/>
                </a:moveTo>
                <a:lnTo>
                  <a:pt x="3035297" y="0"/>
                </a:lnTo>
                <a:cubicBezTo>
                  <a:pt x="3081927" y="0"/>
                  <a:pt x="3126647" y="18524"/>
                  <a:pt x="3159619" y="51496"/>
                </a:cubicBezTo>
                <a:cubicBezTo>
                  <a:pt x="3192592" y="84469"/>
                  <a:pt x="3211116" y="129189"/>
                  <a:pt x="3211116" y="175819"/>
                </a:cubicBezTo>
                <a:lnTo>
                  <a:pt x="3211116" y="879094"/>
                </a:lnTo>
                <a:cubicBezTo>
                  <a:pt x="3211116" y="925724"/>
                  <a:pt x="3192592" y="970444"/>
                  <a:pt x="3159619" y="1003417"/>
                </a:cubicBezTo>
                <a:cubicBezTo>
                  <a:pt x="3126647" y="1036389"/>
                  <a:pt x="3081927" y="1054913"/>
                  <a:pt x="3035297" y="1054913"/>
                </a:cubicBezTo>
                <a:lnTo>
                  <a:pt x="175819" y="1054913"/>
                </a:lnTo>
                <a:cubicBezTo>
                  <a:pt x="78717" y="1054913"/>
                  <a:pt x="0" y="976196"/>
                  <a:pt x="0" y="879094"/>
                </a:cubicBezTo>
                <a:lnTo>
                  <a:pt x="0" y="175819"/>
                </a:lnTo>
                <a:cubicBezTo>
                  <a:pt x="0" y="78717"/>
                  <a:pt x="78717" y="0"/>
                  <a:pt x="175819" y="0"/>
                </a:cubicBezTo>
                <a:close/>
              </a:path>
            </a:pathLst>
          </a:custGeom>
          <a:solidFill>
            <a:srgbClr val="FFFFFF">
              <a:alpha val="0"/>
            </a:srgbClr>
          </a:solidFill>
          <a:ln w="28575">
            <a:solidFill>
              <a:srgbClr val="FF0000"/>
            </a:solidFill>
            <a:prstDash val="solid"/>
          </a:ln>
        </p:spPr>
        <p:txBody>
          <a:bodyPr wrap="square" rtlCol="0" anchor="ctr"/>
          <a:lstStyle/>
          <a:p>
            <a:pPr marL="0" algn="ctr"/>
          </a:p>
        </p:txBody>
      </p:sp>
      <p:sp>
        <p:nvSpPr>
          <p:cNvPr id="15" name="形状4"/>
          <p:cNvSpPr txBox="1"/>
          <p:nvPr/>
        </p:nvSpPr>
        <p:spPr>
          <a:xfrm>
            <a:off x="8751560" y="2461450"/>
            <a:ext cx="3211116" cy="1721663"/>
          </a:xfrm>
          <a:custGeom>
            <a:avLst/>
            <a:gdLst>
              <a:gd name="connsiteX0" fmla="*/ 286944 w 3211116"/>
              <a:gd name="connsiteY0" fmla="*/ 0 h 1721663"/>
              <a:gd name="connsiteX1" fmla="*/ 2924172 w 3211116"/>
              <a:gd name="connsiteY1" fmla="*/ 0 h 1721663"/>
              <a:gd name="connsiteX2" fmla="*/ 3082646 w 3211116"/>
              <a:gd name="connsiteY2" fmla="*/ 0 h 1721663"/>
              <a:gd name="connsiteX3" fmla="*/ 3211116 w 3211116"/>
              <a:gd name="connsiteY3" fmla="*/ 1434719 h 1721663"/>
              <a:gd name="connsiteX4" fmla="*/ 3211116 w 3211116"/>
              <a:gd name="connsiteY4" fmla="*/ 1510821 h 1721663"/>
              <a:gd name="connsiteX5" fmla="*/ 3073259 w 3211116"/>
              <a:gd name="connsiteY5" fmla="*/ 1691431 h 1721663"/>
              <a:gd name="connsiteX6" fmla="*/ 286944 w 3211116"/>
              <a:gd name="connsiteY6" fmla="*/ 1721663 h 1721663"/>
              <a:gd name="connsiteX7" fmla="*/ 210842 w 3211116"/>
              <a:gd name="connsiteY7" fmla="*/ 1721663 h 1721663"/>
              <a:gd name="connsiteX8" fmla="*/ 30231 w 3211116"/>
              <a:gd name="connsiteY8" fmla="*/ 1583807 h 1721663"/>
              <a:gd name="connsiteX9" fmla="*/ 0 w 3211116"/>
              <a:gd name="connsiteY9" fmla="*/ 286944 h 1721663"/>
              <a:gd name="connsiteX10" fmla="*/ 0 w 3211116"/>
              <a:gd name="connsiteY10" fmla="*/ 128469 h 1721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11116" h="1721663">
                <a:moveTo>
                  <a:pt x="286944" y="0"/>
                </a:moveTo>
                <a:lnTo>
                  <a:pt x="2924172" y="0"/>
                </a:lnTo>
                <a:cubicBezTo>
                  <a:pt x="3082646" y="0"/>
                  <a:pt x="3211116" y="128469"/>
                  <a:pt x="3211116" y="286944"/>
                </a:cubicBezTo>
                <a:lnTo>
                  <a:pt x="3211116" y="1434719"/>
                </a:lnTo>
                <a:cubicBezTo>
                  <a:pt x="3211116" y="1510821"/>
                  <a:pt x="3180884" y="1583807"/>
                  <a:pt x="3127072" y="1637619"/>
                </a:cubicBezTo>
                <a:cubicBezTo>
                  <a:pt x="3073259" y="1691431"/>
                  <a:pt x="3000274" y="1721663"/>
                  <a:pt x="2924172" y="1721663"/>
                </a:cubicBezTo>
                <a:lnTo>
                  <a:pt x="286944" y="1721663"/>
                </a:lnTo>
                <a:cubicBezTo>
                  <a:pt x="210842" y="1721663"/>
                  <a:pt x="137856" y="1691431"/>
                  <a:pt x="84044" y="1637619"/>
                </a:cubicBezTo>
                <a:cubicBezTo>
                  <a:pt x="30231" y="1583807"/>
                  <a:pt x="0" y="1510821"/>
                  <a:pt x="0" y="1434719"/>
                </a:cubicBezTo>
                <a:lnTo>
                  <a:pt x="0" y="286944"/>
                </a:lnTo>
                <a:cubicBezTo>
                  <a:pt x="0" y="128469"/>
                  <a:pt x="128469" y="0"/>
                  <a:pt x="286944" y="0"/>
                </a:cubicBezTo>
                <a:close/>
              </a:path>
            </a:pathLst>
          </a:custGeom>
          <a:solidFill>
            <a:srgbClr val="FFFFFF">
              <a:alpha val="0"/>
            </a:srgbClr>
          </a:solidFill>
          <a:ln w="28575">
            <a:solidFill>
              <a:srgbClr val="FF0000"/>
            </a:solidFill>
            <a:prstDash val="solid"/>
          </a:ln>
        </p:spPr>
        <p:txBody>
          <a:bodyPr wrap="square" rtlCol="0" anchor="ctr"/>
          <a:lstStyle/>
          <a:p>
            <a:pPr marL="0" algn="ctr"/>
          </a:p>
        </p:txBody>
      </p:sp>
      <p:sp>
        <p:nvSpPr>
          <p:cNvPr id="16" name="形状5"/>
          <p:cNvSpPr txBox="1"/>
          <p:nvPr/>
        </p:nvSpPr>
        <p:spPr>
          <a:xfrm>
            <a:off x="8693153" y="5022332"/>
            <a:ext cx="3123009" cy="864413"/>
          </a:xfrm>
          <a:custGeom>
            <a:avLst/>
            <a:gdLst>
              <a:gd name="connsiteX0" fmla="*/ 144069 w 3123009"/>
              <a:gd name="connsiteY0" fmla="*/ 0 h 864413"/>
              <a:gd name="connsiteX1" fmla="*/ 2978941 w 3123009"/>
              <a:gd name="connsiteY1" fmla="*/ 0 h 864413"/>
              <a:gd name="connsiteX2" fmla="*/ 3017150 w 3123009"/>
              <a:gd name="connsiteY2" fmla="*/ 0 h 864413"/>
              <a:gd name="connsiteX3" fmla="*/ 3107831 w 3123009"/>
              <a:gd name="connsiteY3" fmla="*/ 69215 h 864413"/>
              <a:gd name="connsiteX4" fmla="*/ 3123009 w 3123009"/>
              <a:gd name="connsiteY4" fmla="*/ 720344 h 864413"/>
              <a:gd name="connsiteX5" fmla="*/ 3123009 w 3123009"/>
              <a:gd name="connsiteY5" fmla="*/ 758553 h 864413"/>
              <a:gd name="connsiteX6" fmla="*/ 3053794 w 3123009"/>
              <a:gd name="connsiteY6" fmla="*/ 849234 h 864413"/>
              <a:gd name="connsiteX7" fmla="*/ 144069 w 3123009"/>
              <a:gd name="connsiteY7" fmla="*/ 864413 h 864413"/>
              <a:gd name="connsiteX8" fmla="*/ 105859 w 3123009"/>
              <a:gd name="connsiteY8" fmla="*/ 864413 h 864413"/>
              <a:gd name="connsiteX9" fmla="*/ 15179 w 3123009"/>
              <a:gd name="connsiteY9" fmla="*/ 795198 h 864413"/>
              <a:gd name="connsiteX10" fmla="*/ 0 w 3123009"/>
              <a:gd name="connsiteY10" fmla="*/ 144069 h 864413"/>
              <a:gd name="connsiteX11" fmla="*/ 0 w 3123009"/>
              <a:gd name="connsiteY11" fmla="*/ 64502 h 864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23009" h="864413">
                <a:moveTo>
                  <a:pt x="144069" y="0"/>
                </a:moveTo>
                <a:lnTo>
                  <a:pt x="2978941" y="0"/>
                </a:lnTo>
                <a:cubicBezTo>
                  <a:pt x="3017150" y="0"/>
                  <a:pt x="3053794" y="15179"/>
                  <a:pt x="3080813" y="42197"/>
                </a:cubicBezTo>
                <a:cubicBezTo>
                  <a:pt x="3107831" y="69215"/>
                  <a:pt x="3123009" y="105859"/>
                  <a:pt x="3123009" y="144069"/>
                </a:cubicBezTo>
                <a:lnTo>
                  <a:pt x="3123009" y="720344"/>
                </a:lnTo>
                <a:cubicBezTo>
                  <a:pt x="3123009" y="758553"/>
                  <a:pt x="3107831" y="795198"/>
                  <a:pt x="3080813" y="822216"/>
                </a:cubicBezTo>
                <a:cubicBezTo>
                  <a:pt x="3053794" y="849234"/>
                  <a:pt x="3017150" y="864413"/>
                  <a:pt x="2978941" y="864413"/>
                </a:cubicBezTo>
                <a:lnTo>
                  <a:pt x="144069" y="864413"/>
                </a:lnTo>
                <a:cubicBezTo>
                  <a:pt x="105859" y="864413"/>
                  <a:pt x="69215" y="849234"/>
                  <a:pt x="42197" y="822216"/>
                </a:cubicBezTo>
                <a:cubicBezTo>
                  <a:pt x="15179" y="795198"/>
                  <a:pt x="0" y="758553"/>
                  <a:pt x="0" y="720344"/>
                </a:cubicBezTo>
                <a:lnTo>
                  <a:pt x="0" y="144069"/>
                </a:lnTo>
                <a:cubicBezTo>
                  <a:pt x="0" y="64502"/>
                  <a:pt x="64502" y="0"/>
                  <a:pt x="144069" y="0"/>
                </a:cubicBezTo>
                <a:close/>
              </a:path>
            </a:pathLst>
          </a:custGeom>
          <a:solidFill>
            <a:srgbClr val="FFFFFF">
              <a:alpha val="0"/>
            </a:srgbClr>
          </a:solidFill>
          <a:ln w="28575">
            <a:solidFill>
              <a:srgbClr val="FF0000"/>
            </a:solidFill>
            <a:prstDash val="solid"/>
          </a:ln>
        </p:spPr>
        <p:txBody>
          <a:bodyPr wrap="square" rtlCol="0" anchor="ctr"/>
          <a:lstStyle/>
          <a:p>
            <a:pPr marL="0" algn="ctr"/>
          </a:p>
        </p:txBody>
      </p:sp>
      <p:grpSp>
        <p:nvGrpSpPr>
          <p:cNvPr id="17" name="组合1"/>
          <p:cNvGrpSpPr/>
          <p:nvPr/>
        </p:nvGrpSpPr>
        <p:grpSpPr>
          <a:xfrm>
            <a:off x="3759229" y="176311"/>
            <a:ext cx="5931535" cy="579839"/>
            <a:chOff x="0" y="0"/>
            <a:chExt cx="5931535" cy="579839"/>
          </a:xfrm>
        </p:grpSpPr>
        <p:sp>
          <p:nvSpPr>
            <p:cNvPr id="18" name="形状8"/>
            <p:cNvSpPr txBox="1"/>
            <p:nvPr/>
          </p:nvSpPr>
          <p:spPr>
            <a:xfrm>
              <a:off x="3810" y="49530"/>
              <a:ext cx="5741035" cy="460375"/>
            </a:xfrm>
            <a:prstGeom prst="rect">
              <a:avLst/>
            </a:prstGeom>
            <a:solidFill>
              <a:srgbClr val="FFFFFF">
                <a:alpha val="0"/>
              </a:srgbClr>
            </a:solidFill>
            <a:ln w="9525">
              <a:solidFill>
                <a:srgbClr val="FFFFFF">
                  <a:alpha val="0"/>
                </a:srgbClr>
              </a:solidFill>
            </a:ln>
          </p:spPr>
          <p:txBody>
            <a:bodyPr wrap="square" rtlCol="0" anchor="ctr"/>
            <a:p>
              <a:pPr marL="0" algn="ctr"/>
            </a:p>
          </p:txBody>
        </p:sp>
        <p:sp>
          <p:nvSpPr>
            <p:cNvPr id="19" name="文本5"/>
            <p:cNvSpPr txBox="1"/>
            <p:nvPr/>
          </p:nvSpPr>
          <p:spPr>
            <a:xfrm>
              <a:off x="0" y="0"/>
              <a:ext cx="5931535" cy="579839"/>
            </a:xfrm>
            <a:prstGeom prst="rect">
              <a:avLst/>
            </a:prstGeom>
            <a:noFill/>
          </p:spPr>
          <p:txBody>
            <a:bodyPr wrap="square" rtlCol="0" anchor="t"/>
            <a:p>
              <a:pPr marL="0" algn="l"/>
              <a:r>
                <a:rPr lang="zh-CN" altLang="en-US" sz="2400" b="0" i="0" dirty="0">
                  <a:solidFill>
                    <a:srgbClr val="000000"/>
                  </a:solidFill>
                  <a:latin typeface="方正粗黑宋简体" panose="02000000000000000000" charset="-122"/>
                  <a:ea typeface="方正粗黑宋简体" panose="02000000000000000000" charset="-122"/>
                </a:rPr>
                <a:t>路径一：强基计划</a:t>
              </a:r>
              <a:endParaRPr lang="zh-CN" altLang="en-US" sz="2400" b="0" i="0" dirty="0">
                <a:solidFill>
                  <a:srgbClr val="000000"/>
                </a:solidFill>
                <a:latin typeface="方正粗黑宋简体" panose="02000000000000000000" charset="-122"/>
                <a:ea typeface="方正粗黑宋简体" panose="02000000000000000000"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3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3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left)">
                                      <p:cBhvr>
                                        <p:cTn id="17" dur="3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3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3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left)">
                                      <p:cBhvr>
                                        <p:cTn id="32" dur="3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3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3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wipe(left)">
                                      <p:cBhvr>
                                        <p:cTn id="47" dur="300"/>
                                        <p:tgtEl>
                                          <p:spTgt spid="16"/>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fade">
                                      <p:cBhvr>
                                        <p:cTn id="52" dur="3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13" grpId="0" animBg="1"/>
      <p:bldP spid="14" grpId="0" animBg="1"/>
      <p:bldP spid="9" grpId="0" bldLvl="0" animBg="1"/>
      <p:bldP spid="10" grpId="0" animBg="1"/>
      <p:bldP spid="15" grpId="0" animBg="1"/>
      <p:bldP spid="11" grpId="0" animBg="1"/>
      <p:bldP spid="12" grpId="0" animBg="1"/>
      <p:bldP spid="16" grpId="0" animBg="1"/>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rcRect l="9392" t="16518" r="27720" b="6946"/>
          <a:stretch>
            <a:fillRect/>
          </a:stretch>
        </p:blipFill>
        <p:spPr>
          <a:xfrm rot="5400000">
            <a:off x="2667002" y="-2666999"/>
            <a:ext cx="6857996" cy="12192000"/>
          </a:xfrm>
          <a:prstGeom prst="rect">
            <a:avLst/>
          </a:prstGeom>
        </p:spPr>
      </p:pic>
      <p:sp>
        <p:nvSpPr>
          <p:cNvPr id="3" name="形状1"/>
          <p:cNvSpPr txBox="1"/>
          <p:nvPr/>
        </p:nvSpPr>
        <p:spPr>
          <a:xfrm>
            <a:off x="89937" y="117262"/>
            <a:ext cx="12025863" cy="6623475"/>
          </a:xfrm>
          <a:prstGeom prst="roundRect">
            <a:avLst/>
          </a:prstGeom>
          <a:solidFill>
            <a:srgbClr val="FFFFFF">
              <a:alpha val="98823"/>
            </a:srgbClr>
          </a:solidFill>
          <a:ln w="9525">
            <a:solidFill>
              <a:srgbClr val="FFFFFF">
                <a:alpha val="0"/>
              </a:srgbClr>
            </a:solidFill>
          </a:ln>
        </p:spPr>
        <p:txBody>
          <a:bodyPr wrap="square" rtlCol="0" anchor="ctr"/>
          <a:lstStyle/>
          <a:p>
            <a:pPr marL="0" algn="ctr"/>
            <a:r>
              <a:rPr lang="zh-CN" altLang="en-US" sz="2200" b="0" i="0" dirty="0">
                <a:solidFill>
                  <a:srgbClr val="FFFFFF"/>
                </a:solidFill>
                <a:latin typeface="微软雅黑" panose="020B0503020204020204" charset="-122"/>
                <a:ea typeface="微软雅黑" panose="020B0503020204020204" charset="-122"/>
              </a:rPr>
              <a:t>+</a:t>
            </a:r>
            <a:endParaRPr lang="zh-CN" altLang="en-US" sz="2200" b="0" i="0" dirty="0">
              <a:solidFill>
                <a:srgbClr val="FFFFFF"/>
              </a:solidFill>
              <a:latin typeface="微软雅黑" panose="020B0503020204020204" charset="-122"/>
              <a:ea typeface="微软雅黑" panose="020B0503020204020204" charset="-122"/>
            </a:endParaRPr>
          </a:p>
        </p:txBody>
      </p:sp>
      <p:pic>
        <p:nvPicPr>
          <p:cNvPr id="4" name="图片2"/>
          <p:cNvPicPr>
            <a:picLocks noChangeAspect="1"/>
          </p:cNvPicPr>
          <p:nvPr/>
        </p:nvPicPr>
        <p:blipFill>
          <a:blip r:embed="rId2"/>
          <a:stretch>
            <a:fillRect/>
          </a:stretch>
        </p:blipFill>
        <p:spPr>
          <a:xfrm rot="4613640">
            <a:off x="200440" y="184833"/>
            <a:ext cx="1189917" cy="1020701"/>
          </a:xfrm>
          <a:prstGeom prst="rect">
            <a:avLst/>
          </a:prstGeom>
        </p:spPr>
      </p:pic>
      <p:sp>
        <p:nvSpPr>
          <p:cNvPr id="5" name="文本1"/>
          <p:cNvSpPr txBox="1"/>
          <p:nvPr/>
        </p:nvSpPr>
        <p:spPr>
          <a:xfrm>
            <a:off x="1325880" y="257175"/>
            <a:ext cx="10277475" cy="2099310"/>
          </a:xfrm>
          <a:prstGeom prst="rect">
            <a:avLst/>
          </a:prstGeom>
          <a:noFill/>
        </p:spPr>
        <p:txBody>
          <a:bodyPr wrap="square" rtlCol="0" anchor="t"/>
          <a:lstStyle/>
          <a:p>
            <a:pPr marL="0" algn="l"/>
          </a:p>
          <a:p>
            <a:pPr marL="0" algn="l">
              <a:buFont typeface="Wingdings" panose="05000000000000000000"/>
              <a:buChar char="«"/>
            </a:pPr>
            <a:r>
              <a:rPr lang="zh-CN" altLang="en-US" sz="3700" b="1" i="0" dirty="0">
                <a:solidFill>
                  <a:srgbClr val="000000"/>
                </a:solidFill>
                <a:latin typeface="微软雅黑" panose="020B0503020204020204" charset="-122"/>
                <a:ea typeface="微软雅黑" panose="020B0503020204020204" charset="-122"/>
              </a:rPr>
              <a:t>针对人群——三类学生</a:t>
            </a:r>
            <a:endParaRPr lang="zh-CN" altLang="en-US" sz="3700" b="1" i="0" dirty="0">
              <a:solidFill>
                <a:srgbClr val="000000"/>
              </a:solidFill>
              <a:latin typeface="微软雅黑" panose="020B0503020204020204" charset="-122"/>
              <a:ea typeface="微软雅黑" panose="020B0503020204020204" charset="-122"/>
            </a:endParaRPr>
          </a:p>
          <a:p>
            <a:pPr marL="0" algn="l">
              <a:lnSpc>
                <a:spcPct val="130000"/>
              </a:lnSpc>
              <a:buFont typeface="Wingdings" panose="05000000000000000000"/>
              <a:buChar char="l"/>
            </a:pPr>
            <a:r>
              <a:rPr lang="zh-CN" altLang="en-US" sz="1600" b="0" i="0" dirty="0">
                <a:solidFill>
                  <a:srgbClr val="000000"/>
                </a:solidFill>
                <a:latin typeface="微软雅黑" panose="020B0503020204020204" charset="-122"/>
                <a:ea typeface="微软雅黑" panose="020B0503020204020204" charset="-122"/>
              </a:rPr>
              <a:t>第一类，高考总成绩较高，综合素质优秀的高三学生</a:t>
            </a:r>
            <a:endParaRPr lang="zh-CN" altLang="en-US" sz="1600" b="0" i="0" dirty="0">
              <a:solidFill>
                <a:srgbClr val="000000"/>
              </a:solidFill>
              <a:latin typeface="微软雅黑" panose="020B0503020204020204" charset="-122"/>
              <a:ea typeface="微软雅黑" panose="020B0503020204020204" charset="-122"/>
            </a:endParaRPr>
          </a:p>
          <a:p>
            <a:pPr marL="0" algn="l">
              <a:lnSpc>
                <a:spcPct val="130000"/>
              </a:lnSpc>
              <a:buFont typeface="Wingdings" panose="05000000000000000000"/>
              <a:buChar char="l"/>
            </a:pPr>
            <a:r>
              <a:rPr lang="zh-CN" altLang="en-US" sz="1600" b="0" i="0" dirty="0">
                <a:solidFill>
                  <a:srgbClr val="000000"/>
                </a:solidFill>
                <a:latin typeface="微软雅黑" panose="020B0503020204020204" charset="-122"/>
                <a:ea typeface="微软雅黑" panose="020B0503020204020204" charset="-122"/>
              </a:rPr>
              <a:t>第二类，高考总成绩不高，但是某一科目特别擅长的学生</a:t>
            </a:r>
            <a:endParaRPr lang="zh-CN" altLang="en-US" sz="1600" b="0" i="0" dirty="0">
              <a:solidFill>
                <a:srgbClr val="000000"/>
              </a:solidFill>
              <a:latin typeface="微软雅黑" panose="020B0503020204020204" charset="-122"/>
              <a:ea typeface="微软雅黑" panose="020B0503020204020204" charset="-122"/>
            </a:endParaRPr>
          </a:p>
          <a:p>
            <a:pPr marL="0" algn="l">
              <a:lnSpc>
                <a:spcPct val="130000"/>
              </a:lnSpc>
              <a:buFont typeface="Wingdings" panose="05000000000000000000"/>
              <a:buChar char="l"/>
            </a:pPr>
            <a:r>
              <a:rPr lang="zh-CN" altLang="en-US" sz="1600" b="0" i="0" dirty="0">
                <a:solidFill>
                  <a:srgbClr val="000000"/>
                </a:solidFill>
                <a:latin typeface="微软雅黑" panose="020B0503020204020204" charset="-122"/>
                <a:ea typeface="微软雅黑" panose="020B0503020204020204" charset="-122"/>
              </a:rPr>
              <a:t>第三类，</a:t>
            </a:r>
            <a:r>
              <a:rPr lang="zh-CN" altLang="en-US" sz="1600" b="0" i="0" dirty="0">
                <a:solidFill>
                  <a:srgbClr val="FF0000"/>
                </a:solidFill>
                <a:latin typeface="微软雅黑" panose="020B0503020204020204" charset="-122"/>
                <a:ea typeface="微软雅黑" panose="020B0503020204020204" charset="-122"/>
              </a:rPr>
              <a:t>高考排名在1到2万名的考生可以尝试报名强基计划。这一位次段的考生可能上不了985，但是报名强基计划能让这类考生有机会上个985名校!</a:t>
            </a:r>
            <a:endParaRPr lang="zh-CN" altLang="en-US" sz="1600" b="0" i="0" dirty="0">
              <a:solidFill>
                <a:srgbClr val="FF0000"/>
              </a:solidFill>
              <a:latin typeface="微软雅黑" panose="020B0503020204020204" charset="-122"/>
              <a:ea typeface="微软雅黑" panose="020B0503020204020204" charset="-122"/>
            </a:endParaRPr>
          </a:p>
        </p:txBody>
      </p:sp>
      <p:sp>
        <p:nvSpPr>
          <p:cNvPr id="6" name="文本2"/>
          <p:cNvSpPr txBox="1"/>
          <p:nvPr/>
        </p:nvSpPr>
        <p:spPr>
          <a:xfrm>
            <a:off x="1326280" y="2521953"/>
            <a:ext cx="2695575" cy="626319"/>
          </a:xfrm>
          <a:prstGeom prst="rect">
            <a:avLst/>
          </a:prstGeom>
          <a:noFill/>
        </p:spPr>
        <p:txBody>
          <a:bodyPr wrap="square" rtlCol="0" anchor="t"/>
          <a:lstStyle/>
          <a:p>
            <a:pPr marL="0" algn="l">
              <a:buFont typeface="Wingdings" panose="05000000000000000000"/>
              <a:buChar char="«"/>
            </a:pPr>
            <a:r>
              <a:rPr lang="zh-CN" altLang="en-US" sz="2000" b="1" i="0" dirty="0">
                <a:solidFill>
                  <a:srgbClr val="000000"/>
                </a:solidFill>
                <a:latin typeface="微软雅黑" panose="020B0503020204020204" charset="-122"/>
                <a:ea typeface="微软雅黑" panose="020B0503020204020204" charset="-122"/>
              </a:rPr>
              <a:t>一些建议——缺点</a:t>
            </a:r>
            <a:endParaRPr lang="zh-CN" altLang="en-US" sz="2000" b="1" i="0" dirty="0">
              <a:solidFill>
                <a:srgbClr val="000000"/>
              </a:solidFill>
              <a:latin typeface="微软雅黑" panose="020B0503020204020204" charset="-122"/>
              <a:ea typeface="微软雅黑" panose="020B0503020204020204" charset="-122"/>
            </a:endParaRPr>
          </a:p>
        </p:txBody>
      </p:sp>
      <p:sp>
        <p:nvSpPr>
          <p:cNvPr id="7" name="文本3"/>
          <p:cNvSpPr txBox="1"/>
          <p:nvPr/>
        </p:nvSpPr>
        <p:spPr>
          <a:xfrm>
            <a:off x="1325813" y="5291522"/>
            <a:ext cx="10153650" cy="887797"/>
          </a:xfrm>
          <a:prstGeom prst="rect">
            <a:avLst/>
          </a:prstGeom>
          <a:noFill/>
        </p:spPr>
        <p:txBody>
          <a:bodyPr wrap="square" rtlCol="0" anchor="t"/>
          <a:lstStyle/>
          <a:p>
            <a:pPr marL="0" algn="l">
              <a:lnSpc>
                <a:spcPct val="130000"/>
              </a:lnSpc>
            </a:pPr>
            <a:r>
              <a:rPr lang="zh-CN" altLang="en-US" sz="1600" b="0" i="0" dirty="0">
                <a:solidFill>
                  <a:srgbClr val="000000"/>
                </a:solidFill>
                <a:latin typeface="微软雅黑" panose="020B0503020204020204" charset="-122"/>
                <a:ea typeface="微软雅黑" panose="020B0503020204020204" charset="-122"/>
              </a:rPr>
              <a:t>低分上名校，参与科研，拥有更多的科研资源，</a:t>
            </a:r>
            <a:r>
              <a:rPr lang="zh-CN" altLang="en-US" sz="1600" b="0" i="0" dirty="0">
                <a:solidFill>
                  <a:srgbClr val="FF0000"/>
                </a:solidFill>
                <a:latin typeface="微软雅黑" panose="020B0503020204020204" charset="-122"/>
                <a:ea typeface="微软雅黑" panose="020B0503020204020204" charset="-122"/>
              </a:rPr>
              <a:t>更好的发展通道本-硕-博”（</a:t>
            </a:r>
            <a:r>
              <a:rPr lang="en-US" altLang="zh-CN" sz="1600" b="0" i="0" dirty="0">
                <a:solidFill>
                  <a:srgbClr val="FF0000"/>
                </a:solidFill>
                <a:latin typeface="微软雅黑" panose="020B0503020204020204" charset="-122"/>
                <a:ea typeface="微软雅黑" panose="020B0503020204020204" charset="-122"/>
              </a:rPr>
              <a:t>6</a:t>
            </a:r>
            <a:r>
              <a:rPr lang="zh-CN" altLang="en-US" sz="1600" b="0" i="0" dirty="0">
                <a:solidFill>
                  <a:srgbClr val="FF0000"/>
                </a:solidFill>
                <a:latin typeface="微软雅黑" panose="020B0503020204020204" charset="-122"/>
                <a:ea typeface="微软雅黑" panose="020B0503020204020204" charset="-122"/>
              </a:rPr>
              <a:t>年以上）衔接的培养模式，避免了考研竞争</a:t>
            </a:r>
            <a:r>
              <a:rPr lang="zh-CN" altLang="en-US" sz="1600" b="0" i="0" dirty="0">
                <a:solidFill>
                  <a:srgbClr val="000000"/>
                </a:solidFill>
                <a:latin typeface="微软雅黑" panose="020B0503020204020204" charset="-122"/>
                <a:ea typeface="微软雅黑" panose="020B0503020204020204" charset="-122"/>
              </a:rPr>
              <a:t>，优秀学生可在免试推荐</a:t>
            </a:r>
            <a:r>
              <a:rPr lang="zh-CN" altLang="en-US" sz="1600" b="0" i="0" dirty="0">
                <a:solidFill>
                  <a:srgbClr val="FF0000"/>
                </a:solidFill>
                <a:latin typeface="微软雅黑" panose="020B0503020204020204" charset="-122"/>
                <a:ea typeface="微软雅黑" panose="020B0503020204020204" charset="-122"/>
              </a:rPr>
              <a:t>研究生直博、公派留学、奖学金</a:t>
            </a:r>
            <a:r>
              <a:rPr lang="zh-CN" altLang="en-US" sz="1600" b="0" i="0" dirty="0">
                <a:solidFill>
                  <a:srgbClr val="000000"/>
                </a:solidFill>
                <a:latin typeface="微软雅黑" panose="020B0503020204020204" charset="-122"/>
                <a:ea typeface="微软雅黑" panose="020B0503020204020204" charset="-122"/>
              </a:rPr>
              <a:t>等方面优先安排。</a:t>
            </a:r>
            <a:endParaRPr lang="zh-CN" altLang="en-US" sz="1600" b="0" i="0" dirty="0">
              <a:solidFill>
                <a:srgbClr val="000000"/>
              </a:solidFill>
              <a:latin typeface="微软雅黑" panose="020B0503020204020204" charset="-122"/>
              <a:ea typeface="微软雅黑" panose="020B0503020204020204" charset="-122"/>
            </a:endParaRPr>
          </a:p>
        </p:txBody>
      </p:sp>
      <p:sp>
        <p:nvSpPr>
          <p:cNvPr id="8" name="文本4"/>
          <p:cNvSpPr txBox="1"/>
          <p:nvPr/>
        </p:nvSpPr>
        <p:spPr>
          <a:xfrm>
            <a:off x="1326271" y="4758319"/>
            <a:ext cx="2962275" cy="604526"/>
          </a:xfrm>
          <a:prstGeom prst="rect">
            <a:avLst/>
          </a:prstGeom>
          <a:noFill/>
        </p:spPr>
        <p:txBody>
          <a:bodyPr wrap="square" rtlCol="0" anchor="t"/>
          <a:lstStyle/>
          <a:p>
            <a:pPr marL="0" algn="l">
              <a:buFont typeface="Wingdings" panose="05000000000000000000"/>
              <a:buChar char="«"/>
            </a:pPr>
            <a:r>
              <a:rPr lang="zh-CN" altLang="en-US" sz="1900" b="1" i="0" dirty="0">
                <a:solidFill>
                  <a:srgbClr val="000000"/>
                </a:solidFill>
                <a:latin typeface="微软雅黑" panose="020B0503020204020204" charset="-122"/>
                <a:ea typeface="微软雅黑" panose="020B0503020204020204" charset="-122"/>
              </a:rPr>
              <a:t>一些建议——优点</a:t>
            </a:r>
            <a:endParaRPr lang="zh-CN" altLang="en-US" sz="1900" b="1" i="0" dirty="0">
              <a:solidFill>
                <a:srgbClr val="000000"/>
              </a:solidFill>
              <a:latin typeface="微软雅黑" panose="020B0503020204020204" charset="-122"/>
              <a:ea typeface="微软雅黑" panose="020B0503020204020204" charset="-122"/>
            </a:endParaRPr>
          </a:p>
        </p:txBody>
      </p:sp>
      <p:sp>
        <p:nvSpPr>
          <p:cNvPr id="9" name="文本5"/>
          <p:cNvSpPr txBox="1"/>
          <p:nvPr/>
        </p:nvSpPr>
        <p:spPr>
          <a:xfrm>
            <a:off x="1325947" y="2987856"/>
            <a:ext cx="9439275" cy="1672265"/>
          </a:xfrm>
          <a:prstGeom prst="rect">
            <a:avLst/>
          </a:prstGeom>
          <a:noFill/>
        </p:spPr>
        <p:txBody>
          <a:bodyPr wrap="square" rtlCol="0" anchor="t"/>
          <a:lstStyle/>
          <a:p>
            <a:pPr marL="0" algn="l">
              <a:lnSpc>
                <a:spcPct val="130000"/>
              </a:lnSpc>
              <a:buFont typeface="Wingdings" panose="05000000000000000000"/>
              <a:buChar char="l"/>
            </a:pPr>
            <a:r>
              <a:rPr lang="zh-CN" altLang="en-US" sz="1700" b="0" i="0" dirty="0">
                <a:solidFill>
                  <a:srgbClr val="000000"/>
                </a:solidFill>
                <a:latin typeface="微软雅黑" panose="020B0503020204020204" charset="-122"/>
                <a:ea typeface="微软雅黑" panose="020B0503020204020204" charset="-122"/>
              </a:rPr>
              <a:t>做好长期熬学历的准备，起码</a:t>
            </a:r>
            <a:r>
              <a:rPr lang="en-US" altLang="zh-CN" sz="1700" b="0" i="0" dirty="0">
                <a:solidFill>
                  <a:srgbClr val="FF0000"/>
                </a:solidFill>
                <a:latin typeface="微软雅黑" panose="020B0503020204020204" charset="-122"/>
                <a:ea typeface="微软雅黑" panose="020B0503020204020204" charset="-122"/>
              </a:rPr>
              <a:t>6-10</a:t>
            </a:r>
            <a:r>
              <a:rPr lang="zh-CN" altLang="en-US" sz="1700" b="0" i="0" dirty="0">
                <a:solidFill>
                  <a:srgbClr val="FF0000"/>
                </a:solidFill>
                <a:latin typeface="微软雅黑" panose="020B0503020204020204" charset="-122"/>
                <a:ea typeface="微软雅黑" panose="020B0503020204020204" charset="-122"/>
              </a:rPr>
              <a:t>年</a:t>
            </a:r>
            <a:r>
              <a:rPr lang="zh-CN" altLang="en-US" sz="1700" b="0" i="0" dirty="0">
                <a:solidFill>
                  <a:srgbClr val="000000"/>
                </a:solidFill>
                <a:latin typeface="微软雅黑" panose="020B0503020204020204" charset="-122"/>
                <a:ea typeface="微软雅黑" panose="020B0503020204020204" charset="-122"/>
              </a:rPr>
              <a:t>深耕于本专业领域，经得住寂寞、经得起诱惑、沉得下心</a:t>
            </a:r>
            <a:endParaRPr lang="zh-CN" altLang="en-US" sz="1700" b="0" i="0" dirty="0">
              <a:solidFill>
                <a:srgbClr val="000000"/>
              </a:solidFill>
              <a:latin typeface="微软雅黑" panose="020B0503020204020204" charset="-122"/>
              <a:ea typeface="微软雅黑" panose="020B0503020204020204" charset="-122"/>
            </a:endParaRPr>
          </a:p>
          <a:p>
            <a:pPr marL="0" algn="l">
              <a:lnSpc>
                <a:spcPct val="130000"/>
              </a:lnSpc>
              <a:buFont typeface="Wingdings" panose="05000000000000000000"/>
              <a:buChar char="l"/>
            </a:pPr>
            <a:r>
              <a:rPr lang="zh-CN" altLang="en-US" sz="1700" b="0" i="0" dirty="0">
                <a:solidFill>
                  <a:srgbClr val="000000"/>
                </a:solidFill>
                <a:latin typeface="微软雅黑" panose="020B0503020204020204" charset="-122"/>
                <a:ea typeface="微软雅黑" panose="020B0503020204020204" charset="-122"/>
              </a:rPr>
              <a:t>学科冷门，聚焦于基础学科，包括数学、物理、化学、生物、力学、基础医学、历史、哲学、古文字学等，基础学科</a:t>
            </a:r>
            <a:r>
              <a:rPr lang="zh-CN" altLang="en-US" sz="1700" b="0" i="0" dirty="0">
                <a:solidFill>
                  <a:srgbClr val="FF0000"/>
                </a:solidFill>
                <a:latin typeface="微软雅黑" panose="020B0503020204020204" charset="-122"/>
                <a:ea typeface="微软雅黑" panose="020B0503020204020204" charset="-122"/>
              </a:rPr>
              <a:t>本科就业渠道很窄</a:t>
            </a:r>
            <a:endParaRPr lang="zh-CN" altLang="en-US" sz="1700" b="0" i="0" dirty="0">
              <a:solidFill>
                <a:srgbClr val="FF0000"/>
              </a:solidFill>
              <a:latin typeface="微软雅黑" panose="020B0503020204020204" charset="-122"/>
              <a:ea typeface="微软雅黑" panose="020B0503020204020204" charset="-122"/>
            </a:endParaRPr>
          </a:p>
          <a:p>
            <a:pPr marL="0" algn="l">
              <a:lnSpc>
                <a:spcPct val="130000"/>
              </a:lnSpc>
              <a:buFont typeface="Wingdings" panose="05000000000000000000"/>
              <a:buChar char="l"/>
            </a:pPr>
            <a:r>
              <a:rPr lang="zh-CN" altLang="en-US" sz="1700" b="0" i="0" dirty="0">
                <a:solidFill>
                  <a:srgbClr val="000000"/>
                </a:solidFill>
                <a:latin typeface="微软雅黑" panose="020B0503020204020204" charset="-122"/>
                <a:ea typeface="微软雅黑" panose="020B0503020204020204" charset="-122"/>
              </a:rPr>
              <a:t>没那么快有money上的回报， </a:t>
            </a:r>
            <a:r>
              <a:rPr lang="zh-CN" altLang="en-US" sz="1700" b="0" i="0" dirty="0">
                <a:solidFill>
                  <a:srgbClr val="FF0000"/>
                </a:solidFill>
                <a:latin typeface="微软雅黑" panose="020B0503020204020204" charset="-122"/>
                <a:ea typeface="微软雅黑" panose="020B0503020204020204" charset="-122"/>
              </a:rPr>
              <a:t>钱不钱的无所谓</a:t>
            </a:r>
            <a:r>
              <a:rPr lang="zh-CN" altLang="en-US" sz="1700" b="0" i="0" dirty="0">
                <a:solidFill>
                  <a:srgbClr val="000000"/>
                </a:solidFill>
                <a:latin typeface="微软雅黑" panose="020B0503020204020204" charset="-122"/>
                <a:ea typeface="微软雅黑" panose="020B0503020204020204" charset="-122"/>
              </a:rPr>
              <a:t>，家里不需要你那么快出来挣钱养自己</a:t>
            </a:r>
            <a:endParaRPr lang="zh-CN" altLang="en-US" sz="1700" b="0" i="0" dirty="0">
              <a:solidFill>
                <a:srgbClr val="000000"/>
              </a:solidFill>
              <a:latin typeface="微软雅黑" panose="020B0503020204020204" charset="-122"/>
              <a:ea typeface="微软雅黑" panose="020B0503020204020204" charset="-122"/>
            </a:endParaRPr>
          </a:p>
        </p:txBody>
      </p:sp>
      <p:sp>
        <p:nvSpPr>
          <p:cNvPr id="10" name="形状2"/>
          <p:cNvSpPr txBox="1"/>
          <p:nvPr/>
        </p:nvSpPr>
        <p:spPr>
          <a:xfrm>
            <a:off x="761238" y="2512304"/>
            <a:ext cx="11087488" cy="19050"/>
          </a:xfrm>
          <a:prstGeom prst="line">
            <a:avLst/>
          </a:prstGeom>
          <a:solidFill>
            <a:srgbClr val="5C81CC"/>
          </a:solidFill>
          <a:ln w="19050">
            <a:solidFill>
              <a:srgbClr val="000000"/>
            </a:solidFill>
            <a:prstDash val="solid"/>
          </a:ln>
        </p:spPr>
        <p:txBody>
          <a:bodyPr wrap="square" rtlCol="0" anchor="ctr"/>
          <a:lstStyle/>
          <a:p>
            <a:pPr marL="0" algn="ctr"/>
          </a:p>
        </p:txBody>
      </p:sp>
      <p:sp>
        <p:nvSpPr>
          <p:cNvPr id="11" name="形状3"/>
          <p:cNvSpPr txBox="1"/>
          <p:nvPr/>
        </p:nvSpPr>
        <p:spPr>
          <a:xfrm>
            <a:off x="761009" y="4641380"/>
            <a:ext cx="11087488" cy="19050"/>
          </a:xfrm>
          <a:prstGeom prst="line">
            <a:avLst/>
          </a:prstGeom>
          <a:solidFill>
            <a:srgbClr val="5C81CC"/>
          </a:solidFill>
          <a:ln w="19050">
            <a:solidFill>
              <a:srgbClr val="000000"/>
            </a:solidFill>
            <a:prstDash val="solid"/>
          </a:ln>
        </p:spPr>
        <p:txBody>
          <a:bodyPr wrap="square" rtlCol="0" anchor="ctr"/>
          <a:lstStyle/>
          <a:p>
            <a:pPr marL="0"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3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3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3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3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animBg="1"/>
      <p:bldP spid="8" grpId="0"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rcRect l="9392" t="16518" r="27720" b="6946"/>
          <a:stretch>
            <a:fillRect/>
          </a:stretch>
        </p:blipFill>
        <p:spPr>
          <a:xfrm rot="5400000">
            <a:off x="2667002" y="-2666999"/>
            <a:ext cx="6857996" cy="12192000"/>
          </a:xfrm>
          <a:prstGeom prst="rect">
            <a:avLst/>
          </a:prstGeom>
        </p:spPr>
      </p:pic>
      <p:sp>
        <p:nvSpPr>
          <p:cNvPr id="3" name="形状1"/>
          <p:cNvSpPr txBox="1"/>
          <p:nvPr/>
        </p:nvSpPr>
        <p:spPr>
          <a:xfrm>
            <a:off x="89937" y="147742"/>
            <a:ext cx="12025863" cy="6623475"/>
          </a:xfrm>
          <a:prstGeom prst="roundRect">
            <a:avLst/>
          </a:prstGeom>
          <a:solidFill>
            <a:srgbClr val="FFFFFF">
              <a:alpha val="98823"/>
            </a:srgbClr>
          </a:solidFill>
          <a:ln w="9525">
            <a:solidFill>
              <a:srgbClr val="FFFFFF">
                <a:alpha val="0"/>
              </a:srgbClr>
            </a:solidFill>
          </a:ln>
        </p:spPr>
        <p:txBody>
          <a:bodyPr wrap="square" rtlCol="0" anchor="ctr"/>
          <a:lstStyle/>
          <a:p>
            <a:pPr marL="0" algn="ctr"/>
            <a:r>
              <a:rPr lang="zh-CN" altLang="en-US" sz="2200" b="0" i="0" dirty="0">
                <a:solidFill>
                  <a:srgbClr val="FFFFFF"/>
                </a:solidFill>
                <a:latin typeface="微软雅黑" panose="020B0503020204020204" charset="-122"/>
                <a:ea typeface="微软雅黑" panose="020B0503020204020204" charset="-122"/>
              </a:rPr>
              <a:t>+</a:t>
            </a:r>
            <a:endParaRPr lang="zh-CN" altLang="en-US" sz="2200" b="0" i="0" dirty="0">
              <a:solidFill>
                <a:srgbClr val="FFFFFF"/>
              </a:solidFill>
              <a:latin typeface="微软雅黑" panose="020B0503020204020204" charset="-122"/>
              <a:ea typeface="微软雅黑" panose="020B0503020204020204" charset="-122"/>
            </a:endParaRPr>
          </a:p>
        </p:txBody>
      </p:sp>
      <p:pic>
        <p:nvPicPr>
          <p:cNvPr id="4" name="图片2"/>
          <p:cNvPicPr>
            <a:picLocks noChangeAspect="1"/>
          </p:cNvPicPr>
          <p:nvPr/>
        </p:nvPicPr>
        <p:blipFill>
          <a:blip r:embed="rId2"/>
          <a:stretch>
            <a:fillRect/>
          </a:stretch>
        </p:blipFill>
        <p:spPr>
          <a:xfrm rot="4613640">
            <a:off x="200440" y="184833"/>
            <a:ext cx="1189917" cy="1020701"/>
          </a:xfrm>
          <a:prstGeom prst="rect">
            <a:avLst/>
          </a:prstGeom>
        </p:spPr>
      </p:pic>
      <p:grpSp>
        <p:nvGrpSpPr>
          <p:cNvPr id="5" name="组合1"/>
          <p:cNvGrpSpPr/>
          <p:nvPr/>
        </p:nvGrpSpPr>
        <p:grpSpPr>
          <a:xfrm>
            <a:off x="4524404" y="369351"/>
            <a:ext cx="5931535" cy="579839"/>
            <a:chOff x="0" y="0"/>
            <a:chExt cx="5931535" cy="579839"/>
          </a:xfrm>
        </p:grpSpPr>
        <p:sp>
          <p:nvSpPr>
            <p:cNvPr id="6" name="形状2"/>
            <p:cNvSpPr txBox="1"/>
            <p:nvPr/>
          </p:nvSpPr>
          <p:spPr>
            <a:xfrm>
              <a:off x="3810" y="49530"/>
              <a:ext cx="5741035" cy="460375"/>
            </a:xfrm>
            <a:prstGeom prst="rect">
              <a:avLst/>
            </a:prstGeom>
            <a:solidFill>
              <a:srgbClr val="FFFFFF">
                <a:alpha val="0"/>
              </a:srgbClr>
            </a:solidFill>
            <a:ln w="9525">
              <a:solidFill>
                <a:srgbClr val="FFFFFF">
                  <a:alpha val="0"/>
                </a:srgbClr>
              </a:solidFill>
            </a:ln>
          </p:spPr>
          <p:txBody>
            <a:bodyPr wrap="square" rtlCol="0" anchor="ctr"/>
            <a:lstStyle/>
            <a:p>
              <a:pPr marL="0" algn="ctr"/>
            </a:p>
          </p:txBody>
        </p:sp>
        <p:sp>
          <p:nvSpPr>
            <p:cNvPr id="7" name="文本6"/>
            <p:cNvSpPr txBox="1"/>
            <p:nvPr/>
          </p:nvSpPr>
          <p:spPr>
            <a:xfrm>
              <a:off x="0" y="0"/>
              <a:ext cx="5931535" cy="579839"/>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路径一：强基计划</a:t>
              </a:r>
              <a:endParaRPr lang="zh-CN" altLang="en-US" sz="2400" b="0" i="0" dirty="0">
                <a:solidFill>
                  <a:srgbClr val="000000"/>
                </a:solidFill>
                <a:latin typeface="方正粗黑宋简体" panose="02000000000000000000" charset="-122"/>
                <a:ea typeface="方正粗黑宋简体" panose="02000000000000000000" charset="-122"/>
              </a:endParaRPr>
            </a:p>
          </p:txBody>
        </p:sp>
      </p:grpSp>
      <p:sp>
        <p:nvSpPr>
          <p:cNvPr id="8" name="文本1"/>
          <p:cNvSpPr txBox="1"/>
          <p:nvPr/>
        </p:nvSpPr>
        <p:spPr>
          <a:xfrm>
            <a:off x="1046274" y="1390059"/>
            <a:ext cx="4254500" cy="500062"/>
          </a:xfrm>
          <a:prstGeom prst="rect">
            <a:avLst/>
          </a:prstGeom>
          <a:noFill/>
        </p:spPr>
        <p:txBody>
          <a:bodyPr wrap="square" rtlCol="0" anchor="t"/>
          <a:lstStyle/>
          <a:p>
            <a:pPr marL="0" algn="l"/>
            <a:r>
              <a:rPr lang="zh-CN" altLang="en-US" sz="2000" b="0" i="0" dirty="0">
                <a:solidFill>
                  <a:srgbClr val="000000"/>
                </a:solidFill>
                <a:latin typeface="方正粗黑宋简体" panose="02000000000000000000" charset="-122"/>
                <a:ea typeface="方正粗黑宋简体" panose="02000000000000000000" charset="-122"/>
              </a:rPr>
              <a:t>低年级的学生该如何备考强基计划？</a:t>
            </a:r>
            <a:endParaRPr lang="zh-CN" altLang="en-US" sz="2000" b="0" i="0" dirty="0">
              <a:solidFill>
                <a:srgbClr val="000000"/>
              </a:solidFill>
              <a:latin typeface="方正粗黑宋简体" panose="02000000000000000000" charset="-122"/>
              <a:ea typeface="方正粗黑宋简体" panose="02000000000000000000" charset="-122"/>
            </a:endParaRPr>
          </a:p>
        </p:txBody>
      </p:sp>
      <p:pic>
        <p:nvPicPr>
          <p:cNvPr id="9" name="表格1"/>
          <p:cNvPicPr>
            <a:picLocks noChangeAspect="1"/>
          </p:cNvPicPr>
          <p:nvPr/>
        </p:nvPicPr>
        <p:blipFill>
          <a:blip r:embed="rId3"/>
          <a:stretch>
            <a:fillRect/>
          </a:stretch>
        </p:blipFill>
        <p:spPr>
          <a:xfrm>
            <a:off x="529590" y="2331085"/>
            <a:ext cx="11209020" cy="3019425"/>
          </a:xfrm>
          <a:prstGeom prst="rect">
            <a:avLst/>
          </a:prstGeom>
        </p:spPr>
      </p:pic>
      <p:sp>
        <p:nvSpPr>
          <p:cNvPr id="10" name="文本2"/>
          <p:cNvSpPr txBox="1"/>
          <p:nvPr/>
        </p:nvSpPr>
        <p:spPr>
          <a:xfrm>
            <a:off x="810260" y="2955290"/>
            <a:ext cx="2066925" cy="2272665"/>
          </a:xfrm>
          <a:prstGeom prst="rect">
            <a:avLst/>
          </a:prstGeom>
          <a:noFill/>
        </p:spPr>
        <p:txBody>
          <a:bodyPr wrap="square" rtlCol="0" anchor="t"/>
          <a:lstStyle/>
          <a:p>
            <a:pPr marL="0" algn="l">
              <a:lnSpc>
                <a:spcPct val="130000"/>
              </a:lnSpc>
            </a:pPr>
            <a:r>
              <a:rPr lang="zh-CN" altLang="en-US" sz="1800" b="0" i="0" dirty="0">
                <a:solidFill>
                  <a:srgbClr val="000000"/>
                </a:solidFill>
                <a:latin typeface="微软雅黑" panose="020B0503020204020204" charset="-122"/>
                <a:ea typeface="微软雅黑" panose="020B0503020204020204" charset="-122"/>
              </a:rPr>
              <a:t>①高考成绩优秀（至少一本分数线</a:t>
            </a:r>
            <a:r>
              <a:rPr lang="en-US" altLang="zh-CN" sz="1800" b="0" i="0" dirty="0">
                <a:solidFill>
                  <a:srgbClr val="000000"/>
                </a:solidFill>
                <a:latin typeface="微软雅黑" panose="020B0503020204020204" charset="-122"/>
                <a:ea typeface="微软雅黑" panose="020B0503020204020204" charset="-122"/>
              </a:rPr>
              <a:t>449</a:t>
            </a:r>
            <a:r>
              <a:rPr lang="zh-CN" altLang="en-US" dirty="0">
                <a:solidFill>
                  <a:srgbClr val="000000"/>
                </a:solidFill>
                <a:latin typeface="微软雅黑" panose="020B0503020204020204" charset="-122"/>
                <a:ea typeface="微软雅黑" panose="020B0503020204020204" charset="-122"/>
                <a:sym typeface="+mn-ea"/>
              </a:rPr>
              <a:t>物</a:t>
            </a:r>
            <a:r>
              <a:rPr lang="zh-CN" altLang="en-US" sz="1800" b="0" i="0" dirty="0">
                <a:solidFill>
                  <a:srgbClr val="000000"/>
                </a:solidFill>
                <a:latin typeface="微软雅黑" panose="020B0503020204020204" charset="-122"/>
                <a:ea typeface="微软雅黑" panose="020B0503020204020204" charset="-122"/>
              </a:rPr>
              <a:t>\4</a:t>
            </a:r>
            <a:r>
              <a:rPr lang="en-US" altLang="zh-CN" sz="1800" b="0" i="0" dirty="0">
                <a:solidFill>
                  <a:srgbClr val="000000"/>
                </a:solidFill>
                <a:latin typeface="微软雅黑" panose="020B0503020204020204" charset="-122"/>
                <a:ea typeface="微软雅黑" panose="020B0503020204020204" charset="-122"/>
              </a:rPr>
              <a:t>31</a:t>
            </a:r>
            <a:r>
              <a:rPr lang="zh-CN" altLang="en-US" dirty="0">
                <a:solidFill>
                  <a:srgbClr val="000000"/>
                </a:solidFill>
                <a:latin typeface="微软雅黑" panose="020B0503020204020204" charset="-122"/>
                <a:ea typeface="微软雅黑" panose="020B0503020204020204" charset="-122"/>
                <a:sym typeface="+mn-ea"/>
              </a:rPr>
              <a:t>历</a:t>
            </a:r>
            <a:r>
              <a:rPr lang="zh-CN" altLang="en-US" sz="1800" b="0" i="0" dirty="0">
                <a:solidFill>
                  <a:srgbClr val="000000"/>
                </a:solidFill>
                <a:latin typeface="微软雅黑" panose="020B0503020204020204" charset="-122"/>
                <a:ea typeface="微软雅黑" panose="020B0503020204020204" charset="-122"/>
              </a:rPr>
              <a:t>）</a:t>
            </a:r>
            <a:endParaRPr lang="zh-CN" altLang="en-US" sz="1800" b="0" i="0" dirty="0">
              <a:solidFill>
                <a:srgbClr val="000000"/>
              </a:solidFill>
              <a:latin typeface="微软雅黑" panose="020B0503020204020204" charset="-122"/>
              <a:ea typeface="微软雅黑" panose="020B0503020204020204" charset="-122"/>
            </a:endParaRPr>
          </a:p>
          <a:p>
            <a:pPr marL="0" algn="l">
              <a:lnSpc>
                <a:spcPct val="130000"/>
              </a:lnSpc>
            </a:pPr>
            <a:r>
              <a:rPr lang="zh-CN" altLang="en-US" sz="1800" b="0" i="0" dirty="0">
                <a:solidFill>
                  <a:srgbClr val="000000"/>
                </a:solidFill>
                <a:latin typeface="微软雅黑" panose="020B0503020204020204" charset="-122"/>
                <a:ea typeface="微软雅黑" panose="020B0503020204020204" charset="-122"/>
              </a:rPr>
              <a:t>②曾在五大学科竞赛中拿到全国一二等奖</a:t>
            </a:r>
            <a:endParaRPr lang="zh-CN" altLang="en-US" sz="1800" b="0" i="0" dirty="0">
              <a:solidFill>
                <a:srgbClr val="000000"/>
              </a:solidFill>
              <a:latin typeface="微软雅黑" panose="020B0503020204020204" charset="-122"/>
              <a:ea typeface="微软雅黑" panose="020B0503020204020204" charset="-122"/>
            </a:endParaRPr>
          </a:p>
          <a:p>
            <a:pPr marL="0" algn="l"/>
          </a:p>
        </p:txBody>
      </p:sp>
      <p:sp>
        <p:nvSpPr>
          <p:cNvPr id="11" name="文本3"/>
          <p:cNvSpPr txBox="1"/>
          <p:nvPr/>
        </p:nvSpPr>
        <p:spPr>
          <a:xfrm>
            <a:off x="2901172" y="2884989"/>
            <a:ext cx="1804956" cy="1759435"/>
          </a:xfrm>
          <a:prstGeom prst="rect">
            <a:avLst/>
          </a:prstGeom>
          <a:noFill/>
        </p:spPr>
        <p:txBody>
          <a:bodyPr wrap="square" rtlCol="0" anchor="t"/>
          <a:lstStyle/>
          <a:p>
            <a:pPr marL="0" algn="l"/>
          </a:p>
          <a:p>
            <a:pPr marL="0" algn="l">
              <a:lnSpc>
                <a:spcPct val="130000"/>
              </a:lnSpc>
            </a:pPr>
            <a:r>
              <a:rPr lang="zh-CN" altLang="en-US" sz="1800" b="0" i="0" dirty="0">
                <a:solidFill>
                  <a:srgbClr val="000000"/>
                </a:solidFill>
                <a:latin typeface="微软雅黑" panose="020B0503020204020204" charset="-122"/>
                <a:ea typeface="微软雅黑" panose="020B0503020204020204" charset="-122"/>
              </a:rPr>
              <a:t>高考成绩占85%</a:t>
            </a:r>
            <a:endParaRPr lang="zh-CN" altLang="en-US" sz="1800" b="0" i="0" dirty="0">
              <a:solidFill>
                <a:srgbClr val="000000"/>
              </a:solidFill>
              <a:latin typeface="微软雅黑" panose="020B0503020204020204" charset="-122"/>
              <a:ea typeface="微软雅黑" panose="020B0503020204020204" charset="-122"/>
            </a:endParaRPr>
          </a:p>
          <a:p>
            <a:pPr marL="0" algn="l">
              <a:lnSpc>
                <a:spcPct val="130000"/>
              </a:lnSpc>
            </a:pPr>
            <a:r>
              <a:rPr lang="zh-CN" altLang="en-US" sz="1800" b="0" i="0" dirty="0">
                <a:solidFill>
                  <a:srgbClr val="000000"/>
                </a:solidFill>
                <a:latin typeface="微软雅黑" panose="020B0503020204020204" charset="-122"/>
                <a:ea typeface="微软雅黑" panose="020B0503020204020204" charset="-122"/>
              </a:rPr>
              <a:t>院校自测占15%</a:t>
            </a:r>
            <a:endParaRPr lang="zh-CN" altLang="en-US" sz="1800" b="0" i="0" dirty="0">
              <a:solidFill>
                <a:srgbClr val="000000"/>
              </a:solidFill>
              <a:latin typeface="微软雅黑" panose="020B0503020204020204" charset="-122"/>
              <a:ea typeface="微软雅黑" panose="020B0503020204020204" charset="-122"/>
            </a:endParaRPr>
          </a:p>
          <a:p>
            <a:pPr marL="0" algn="l">
              <a:lnSpc>
                <a:spcPct val="130000"/>
              </a:lnSpc>
            </a:pPr>
            <a:r>
              <a:rPr lang="zh-CN" altLang="en-US" sz="1800" b="0" i="0" dirty="0">
                <a:solidFill>
                  <a:srgbClr val="000000"/>
                </a:solidFill>
                <a:latin typeface="微软雅黑" panose="020B0503020204020204" charset="-122"/>
                <a:ea typeface="微软雅黑" panose="020B0503020204020204" charset="-122"/>
              </a:rPr>
              <a:t>综合成绩录取</a:t>
            </a:r>
            <a:endParaRPr lang="zh-CN" altLang="en-US" sz="1800" b="0" i="0" dirty="0">
              <a:solidFill>
                <a:srgbClr val="000000"/>
              </a:solidFill>
              <a:latin typeface="微软雅黑" panose="020B0503020204020204" charset="-122"/>
              <a:ea typeface="微软雅黑" panose="020B0503020204020204" charset="-122"/>
            </a:endParaRPr>
          </a:p>
        </p:txBody>
      </p:sp>
      <p:sp>
        <p:nvSpPr>
          <p:cNvPr id="12" name="文本4"/>
          <p:cNvSpPr txBox="1"/>
          <p:nvPr/>
        </p:nvSpPr>
        <p:spPr>
          <a:xfrm>
            <a:off x="4730315" y="3218120"/>
            <a:ext cx="2590800" cy="1759435"/>
          </a:xfrm>
          <a:prstGeom prst="rect">
            <a:avLst/>
          </a:prstGeom>
          <a:noFill/>
        </p:spPr>
        <p:txBody>
          <a:bodyPr wrap="square" rtlCol="0" anchor="t"/>
          <a:lstStyle/>
          <a:p>
            <a:pPr marL="0" algn="l">
              <a:lnSpc>
                <a:spcPct val="130000"/>
              </a:lnSpc>
            </a:pPr>
            <a:r>
              <a:rPr lang="zh-CN" altLang="en-US" sz="1800" b="0" i="0" dirty="0">
                <a:solidFill>
                  <a:srgbClr val="000000"/>
                </a:solidFill>
                <a:latin typeface="微软雅黑" panose="020B0503020204020204" charset="-122"/>
                <a:ea typeface="微软雅黑" panose="020B0503020204020204" charset="-122"/>
              </a:rPr>
              <a:t>①想要以低分上名校</a:t>
            </a:r>
            <a:endParaRPr lang="zh-CN" altLang="en-US" sz="1800" b="0" i="0" dirty="0">
              <a:solidFill>
                <a:srgbClr val="000000"/>
              </a:solidFill>
              <a:latin typeface="微软雅黑" panose="020B0503020204020204" charset="-122"/>
              <a:ea typeface="微软雅黑" panose="020B0503020204020204" charset="-122"/>
            </a:endParaRPr>
          </a:p>
          <a:p>
            <a:pPr marL="0" algn="l">
              <a:lnSpc>
                <a:spcPct val="130000"/>
              </a:lnSpc>
            </a:pPr>
            <a:r>
              <a:rPr lang="zh-CN" altLang="en-US" sz="1800" b="0" i="0" dirty="0">
                <a:solidFill>
                  <a:srgbClr val="000000"/>
                </a:solidFill>
                <a:latin typeface="微软雅黑" panose="020B0503020204020204" charset="-122"/>
                <a:ea typeface="微软雅黑" panose="020B0503020204020204" charset="-122"/>
              </a:rPr>
              <a:t>②对基础学科感兴趣</a:t>
            </a:r>
            <a:endParaRPr lang="zh-CN" altLang="en-US" sz="1800" b="0" i="0" dirty="0">
              <a:solidFill>
                <a:srgbClr val="000000"/>
              </a:solidFill>
              <a:latin typeface="微软雅黑" panose="020B0503020204020204" charset="-122"/>
              <a:ea typeface="微软雅黑" panose="020B0503020204020204" charset="-122"/>
            </a:endParaRPr>
          </a:p>
          <a:p>
            <a:pPr marL="0" algn="l">
              <a:lnSpc>
                <a:spcPct val="130000"/>
              </a:lnSpc>
            </a:pPr>
            <a:r>
              <a:rPr lang="zh-CN" altLang="en-US" sz="1800" b="0" i="0" dirty="0">
                <a:solidFill>
                  <a:srgbClr val="000000"/>
                </a:solidFill>
                <a:latin typeface="微软雅黑" panose="020B0503020204020204" charset="-122"/>
                <a:ea typeface="微软雅黑" panose="020B0503020204020204" charset="-122"/>
              </a:rPr>
              <a:t>③全科成绩优秀</a:t>
            </a:r>
            <a:endParaRPr lang="zh-CN" altLang="en-US" sz="1800" b="0" i="0" dirty="0">
              <a:solidFill>
                <a:srgbClr val="000000"/>
              </a:solidFill>
              <a:latin typeface="微软雅黑" panose="020B0503020204020204" charset="-122"/>
              <a:ea typeface="微软雅黑" panose="020B0503020204020204" charset="-122"/>
            </a:endParaRPr>
          </a:p>
          <a:p>
            <a:pPr marL="0" algn="l">
              <a:lnSpc>
                <a:spcPct val="130000"/>
              </a:lnSpc>
            </a:pPr>
            <a:r>
              <a:rPr lang="zh-CN" altLang="en-US" sz="1800" b="0" i="0" dirty="0">
                <a:solidFill>
                  <a:srgbClr val="000000"/>
                </a:solidFill>
                <a:latin typeface="微软雅黑" panose="020B0503020204020204" charset="-122"/>
                <a:ea typeface="微软雅黑" panose="020B0503020204020204" charset="-122"/>
              </a:rPr>
              <a:t>④有五大学科竞赛获奖</a:t>
            </a:r>
            <a:endParaRPr lang="zh-CN" altLang="en-US" sz="1800" b="0" i="0" dirty="0">
              <a:solidFill>
                <a:srgbClr val="000000"/>
              </a:solidFill>
              <a:latin typeface="微软雅黑" panose="020B0503020204020204" charset="-122"/>
              <a:ea typeface="微软雅黑" panose="020B0503020204020204" charset="-122"/>
            </a:endParaRPr>
          </a:p>
        </p:txBody>
      </p:sp>
      <p:sp>
        <p:nvSpPr>
          <p:cNvPr id="13" name="文本5"/>
          <p:cNvSpPr txBox="1"/>
          <p:nvPr/>
        </p:nvSpPr>
        <p:spPr>
          <a:xfrm>
            <a:off x="7719228" y="3078566"/>
            <a:ext cx="4076700" cy="2038598"/>
          </a:xfrm>
          <a:prstGeom prst="rect">
            <a:avLst/>
          </a:prstGeom>
          <a:noFill/>
        </p:spPr>
        <p:txBody>
          <a:bodyPr wrap="square" rtlCol="0" anchor="t"/>
          <a:lstStyle/>
          <a:p>
            <a:pPr marL="0" algn="l">
              <a:lnSpc>
                <a:spcPct val="140000"/>
              </a:lnSpc>
            </a:pPr>
            <a:r>
              <a:rPr lang="zh-CN" altLang="en-US" sz="1800" b="0" i="0" dirty="0">
                <a:solidFill>
                  <a:srgbClr val="1A5CB3"/>
                </a:solidFill>
                <a:latin typeface="微软雅黑" panose="020B0503020204020204" charset="-122"/>
                <a:ea typeface="微软雅黑" panose="020B0503020204020204" charset="-122"/>
              </a:rPr>
              <a:t>①</a:t>
            </a:r>
            <a:r>
              <a:rPr lang="zh-CN" altLang="en-US" sz="1800" b="0" i="0" dirty="0">
                <a:solidFill>
                  <a:srgbClr val="1A5CB3"/>
                </a:solidFill>
                <a:latin typeface="方正粗黑宋简体" panose="02000000000000000000" charset="-122"/>
                <a:ea typeface="方正粗黑宋简体" panose="02000000000000000000" charset="-122"/>
              </a:rPr>
              <a:t>注重高考成绩，不偏科，全面提升</a:t>
            </a:r>
            <a:endParaRPr lang="zh-CN" altLang="en-US" sz="1800" b="0" i="0" dirty="0">
              <a:solidFill>
                <a:srgbClr val="1A5CB3"/>
              </a:solidFill>
              <a:latin typeface="方正粗黑宋简体" panose="02000000000000000000" charset="-122"/>
              <a:ea typeface="方正粗黑宋简体" panose="02000000000000000000" charset="-122"/>
            </a:endParaRPr>
          </a:p>
          <a:p>
            <a:pPr marL="0" algn="l">
              <a:lnSpc>
                <a:spcPct val="140000"/>
              </a:lnSpc>
            </a:pPr>
            <a:r>
              <a:rPr lang="zh-CN" altLang="en-US" sz="1800" b="0" i="0" dirty="0">
                <a:solidFill>
                  <a:srgbClr val="1A5CB3"/>
                </a:solidFill>
                <a:latin typeface="方正粗黑宋简体" panose="02000000000000000000" charset="-122"/>
                <a:ea typeface="方正粗黑宋简体" panose="02000000000000000000" charset="-122"/>
              </a:rPr>
              <a:t>②合理分配时间，补充竞赛知识</a:t>
            </a:r>
            <a:endParaRPr lang="zh-CN" altLang="en-US" sz="1800" b="0" i="0" dirty="0">
              <a:solidFill>
                <a:srgbClr val="1A5CB3"/>
              </a:solidFill>
              <a:latin typeface="方正粗黑宋简体" panose="02000000000000000000" charset="-122"/>
              <a:ea typeface="方正粗黑宋简体" panose="02000000000000000000" charset="-122"/>
            </a:endParaRPr>
          </a:p>
          <a:p>
            <a:pPr marL="0" algn="l">
              <a:lnSpc>
                <a:spcPct val="140000"/>
              </a:lnSpc>
            </a:pPr>
            <a:r>
              <a:rPr lang="zh-CN" altLang="en-US" sz="1800" b="0" i="0" dirty="0">
                <a:solidFill>
                  <a:srgbClr val="1A5CB3"/>
                </a:solidFill>
                <a:latin typeface="方正粗黑宋简体" panose="02000000000000000000" charset="-122"/>
                <a:ea typeface="方正粗黑宋简体" panose="02000000000000000000" charset="-122"/>
              </a:rPr>
              <a:t>③尽早规划，培养学科兴趣</a:t>
            </a:r>
            <a:endParaRPr lang="zh-CN" altLang="en-US" sz="1800" b="0" i="0" dirty="0">
              <a:solidFill>
                <a:srgbClr val="1A5CB3"/>
              </a:solidFill>
              <a:latin typeface="方正粗黑宋简体" panose="02000000000000000000" charset="-122"/>
              <a:ea typeface="方正粗黑宋简体" panose="02000000000000000000" charset="-122"/>
            </a:endParaRPr>
          </a:p>
          <a:p>
            <a:pPr marL="0" algn="l">
              <a:lnSpc>
                <a:spcPct val="140000"/>
              </a:lnSpc>
            </a:pPr>
            <a:r>
              <a:rPr lang="zh-CN" altLang="en-US" sz="1800" b="0" i="0" dirty="0">
                <a:solidFill>
                  <a:srgbClr val="1A5CB3"/>
                </a:solidFill>
                <a:latin typeface="方正粗黑宋简体" panose="02000000000000000000" charset="-122"/>
                <a:ea typeface="方正粗黑宋简体" panose="02000000000000000000" charset="-122"/>
              </a:rPr>
              <a:t>④关注时事热点，强化交流技巧</a:t>
            </a:r>
            <a:endParaRPr lang="zh-CN" altLang="en-US" sz="1800" b="0" i="0" dirty="0">
              <a:solidFill>
                <a:srgbClr val="1A5CB3"/>
              </a:solidFill>
              <a:latin typeface="方正粗黑宋简体" panose="02000000000000000000" charset="-122"/>
              <a:ea typeface="方正粗黑宋简体" panose="02000000000000000000" charset="-122"/>
            </a:endParaRPr>
          </a:p>
          <a:p>
            <a:pPr marL="0" algn="l">
              <a:lnSpc>
                <a:spcPct val="140000"/>
              </a:lnSpc>
            </a:pPr>
            <a:r>
              <a:rPr lang="zh-CN" altLang="en-US" sz="1800" b="0" i="0" dirty="0">
                <a:solidFill>
                  <a:srgbClr val="1A5CB3"/>
                </a:solidFill>
                <a:latin typeface="方正粗黑宋简体" panose="02000000000000000000" charset="-122"/>
                <a:ea typeface="方正粗黑宋简体" panose="02000000000000000000" charset="-122"/>
              </a:rPr>
              <a:t>⑤尽早培养自己的生涯规划与学业规划</a:t>
            </a:r>
            <a:endParaRPr lang="zh-CN" altLang="en-US" sz="1800" b="0" i="0" dirty="0">
              <a:solidFill>
                <a:srgbClr val="1A5CB3"/>
              </a:solidFill>
              <a:latin typeface="方正粗黑宋简体" panose="02000000000000000000" charset="-122"/>
              <a:ea typeface="方正粗黑宋简体" panose="02000000000000000000"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3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3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3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3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3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10" grpId="0" animBg="1"/>
      <p:bldP spid="11" grpId="0" animBg="1"/>
      <p:bldP spid="12" grpId="0" animBg="1"/>
      <p:bldP spid="1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rcRect l="9392" t="16518" r="27720" b="6946"/>
          <a:stretch>
            <a:fillRect/>
          </a:stretch>
        </p:blipFill>
        <p:spPr>
          <a:xfrm rot="5400000">
            <a:off x="2667002" y="-2666999"/>
            <a:ext cx="6857996" cy="12192000"/>
          </a:xfrm>
          <a:prstGeom prst="rect">
            <a:avLst/>
          </a:prstGeom>
        </p:spPr>
      </p:pic>
      <p:sp>
        <p:nvSpPr>
          <p:cNvPr id="3" name="形状1"/>
          <p:cNvSpPr txBox="1"/>
          <p:nvPr/>
        </p:nvSpPr>
        <p:spPr>
          <a:xfrm>
            <a:off x="89937" y="147742"/>
            <a:ext cx="12025863" cy="6623475"/>
          </a:xfrm>
          <a:prstGeom prst="roundRect">
            <a:avLst/>
          </a:prstGeom>
          <a:solidFill>
            <a:srgbClr val="FFFFFF">
              <a:alpha val="98823"/>
            </a:srgbClr>
          </a:solidFill>
          <a:ln w="9525">
            <a:solidFill>
              <a:srgbClr val="FFFFFF">
                <a:alpha val="0"/>
              </a:srgbClr>
            </a:solidFill>
          </a:ln>
        </p:spPr>
        <p:txBody>
          <a:bodyPr wrap="square" rtlCol="0" anchor="ctr"/>
          <a:lstStyle/>
          <a:p>
            <a:pPr marL="0" algn="ctr"/>
          </a:p>
        </p:txBody>
      </p:sp>
      <p:pic>
        <p:nvPicPr>
          <p:cNvPr id="4" name="图片2"/>
          <p:cNvPicPr>
            <a:picLocks noChangeAspect="1"/>
          </p:cNvPicPr>
          <p:nvPr/>
        </p:nvPicPr>
        <p:blipFill>
          <a:blip r:embed="rId2"/>
          <a:stretch>
            <a:fillRect/>
          </a:stretch>
        </p:blipFill>
        <p:spPr>
          <a:xfrm rot="4613640">
            <a:off x="200440" y="184833"/>
            <a:ext cx="1189917" cy="1020701"/>
          </a:xfrm>
          <a:prstGeom prst="rect">
            <a:avLst/>
          </a:prstGeom>
        </p:spPr>
      </p:pic>
      <p:pic>
        <p:nvPicPr>
          <p:cNvPr id="5" name="图片3"/>
          <p:cNvPicPr>
            <a:picLocks noChangeAspect="1"/>
          </p:cNvPicPr>
          <p:nvPr/>
        </p:nvPicPr>
        <p:blipFill>
          <a:blip r:embed="rId3"/>
          <a:srcRect b="7980"/>
          <a:stretch>
            <a:fillRect/>
          </a:stretch>
        </p:blipFill>
        <p:spPr>
          <a:xfrm>
            <a:off x="6598285" y="2084070"/>
            <a:ext cx="5688965" cy="4773930"/>
          </a:xfrm>
          <a:prstGeom prst="rect">
            <a:avLst/>
          </a:prstGeom>
        </p:spPr>
      </p:pic>
      <p:grpSp>
        <p:nvGrpSpPr>
          <p:cNvPr id="6" name="组合1"/>
          <p:cNvGrpSpPr/>
          <p:nvPr/>
        </p:nvGrpSpPr>
        <p:grpSpPr>
          <a:xfrm>
            <a:off x="4586147" y="317468"/>
            <a:ext cx="2461461" cy="579839"/>
            <a:chOff x="0" y="0"/>
            <a:chExt cx="2461461" cy="579839"/>
          </a:xfrm>
        </p:grpSpPr>
        <p:sp>
          <p:nvSpPr>
            <p:cNvPr id="7" name="形状2"/>
            <p:cNvSpPr txBox="1"/>
            <p:nvPr/>
          </p:nvSpPr>
          <p:spPr>
            <a:xfrm>
              <a:off x="0" y="49530"/>
              <a:ext cx="1841357" cy="460373"/>
            </a:xfrm>
            <a:prstGeom prst="rect">
              <a:avLst/>
            </a:prstGeom>
            <a:solidFill>
              <a:srgbClr val="FFFFFF">
                <a:alpha val="0"/>
              </a:srgbClr>
            </a:solidFill>
            <a:ln w="9525">
              <a:solidFill>
                <a:srgbClr val="FFFFFF">
                  <a:alpha val="0"/>
                </a:srgbClr>
              </a:solidFill>
            </a:ln>
          </p:spPr>
          <p:txBody>
            <a:bodyPr wrap="square" rtlCol="0" anchor="ctr"/>
            <a:lstStyle/>
            <a:p>
              <a:pPr marL="0" algn="ctr"/>
            </a:p>
          </p:txBody>
        </p:sp>
        <p:sp>
          <p:nvSpPr>
            <p:cNvPr id="8" name="文本2"/>
            <p:cNvSpPr txBox="1"/>
            <p:nvPr/>
          </p:nvSpPr>
          <p:spPr>
            <a:xfrm>
              <a:off x="16079" y="0"/>
              <a:ext cx="2445382" cy="579839"/>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路径二：保送生</a:t>
              </a:r>
              <a:endParaRPr lang="zh-CN" altLang="en-US" sz="2400" b="0" i="0" dirty="0">
                <a:solidFill>
                  <a:srgbClr val="000000"/>
                </a:solidFill>
                <a:latin typeface="方正粗黑宋简体" panose="02000000000000000000" charset="-122"/>
                <a:ea typeface="方正粗黑宋简体" panose="02000000000000000000" charset="-122"/>
              </a:endParaRPr>
            </a:p>
          </p:txBody>
        </p:sp>
      </p:grpSp>
      <p:sp>
        <p:nvSpPr>
          <p:cNvPr id="9" name="文本1"/>
          <p:cNvSpPr txBox="1"/>
          <p:nvPr/>
        </p:nvSpPr>
        <p:spPr>
          <a:xfrm>
            <a:off x="779780" y="897255"/>
            <a:ext cx="6268085" cy="6427470"/>
          </a:xfrm>
          <a:prstGeom prst="rect">
            <a:avLst/>
          </a:prstGeom>
          <a:noFill/>
        </p:spPr>
        <p:txBody>
          <a:bodyPr wrap="square" rtlCol="0" anchor="t"/>
          <a:lstStyle/>
          <a:p>
            <a:pPr marL="0" algn="l">
              <a:lnSpc>
                <a:spcPct val="170000"/>
              </a:lnSpc>
            </a:pPr>
            <a:r>
              <a:rPr lang="zh-CN" altLang="en-US" sz="5700" b="0" i="0" dirty="0">
                <a:solidFill>
                  <a:srgbClr val="000000"/>
                </a:solidFill>
                <a:latin typeface="方正粗黑宋简体" panose="02000000000000000000" charset="-122"/>
                <a:ea typeface="方正粗黑宋简体" panose="02000000000000000000" charset="-122"/>
              </a:rPr>
              <a:t>保</a:t>
            </a:r>
            <a:r>
              <a:rPr lang="zh-CN" altLang="en-US" sz="1800" b="0" i="0" dirty="0">
                <a:solidFill>
                  <a:srgbClr val="000000"/>
                </a:solidFill>
                <a:latin typeface="方正粗黑宋简体" panose="02000000000000000000" charset="-122"/>
                <a:ea typeface="方正粗黑宋简体" panose="02000000000000000000" charset="-122"/>
              </a:rPr>
              <a:t>送生，即无须参加高考（有的省规定保送生可自愿参加高考，但不再参加统一录取），经学校推荐，即可进入大学就读的学生。全国中学生奥赛全国决赛一等奖获得者并被遴选为国际奥赛国家队集训的应届高中毕业生、省级优秀学生（</a:t>
            </a:r>
            <a:r>
              <a:rPr lang="en-US" altLang="zh-CN" sz="1800" b="0" i="0" dirty="0">
                <a:solidFill>
                  <a:srgbClr val="000000"/>
                </a:solidFill>
                <a:latin typeface="方正粗黑宋简体" panose="02000000000000000000" charset="-122"/>
                <a:ea typeface="方正粗黑宋简体" panose="02000000000000000000" charset="-122"/>
              </a:rPr>
              <a:t>2020</a:t>
            </a:r>
            <a:r>
              <a:rPr lang="zh-CN" altLang="en-US" sz="1800" b="0" i="0" dirty="0">
                <a:solidFill>
                  <a:srgbClr val="000000"/>
                </a:solidFill>
                <a:latin typeface="方正粗黑宋简体" panose="02000000000000000000" charset="-122"/>
                <a:ea typeface="方正粗黑宋简体" panose="02000000000000000000" charset="-122"/>
              </a:rPr>
              <a:t>年起取消）、优秀退役运动员、公安英烈子女以及外国语学校的学生都是保送的对象。符合上述保送条件的学生经中学推荐，并通过大学测试合格后，即可进入大学就读。</a:t>
            </a:r>
            <a:endParaRPr lang="zh-CN" altLang="en-US" sz="1800" b="0" i="0" dirty="0">
              <a:solidFill>
                <a:srgbClr val="000000"/>
              </a:solidFill>
              <a:latin typeface="方正粗黑宋简体" panose="02000000000000000000" charset="-122"/>
              <a:ea typeface="方正粗黑宋简体" panose="02000000000000000000" charset="-122"/>
            </a:endParaRPr>
          </a:p>
          <a:p>
            <a:pPr marL="0" algn="l"/>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3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rcRect l="9392" t="16518" r="27720" b="6946"/>
          <a:stretch>
            <a:fillRect/>
          </a:stretch>
        </p:blipFill>
        <p:spPr>
          <a:xfrm rot="5400000">
            <a:off x="2667002" y="-2666999"/>
            <a:ext cx="6857996" cy="12192000"/>
          </a:xfrm>
          <a:prstGeom prst="rect">
            <a:avLst/>
          </a:prstGeom>
        </p:spPr>
      </p:pic>
      <p:sp>
        <p:nvSpPr>
          <p:cNvPr id="3" name="形状1"/>
          <p:cNvSpPr txBox="1"/>
          <p:nvPr/>
        </p:nvSpPr>
        <p:spPr>
          <a:xfrm>
            <a:off x="89937" y="117262"/>
            <a:ext cx="12025863" cy="6623475"/>
          </a:xfrm>
          <a:prstGeom prst="roundRect">
            <a:avLst/>
          </a:prstGeom>
          <a:solidFill>
            <a:srgbClr val="FFFFFF">
              <a:alpha val="98823"/>
            </a:srgbClr>
          </a:solidFill>
          <a:ln w="9525">
            <a:solidFill>
              <a:srgbClr val="FFFFFF">
                <a:alpha val="0"/>
              </a:srgbClr>
            </a:solidFill>
          </a:ln>
        </p:spPr>
        <p:txBody>
          <a:bodyPr wrap="square" rtlCol="0" anchor="ctr"/>
          <a:lstStyle/>
          <a:p>
            <a:pPr marL="0" algn="ctr"/>
            <a:r>
              <a:rPr lang="zh-CN" altLang="en-US" sz="2200" b="0" i="0" dirty="0">
                <a:solidFill>
                  <a:srgbClr val="FFFFFF"/>
                </a:solidFill>
                <a:latin typeface="微软雅黑" panose="020B0503020204020204" charset="-122"/>
                <a:ea typeface="微软雅黑" panose="020B0503020204020204" charset="-122"/>
              </a:rPr>
              <a:t>+</a:t>
            </a:r>
            <a:endParaRPr lang="zh-CN" altLang="en-US" sz="2200" b="0" i="0" dirty="0">
              <a:solidFill>
                <a:srgbClr val="FFFFFF"/>
              </a:solidFill>
              <a:latin typeface="微软雅黑" panose="020B0503020204020204" charset="-122"/>
              <a:ea typeface="微软雅黑" panose="020B0503020204020204" charset="-122"/>
            </a:endParaRPr>
          </a:p>
        </p:txBody>
      </p:sp>
      <p:pic>
        <p:nvPicPr>
          <p:cNvPr id="4" name="图片2"/>
          <p:cNvPicPr>
            <a:picLocks noChangeAspect="1"/>
          </p:cNvPicPr>
          <p:nvPr/>
        </p:nvPicPr>
        <p:blipFill>
          <a:blip r:embed="rId2"/>
          <a:stretch>
            <a:fillRect/>
          </a:stretch>
        </p:blipFill>
        <p:spPr>
          <a:xfrm rot="4613640">
            <a:off x="200440" y="184833"/>
            <a:ext cx="1189917" cy="1020701"/>
          </a:xfrm>
          <a:prstGeom prst="rect">
            <a:avLst/>
          </a:prstGeom>
        </p:spPr>
      </p:pic>
      <p:grpSp>
        <p:nvGrpSpPr>
          <p:cNvPr id="5" name="组合1"/>
          <p:cNvGrpSpPr/>
          <p:nvPr/>
        </p:nvGrpSpPr>
        <p:grpSpPr>
          <a:xfrm>
            <a:off x="4524404" y="369351"/>
            <a:ext cx="5931535" cy="579839"/>
            <a:chOff x="0" y="0"/>
            <a:chExt cx="5931535" cy="579839"/>
          </a:xfrm>
        </p:grpSpPr>
        <p:sp>
          <p:nvSpPr>
            <p:cNvPr id="6" name="形状2"/>
            <p:cNvSpPr txBox="1"/>
            <p:nvPr/>
          </p:nvSpPr>
          <p:spPr>
            <a:xfrm>
              <a:off x="3810" y="49530"/>
              <a:ext cx="5741035" cy="460375"/>
            </a:xfrm>
            <a:prstGeom prst="rect">
              <a:avLst/>
            </a:prstGeom>
            <a:solidFill>
              <a:srgbClr val="FFFFFF">
                <a:alpha val="0"/>
              </a:srgbClr>
            </a:solidFill>
            <a:ln w="9525">
              <a:solidFill>
                <a:srgbClr val="FFFFFF">
                  <a:alpha val="0"/>
                </a:srgbClr>
              </a:solidFill>
            </a:ln>
          </p:spPr>
          <p:txBody>
            <a:bodyPr wrap="square" rtlCol="0" anchor="ctr"/>
            <a:lstStyle/>
            <a:p>
              <a:pPr marL="0" algn="ctr"/>
            </a:p>
          </p:txBody>
        </p:sp>
        <p:sp>
          <p:nvSpPr>
            <p:cNvPr id="7" name="文本5"/>
            <p:cNvSpPr txBox="1"/>
            <p:nvPr/>
          </p:nvSpPr>
          <p:spPr>
            <a:xfrm>
              <a:off x="0" y="0"/>
              <a:ext cx="5931535" cy="579839"/>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路径二：保送生</a:t>
              </a:r>
              <a:endParaRPr lang="zh-CN" altLang="en-US" sz="2400" b="0" i="0" dirty="0">
                <a:solidFill>
                  <a:srgbClr val="000000"/>
                </a:solidFill>
                <a:latin typeface="方正粗黑宋简体" panose="02000000000000000000" charset="-122"/>
                <a:ea typeface="方正粗黑宋简体" panose="02000000000000000000" charset="-122"/>
              </a:endParaRPr>
            </a:p>
          </p:txBody>
        </p:sp>
      </p:grpSp>
      <p:sp>
        <p:nvSpPr>
          <p:cNvPr id="8" name="文本1"/>
          <p:cNvSpPr txBox="1"/>
          <p:nvPr/>
        </p:nvSpPr>
        <p:spPr>
          <a:xfrm>
            <a:off x="1046274" y="1390059"/>
            <a:ext cx="3746500" cy="500062"/>
          </a:xfrm>
          <a:prstGeom prst="rect">
            <a:avLst/>
          </a:prstGeom>
          <a:noFill/>
        </p:spPr>
        <p:txBody>
          <a:bodyPr wrap="square" rtlCol="0" anchor="t"/>
          <a:lstStyle/>
          <a:p>
            <a:pPr marL="0" algn="l"/>
            <a:r>
              <a:rPr lang="zh-CN" altLang="en-US" sz="2000" b="0" i="0" dirty="0">
                <a:solidFill>
                  <a:srgbClr val="000000"/>
                </a:solidFill>
                <a:latin typeface="方正粗黑宋简体" panose="02000000000000000000" charset="-122"/>
                <a:ea typeface="方正粗黑宋简体" panose="02000000000000000000" charset="-122"/>
              </a:rPr>
              <a:t>低年级的学生该如何准备保送？</a:t>
            </a:r>
            <a:endParaRPr lang="zh-CN" altLang="en-US" sz="2000" b="0" i="0" dirty="0">
              <a:solidFill>
                <a:srgbClr val="000000"/>
              </a:solidFill>
              <a:latin typeface="方正粗黑宋简体" panose="02000000000000000000" charset="-122"/>
              <a:ea typeface="方正粗黑宋简体" panose="02000000000000000000" charset="-122"/>
            </a:endParaRPr>
          </a:p>
        </p:txBody>
      </p:sp>
      <p:pic>
        <p:nvPicPr>
          <p:cNvPr id="9" name="表格1"/>
          <p:cNvPicPr>
            <a:picLocks noChangeAspect="1"/>
          </p:cNvPicPr>
          <p:nvPr/>
        </p:nvPicPr>
        <p:blipFill>
          <a:blip r:embed="rId3"/>
          <a:stretch>
            <a:fillRect/>
          </a:stretch>
        </p:blipFill>
        <p:spPr>
          <a:xfrm>
            <a:off x="606876" y="2331320"/>
            <a:ext cx="10991850" cy="3554849"/>
          </a:xfrm>
          <a:prstGeom prst="rect">
            <a:avLst/>
          </a:prstGeom>
        </p:spPr>
      </p:pic>
      <p:sp>
        <p:nvSpPr>
          <p:cNvPr id="10" name="文本2"/>
          <p:cNvSpPr txBox="1"/>
          <p:nvPr/>
        </p:nvSpPr>
        <p:spPr>
          <a:xfrm>
            <a:off x="606790" y="3195740"/>
            <a:ext cx="2105025" cy="2302542"/>
          </a:xfrm>
          <a:prstGeom prst="rect">
            <a:avLst/>
          </a:prstGeom>
          <a:noFill/>
        </p:spPr>
        <p:txBody>
          <a:bodyPr wrap="square" rtlCol="0" anchor="t"/>
          <a:lstStyle/>
          <a:p>
            <a:pPr marL="0" algn="l"/>
            <a:r>
              <a:rPr lang="zh-CN" altLang="en-US" sz="1800" b="0" i="0" dirty="0">
                <a:solidFill>
                  <a:srgbClr val="000000"/>
                </a:solidFill>
                <a:latin typeface="微软雅黑" panose="020B0503020204020204" charset="-122"/>
                <a:ea typeface="微软雅黑" panose="020B0503020204020204" charset="-122"/>
              </a:rPr>
              <a:t>①中学生奥林匹克竞赛国家队集训成员</a:t>
            </a:r>
            <a:endParaRPr lang="zh-CN" altLang="en-US" sz="1800" b="0" i="0" dirty="0">
              <a:solidFill>
                <a:srgbClr val="000000"/>
              </a:solidFill>
              <a:latin typeface="微软雅黑" panose="020B0503020204020204" charset="-122"/>
              <a:ea typeface="微软雅黑" panose="020B0503020204020204" charset="-122"/>
            </a:endParaRPr>
          </a:p>
          <a:p>
            <a:pPr marL="0" algn="l"/>
            <a:r>
              <a:rPr lang="zh-CN" altLang="en-US" sz="1800" b="0" i="0" dirty="0">
                <a:solidFill>
                  <a:srgbClr val="000000"/>
                </a:solidFill>
                <a:latin typeface="微软雅黑" panose="020B0503020204020204" charset="-122"/>
                <a:ea typeface="微软雅黑" panose="020B0503020204020204" charset="-122"/>
              </a:rPr>
              <a:t>②部分外国语中学推荐优秀学生</a:t>
            </a:r>
            <a:endParaRPr lang="zh-CN" altLang="en-US" sz="1800" b="0" i="0" dirty="0">
              <a:solidFill>
                <a:srgbClr val="000000"/>
              </a:solidFill>
              <a:latin typeface="微软雅黑" panose="020B0503020204020204" charset="-122"/>
              <a:ea typeface="微软雅黑" panose="020B0503020204020204" charset="-122"/>
            </a:endParaRPr>
          </a:p>
          <a:p>
            <a:pPr marL="0" algn="l"/>
            <a:r>
              <a:rPr lang="zh-CN" altLang="en-US" sz="1800" b="0" i="0" dirty="0">
                <a:solidFill>
                  <a:srgbClr val="000000"/>
                </a:solidFill>
                <a:latin typeface="微软雅黑" panose="020B0503020204020204" charset="-122"/>
                <a:ea typeface="微软雅黑" panose="020B0503020204020204" charset="-122"/>
              </a:rPr>
              <a:t>③公安英烈子女</a:t>
            </a:r>
            <a:endParaRPr lang="zh-CN" altLang="en-US" sz="1800" b="0" i="0" dirty="0">
              <a:solidFill>
                <a:srgbClr val="000000"/>
              </a:solidFill>
              <a:latin typeface="微软雅黑" panose="020B0503020204020204" charset="-122"/>
              <a:ea typeface="微软雅黑" panose="020B0503020204020204" charset="-122"/>
            </a:endParaRPr>
          </a:p>
          <a:p>
            <a:pPr marL="0" algn="l"/>
            <a:r>
              <a:rPr lang="zh-CN" altLang="en-US" sz="1800" b="0" i="0" dirty="0">
                <a:solidFill>
                  <a:srgbClr val="000000"/>
                </a:solidFill>
                <a:latin typeface="微软雅黑" panose="020B0503020204020204" charset="-122"/>
                <a:ea typeface="微软雅黑" panose="020B0503020204020204" charset="-122"/>
              </a:rPr>
              <a:t>④优秀运动员</a:t>
            </a:r>
            <a:endParaRPr lang="zh-CN" altLang="en-US" sz="1800" b="0" i="0" dirty="0">
              <a:solidFill>
                <a:srgbClr val="000000"/>
              </a:solidFill>
              <a:latin typeface="微软雅黑" panose="020B0503020204020204" charset="-122"/>
              <a:ea typeface="微软雅黑" panose="020B0503020204020204" charset="-122"/>
            </a:endParaRPr>
          </a:p>
        </p:txBody>
      </p:sp>
      <p:sp>
        <p:nvSpPr>
          <p:cNvPr id="11" name="文本3"/>
          <p:cNvSpPr txBox="1"/>
          <p:nvPr/>
        </p:nvSpPr>
        <p:spPr>
          <a:xfrm>
            <a:off x="2634072" y="3458775"/>
            <a:ext cx="2080622" cy="1759435"/>
          </a:xfrm>
          <a:prstGeom prst="rect">
            <a:avLst/>
          </a:prstGeom>
          <a:noFill/>
        </p:spPr>
        <p:txBody>
          <a:bodyPr wrap="square" rtlCol="0" anchor="t"/>
          <a:lstStyle/>
          <a:p>
            <a:pPr marL="0" algn="l"/>
            <a:r>
              <a:rPr lang="zh-CN" altLang="en-US" sz="1800" b="0" i="0" dirty="0">
                <a:solidFill>
                  <a:srgbClr val="000000"/>
                </a:solidFill>
                <a:latin typeface="微软雅黑" panose="020B0503020204020204" charset="-122"/>
                <a:ea typeface="微软雅黑" panose="020B0503020204020204" charset="-122"/>
              </a:rPr>
              <a:t>①考生提报送申请</a:t>
            </a:r>
            <a:endParaRPr lang="zh-CN" altLang="en-US" sz="1800" b="0" i="0" dirty="0">
              <a:solidFill>
                <a:srgbClr val="000000"/>
              </a:solidFill>
              <a:latin typeface="微软雅黑" panose="020B0503020204020204" charset="-122"/>
              <a:ea typeface="微软雅黑" panose="020B0503020204020204" charset="-122"/>
            </a:endParaRPr>
          </a:p>
          <a:p>
            <a:pPr marL="0" algn="l"/>
            <a:r>
              <a:rPr lang="zh-CN" altLang="en-US" sz="1800" b="0" i="0" dirty="0">
                <a:solidFill>
                  <a:srgbClr val="000000"/>
                </a:solidFill>
                <a:latin typeface="微软雅黑" panose="020B0503020204020204" charset="-122"/>
                <a:ea typeface="微软雅黑" panose="020B0503020204020204" charset="-122"/>
              </a:rPr>
              <a:t>②审核考核</a:t>
            </a:r>
            <a:endParaRPr lang="zh-CN" altLang="en-US" sz="1800" b="0" i="0" dirty="0">
              <a:solidFill>
                <a:srgbClr val="000000"/>
              </a:solidFill>
              <a:latin typeface="微软雅黑" panose="020B0503020204020204" charset="-122"/>
              <a:ea typeface="微软雅黑" panose="020B0503020204020204" charset="-122"/>
            </a:endParaRPr>
          </a:p>
          <a:p>
            <a:pPr marL="0" algn="l"/>
            <a:r>
              <a:rPr lang="zh-CN" altLang="en-US" sz="1800" b="0" i="0" dirty="0">
                <a:solidFill>
                  <a:srgbClr val="000000"/>
                </a:solidFill>
                <a:latin typeface="微软雅黑" panose="020B0503020204020204" charset="-122"/>
                <a:ea typeface="微软雅黑" panose="020B0503020204020204" charset="-122"/>
              </a:rPr>
              <a:t>③高校公示</a:t>
            </a:r>
            <a:endParaRPr lang="zh-CN" altLang="en-US" sz="1800" b="0" i="0" dirty="0">
              <a:solidFill>
                <a:srgbClr val="000000"/>
              </a:solidFill>
              <a:latin typeface="微软雅黑" panose="020B0503020204020204" charset="-122"/>
              <a:ea typeface="微软雅黑" panose="020B0503020204020204" charset="-122"/>
            </a:endParaRPr>
          </a:p>
          <a:p>
            <a:pPr marL="0" algn="l"/>
            <a:r>
              <a:rPr lang="zh-CN" altLang="en-US" sz="1800" b="0" i="0" dirty="0">
                <a:solidFill>
                  <a:srgbClr val="000000"/>
                </a:solidFill>
                <a:latin typeface="微软雅黑" panose="020B0503020204020204" charset="-122"/>
                <a:ea typeface="微软雅黑" panose="020B0503020204020204" charset="-122"/>
              </a:rPr>
              <a:t>④办理录取手续</a:t>
            </a:r>
            <a:endParaRPr lang="zh-CN" altLang="en-US" sz="1800" b="0" i="0" dirty="0">
              <a:solidFill>
                <a:srgbClr val="000000"/>
              </a:solidFill>
              <a:latin typeface="微软雅黑" panose="020B0503020204020204" charset="-122"/>
              <a:ea typeface="微软雅黑" panose="020B0503020204020204" charset="-122"/>
            </a:endParaRPr>
          </a:p>
        </p:txBody>
      </p:sp>
      <p:sp>
        <p:nvSpPr>
          <p:cNvPr id="12" name="文本4"/>
          <p:cNvSpPr txBox="1"/>
          <p:nvPr/>
        </p:nvSpPr>
        <p:spPr>
          <a:xfrm>
            <a:off x="4598918" y="2954484"/>
            <a:ext cx="2287397" cy="2543903"/>
          </a:xfrm>
          <a:prstGeom prst="rect">
            <a:avLst/>
          </a:prstGeom>
          <a:noFill/>
        </p:spPr>
        <p:txBody>
          <a:bodyPr wrap="square" rtlCol="0" anchor="t"/>
          <a:lstStyle/>
          <a:p>
            <a:pPr marL="0" algn="l"/>
          </a:p>
          <a:p>
            <a:pPr marL="0" algn="l"/>
            <a:r>
              <a:rPr lang="zh-CN" altLang="en-US" sz="1800" b="0" i="0" dirty="0">
                <a:solidFill>
                  <a:srgbClr val="000000"/>
                </a:solidFill>
                <a:latin typeface="微软雅黑" panose="020B0503020204020204" charset="-122"/>
                <a:ea typeface="微软雅黑" panose="020B0503020204020204" charset="-122"/>
              </a:rPr>
              <a:t>16所外国语学校推荐</a:t>
            </a:r>
            <a:endParaRPr lang="zh-CN" altLang="en-US" sz="1800" b="0" i="0" dirty="0">
              <a:solidFill>
                <a:srgbClr val="000000"/>
              </a:solidFill>
              <a:latin typeface="微软雅黑" panose="020B0503020204020204" charset="-122"/>
              <a:ea typeface="微软雅黑" panose="020B0503020204020204" charset="-122"/>
            </a:endParaRPr>
          </a:p>
          <a:p>
            <a:pPr marL="0" algn="l"/>
            <a:r>
              <a:rPr lang="zh-CN" altLang="en-US" sz="1800" b="0" i="0" dirty="0">
                <a:solidFill>
                  <a:srgbClr val="000000"/>
                </a:solidFill>
                <a:latin typeface="微软雅黑" panose="020B0503020204020204" charset="-122"/>
                <a:ea typeface="微软雅黑" panose="020B0503020204020204" charset="-122"/>
              </a:rPr>
              <a:t>5大学科竞赛</a:t>
            </a:r>
            <a:endParaRPr lang="zh-CN" altLang="en-US" sz="1800" b="0" i="0" dirty="0">
              <a:solidFill>
                <a:srgbClr val="000000"/>
              </a:solidFill>
              <a:latin typeface="微软雅黑" panose="020B0503020204020204" charset="-122"/>
              <a:ea typeface="微软雅黑" panose="020B0503020204020204" charset="-122"/>
            </a:endParaRPr>
          </a:p>
          <a:p>
            <a:pPr marL="0" algn="l"/>
            <a:r>
              <a:rPr lang="zh-CN" altLang="en-US" sz="1800" b="0" i="0" dirty="0">
                <a:solidFill>
                  <a:srgbClr val="000000"/>
                </a:solidFill>
                <a:latin typeface="微软雅黑" panose="020B0503020204020204" charset="-122"/>
                <a:ea typeface="微软雅黑" panose="020B0503020204020204" charset="-122"/>
              </a:rPr>
              <a:t>优秀运动员</a:t>
            </a:r>
            <a:endParaRPr lang="zh-CN" altLang="en-US" sz="1800" b="0" i="0" dirty="0">
              <a:solidFill>
                <a:srgbClr val="000000"/>
              </a:solidFill>
              <a:latin typeface="微软雅黑" panose="020B0503020204020204" charset="-122"/>
              <a:ea typeface="微软雅黑" panose="020B0503020204020204" charset="-122"/>
            </a:endParaRPr>
          </a:p>
          <a:p>
            <a:pPr marL="0" algn="l"/>
            <a:r>
              <a:rPr lang="zh-CN" altLang="en-US" sz="1800" b="0" i="0" dirty="0">
                <a:solidFill>
                  <a:srgbClr val="000000"/>
                </a:solidFill>
                <a:latin typeface="微软雅黑" panose="020B0503020204020204" charset="-122"/>
                <a:ea typeface="微软雅黑" panose="020B0503020204020204" charset="-122"/>
              </a:rPr>
              <a:t>公安英烈子女</a:t>
            </a:r>
            <a:endParaRPr lang="zh-CN" altLang="en-US" sz="1800" b="0" i="0" dirty="0">
              <a:solidFill>
                <a:srgbClr val="000000"/>
              </a:solidFill>
              <a:latin typeface="微软雅黑" panose="020B0503020204020204" charset="-122"/>
              <a:ea typeface="微软雅黑" panose="020B0503020204020204" charset="-122"/>
            </a:endParaRPr>
          </a:p>
          <a:p>
            <a:pPr marL="0" algn="l"/>
          </a:p>
        </p:txBody>
      </p:sp>
      <p:pic>
        <p:nvPicPr>
          <p:cNvPr id="13" name="图片3"/>
          <p:cNvPicPr>
            <a:picLocks noChangeAspect="1"/>
          </p:cNvPicPr>
          <p:nvPr/>
        </p:nvPicPr>
        <p:blipFill>
          <a:blip r:embed="rId4"/>
          <a:stretch>
            <a:fillRect/>
          </a:stretch>
        </p:blipFill>
        <p:spPr>
          <a:xfrm>
            <a:off x="6185973" y="-562"/>
            <a:ext cx="5929332" cy="6857695"/>
          </a:xfrm>
          <a:prstGeom prst="rect">
            <a:avLst/>
          </a:prstGeom>
        </p:spPr>
      </p:pic>
      <p:pic>
        <p:nvPicPr>
          <p:cNvPr id="14" name="图片4"/>
          <p:cNvPicPr>
            <a:picLocks noChangeAspect="1"/>
          </p:cNvPicPr>
          <p:nvPr/>
        </p:nvPicPr>
        <p:blipFill>
          <a:blip r:embed="rId5"/>
          <a:stretch>
            <a:fillRect/>
          </a:stretch>
        </p:blipFill>
        <p:spPr>
          <a:xfrm>
            <a:off x="4662488" y="2408606"/>
            <a:ext cx="7516416" cy="3632092"/>
          </a:xfrm>
          <a:prstGeom prst="rect">
            <a:avLst/>
          </a:prstGeom>
          <a:ln w="28575">
            <a:solidFill>
              <a:srgbClr val="000000"/>
            </a:solidFill>
            <a:prstDash val="solid"/>
          </a:ln>
        </p:spPr>
      </p:pic>
      <p:pic>
        <p:nvPicPr>
          <p:cNvPr id="15" name="图片5"/>
          <p:cNvPicPr>
            <a:picLocks noChangeAspect="1"/>
          </p:cNvPicPr>
          <p:nvPr/>
        </p:nvPicPr>
        <p:blipFill>
          <a:blip r:embed="rId6"/>
          <a:stretch>
            <a:fillRect/>
          </a:stretch>
        </p:blipFill>
        <p:spPr>
          <a:xfrm>
            <a:off x="4627445" y="2406644"/>
            <a:ext cx="7586358" cy="3635369"/>
          </a:xfrm>
          <a:prstGeom prst="rect">
            <a:avLst/>
          </a:prstGeom>
          <a:ln w="28575">
            <a:solidFill>
              <a:srgbClr val="000000"/>
            </a:solidFill>
            <a:prstDash val="solid"/>
          </a:ln>
        </p:spPr>
      </p:pic>
      <p:pic>
        <p:nvPicPr>
          <p:cNvPr id="17" name="图片 16"/>
          <p:cNvPicPr/>
          <p:nvPr/>
        </p:nvPicPr>
        <p:blipFill>
          <a:blip r:embed="rId7"/>
          <a:stretch>
            <a:fillRect/>
          </a:stretch>
        </p:blipFill>
        <p:spPr>
          <a:xfrm>
            <a:off x="4596765" y="1510030"/>
            <a:ext cx="7518400" cy="45307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3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3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3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3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grpId="1" nodeType="clickEffect">
                                  <p:stCondLst>
                                    <p:cond delay="0"/>
                                  </p:stCondLst>
                                  <p:childTnLst>
                                    <p:set>
                                      <p:cBhvr>
                                        <p:cTn id="26" dur="1" fill="hold">
                                          <p:stCondLst>
                                            <p:cond delay="300"/>
                                          </p:stCondLst>
                                        </p:cTn>
                                        <p:tgtEl>
                                          <p:spTgt spid="13"/>
                                        </p:tgtEl>
                                        <p:attrNameLst>
                                          <p:attrName>style.visibility</p:attrName>
                                        </p:attrNameLst>
                                      </p:cBhvr>
                                      <p:to>
                                        <p:strVal val="hidden"/>
                                      </p:to>
                                    </p:set>
                                    <p:animEffect transition="out" filter="fade">
                                      <p:cBhvr>
                                        <p:cTn id="27" dur="3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3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xit" presetSubtype="0" fill="hold" grpId="1" nodeType="clickEffect">
                                  <p:stCondLst>
                                    <p:cond delay="0"/>
                                  </p:stCondLst>
                                  <p:childTnLst>
                                    <p:set>
                                      <p:cBhvr>
                                        <p:cTn id="36" dur="1" fill="hold">
                                          <p:stCondLst>
                                            <p:cond delay="300"/>
                                          </p:stCondLst>
                                        </p:cTn>
                                        <p:tgtEl>
                                          <p:spTgt spid="14"/>
                                        </p:tgtEl>
                                        <p:attrNameLst>
                                          <p:attrName>style.visibility</p:attrName>
                                        </p:attrNameLst>
                                      </p:cBhvr>
                                      <p:to>
                                        <p:strVal val="hidden"/>
                                      </p:to>
                                    </p:set>
                                    <p:animEffect transition="out" filter="fade">
                                      <p:cBhvr>
                                        <p:cTn id="37" dur="3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3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xit" presetSubtype="0" fill="hold" grpId="1" nodeType="clickEffect">
                                  <p:stCondLst>
                                    <p:cond delay="0"/>
                                  </p:stCondLst>
                                  <p:childTnLst>
                                    <p:set>
                                      <p:cBhvr>
                                        <p:cTn id="46" dur="1" fill="hold">
                                          <p:stCondLst>
                                            <p:cond delay="300"/>
                                          </p:stCondLst>
                                        </p:cTn>
                                        <p:tgtEl>
                                          <p:spTgt spid="15"/>
                                        </p:tgtEl>
                                        <p:attrNameLst>
                                          <p:attrName>style.visibility</p:attrName>
                                        </p:attrNameLst>
                                      </p:cBhvr>
                                      <p:to>
                                        <p:strVal val="hidden"/>
                                      </p:to>
                                    </p:set>
                                    <p:animEffect transition="out" filter="fade">
                                      <p:cBhvr>
                                        <p:cTn id="47" dur="300"/>
                                        <p:tgtEl>
                                          <p:spTgt spid="15"/>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3" grpId="1" animBg="1"/>
      <p:bldP spid="14" grpId="0" animBg="1"/>
      <p:bldP spid="14" grpId="1" animBg="1"/>
      <p:bldP spid="15" grpId="0" animBg="1"/>
      <p:bldP spid="15"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rcRect l="9392" t="16518" r="27720" b="6946"/>
          <a:stretch>
            <a:fillRect/>
          </a:stretch>
        </p:blipFill>
        <p:spPr>
          <a:xfrm rot="5400000">
            <a:off x="2667002" y="-2666999"/>
            <a:ext cx="6857996" cy="12192000"/>
          </a:xfrm>
          <a:prstGeom prst="rect">
            <a:avLst/>
          </a:prstGeom>
        </p:spPr>
      </p:pic>
      <p:sp>
        <p:nvSpPr>
          <p:cNvPr id="3" name="形状1"/>
          <p:cNvSpPr txBox="1"/>
          <p:nvPr/>
        </p:nvSpPr>
        <p:spPr>
          <a:xfrm>
            <a:off x="89937" y="117262"/>
            <a:ext cx="12025863" cy="6623475"/>
          </a:xfrm>
          <a:prstGeom prst="roundRect">
            <a:avLst/>
          </a:prstGeom>
          <a:solidFill>
            <a:srgbClr val="FFFFFF">
              <a:alpha val="98823"/>
            </a:srgbClr>
          </a:solidFill>
          <a:ln w="9525">
            <a:solidFill>
              <a:srgbClr val="FFFFFF">
                <a:alpha val="0"/>
              </a:srgbClr>
            </a:solidFill>
          </a:ln>
        </p:spPr>
        <p:txBody>
          <a:bodyPr wrap="square" rtlCol="0" anchor="ctr"/>
          <a:lstStyle/>
          <a:p>
            <a:pPr marL="0" algn="ctr"/>
          </a:p>
        </p:txBody>
      </p:sp>
      <p:sp>
        <p:nvSpPr>
          <p:cNvPr id="4" name="形状2"/>
          <p:cNvSpPr txBox="1"/>
          <p:nvPr/>
        </p:nvSpPr>
        <p:spPr>
          <a:xfrm>
            <a:off x="224819" y="2297278"/>
            <a:ext cx="5231498" cy="19050"/>
          </a:xfrm>
          <a:prstGeom prst="line">
            <a:avLst/>
          </a:prstGeom>
          <a:solidFill>
            <a:srgbClr val="5C81CC"/>
          </a:solidFill>
          <a:ln w="57150">
            <a:solidFill>
              <a:srgbClr val="FFD1D1"/>
            </a:solidFill>
            <a:prstDash val="solid"/>
          </a:ln>
        </p:spPr>
        <p:txBody>
          <a:bodyPr wrap="square" rtlCol="0" anchor="ctr"/>
          <a:lstStyle/>
          <a:p>
            <a:pPr marL="0" algn="ctr"/>
          </a:p>
        </p:txBody>
      </p:sp>
      <p:pic>
        <p:nvPicPr>
          <p:cNvPr id="5" name="图片2"/>
          <p:cNvPicPr>
            <a:picLocks noChangeAspect="1"/>
          </p:cNvPicPr>
          <p:nvPr/>
        </p:nvPicPr>
        <p:blipFill>
          <a:blip r:embed="rId2"/>
          <a:srcRect r="2795"/>
          <a:stretch>
            <a:fillRect/>
          </a:stretch>
        </p:blipFill>
        <p:spPr>
          <a:xfrm>
            <a:off x="5387092" y="381"/>
            <a:ext cx="6805203" cy="6857438"/>
          </a:xfrm>
          <a:prstGeom prst="rect">
            <a:avLst/>
          </a:prstGeom>
        </p:spPr>
      </p:pic>
      <p:sp>
        <p:nvSpPr>
          <p:cNvPr id="6" name="文本1"/>
          <p:cNvSpPr txBox="1"/>
          <p:nvPr/>
        </p:nvSpPr>
        <p:spPr>
          <a:xfrm>
            <a:off x="224685" y="2737040"/>
            <a:ext cx="4800600" cy="1879321"/>
          </a:xfrm>
          <a:prstGeom prst="rect">
            <a:avLst/>
          </a:prstGeom>
          <a:noFill/>
        </p:spPr>
        <p:txBody>
          <a:bodyPr wrap="square" rtlCol="0" anchor="t"/>
          <a:lstStyle/>
          <a:p>
            <a:pPr marL="0" algn="l">
              <a:lnSpc>
                <a:spcPct val="150000"/>
              </a:lnSpc>
            </a:pPr>
            <a:r>
              <a:rPr lang="zh-CN" altLang="en-US" sz="1800" b="0" i="0" dirty="0">
                <a:solidFill>
                  <a:srgbClr val="000000"/>
                </a:solidFill>
                <a:latin typeface="微软雅黑" panose="020B0503020204020204" charset="-122"/>
                <a:ea typeface="微软雅黑" panose="020B0503020204020204" charset="-122"/>
                <a:cs typeface="微软雅黑" panose="020B0503020204020204" charset="-122"/>
              </a:rPr>
              <a:t>重点高校招收</a:t>
            </a:r>
            <a:r>
              <a:rPr lang="zh-CN" altLang="en-US" sz="1800" b="1" i="0" dirty="0">
                <a:solidFill>
                  <a:srgbClr val="FF0000"/>
                </a:solidFill>
                <a:latin typeface="微软雅黑" panose="020B0503020204020204" charset="-122"/>
                <a:ea typeface="微软雅黑" panose="020B0503020204020204" charset="-122"/>
                <a:cs typeface="微软雅黑" panose="020B0503020204020204" charset="-122"/>
              </a:rPr>
              <a:t>农村和贫困地区</a:t>
            </a:r>
            <a:r>
              <a:rPr lang="zh-CN" altLang="en-US" sz="1800" b="0" i="0" dirty="0">
                <a:solidFill>
                  <a:srgbClr val="000000"/>
                </a:solidFill>
                <a:latin typeface="微软雅黑" panose="020B0503020204020204" charset="-122"/>
                <a:ea typeface="微软雅黑" panose="020B0503020204020204" charset="-122"/>
                <a:cs typeface="微软雅黑" panose="020B0503020204020204" charset="-122"/>
              </a:rPr>
              <a:t>学生计划统称为“专项计划”，具体包括国家专项计划、地方专项计划、高校专项计划</a:t>
            </a:r>
            <a:r>
              <a:rPr lang="zh-CN" altLang="en-US" sz="1800" b="0" i="0" dirty="0">
                <a:solidFill>
                  <a:srgbClr val="000000"/>
                </a:solidFill>
                <a:latin typeface="微软雅黑" panose="020B0503020204020204" charset="-122"/>
                <a:ea typeface="微软雅黑" panose="020B0503020204020204" charset="-122"/>
              </a:rPr>
              <a:t>。</a:t>
            </a:r>
            <a:endParaRPr lang="zh-CN" altLang="en-US" sz="1800" b="0" i="0" dirty="0">
              <a:solidFill>
                <a:srgbClr val="000000"/>
              </a:solidFill>
              <a:latin typeface="&amp;quot"/>
              <a:ea typeface="&amp;quot"/>
            </a:endParaRPr>
          </a:p>
        </p:txBody>
      </p:sp>
      <p:sp>
        <p:nvSpPr>
          <p:cNvPr id="7" name="文本2"/>
          <p:cNvSpPr txBox="1"/>
          <p:nvPr/>
        </p:nvSpPr>
        <p:spPr>
          <a:xfrm>
            <a:off x="224542" y="1390240"/>
            <a:ext cx="3429000" cy="1059435"/>
          </a:xfrm>
          <a:prstGeom prst="rect">
            <a:avLst/>
          </a:prstGeom>
          <a:noFill/>
        </p:spPr>
        <p:txBody>
          <a:bodyPr wrap="square" rtlCol="0" anchor="t"/>
          <a:lstStyle/>
          <a:p>
            <a:pPr marL="0" algn="l"/>
            <a:r>
              <a:rPr lang="zh-CN" altLang="en-US" sz="3500" b="1" i="0" dirty="0">
                <a:solidFill>
                  <a:srgbClr val="0052FF"/>
                </a:solidFill>
                <a:latin typeface="微软雅黑" panose="020B0503020204020204" charset="-122"/>
                <a:ea typeface="微软雅黑" panose="020B0503020204020204" charset="-122"/>
              </a:rPr>
              <a:t>三大专项计</a:t>
            </a:r>
            <a:r>
              <a:rPr lang="zh-CN" altLang="en-US" sz="3500" b="1" i="0" dirty="0">
                <a:solidFill>
                  <a:srgbClr val="0052FF"/>
                </a:solidFill>
                <a:latin typeface="微软雅黑" panose="020B0503020204020204" charset="-122"/>
                <a:ea typeface="微软雅黑" panose="020B0503020204020204" charset="-122"/>
              </a:rPr>
              <a:t>划</a:t>
            </a:r>
            <a:endParaRPr lang="zh-CN" altLang="en-US" sz="3500" b="1" i="0" dirty="0">
              <a:solidFill>
                <a:srgbClr val="0052FF"/>
              </a:solidFill>
              <a:latin typeface="微软雅黑" panose="020B0503020204020204" charset="-122"/>
              <a:ea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5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3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3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tretch>
            <a:fillRect/>
          </a:stretch>
        </p:blipFill>
        <p:spPr>
          <a:xfrm>
            <a:off x="-9554" y="48"/>
            <a:ext cx="12201554" cy="685805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rcRect l="9392" t="16518" r="27720" b="6946"/>
          <a:stretch>
            <a:fillRect/>
          </a:stretch>
        </p:blipFill>
        <p:spPr>
          <a:xfrm rot="5400000">
            <a:off x="2667002" y="-2666999"/>
            <a:ext cx="6857996" cy="12192000"/>
          </a:xfrm>
          <a:prstGeom prst="rect">
            <a:avLst/>
          </a:prstGeom>
        </p:spPr>
      </p:pic>
      <p:sp>
        <p:nvSpPr>
          <p:cNvPr id="3" name="形状1"/>
          <p:cNvSpPr txBox="1"/>
          <p:nvPr/>
        </p:nvSpPr>
        <p:spPr>
          <a:xfrm>
            <a:off x="89937" y="117262"/>
            <a:ext cx="12025863" cy="6623475"/>
          </a:xfrm>
          <a:prstGeom prst="roundRect">
            <a:avLst/>
          </a:prstGeom>
          <a:solidFill>
            <a:srgbClr val="FFFFFF">
              <a:alpha val="98823"/>
            </a:srgbClr>
          </a:solidFill>
          <a:ln w="9525">
            <a:solidFill>
              <a:srgbClr val="FFFFFF">
                <a:alpha val="0"/>
              </a:srgbClr>
            </a:solidFill>
          </a:ln>
        </p:spPr>
        <p:txBody>
          <a:bodyPr wrap="square" rtlCol="0" anchor="ctr"/>
          <a:lstStyle/>
          <a:p>
            <a:pPr marL="0" algn="ctr"/>
          </a:p>
        </p:txBody>
      </p:sp>
      <p:pic>
        <p:nvPicPr>
          <p:cNvPr id="4" name="图片2"/>
          <p:cNvPicPr>
            <a:picLocks noChangeAspect="1"/>
          </p:cNvPicPr>
          <p:nvPr/>
        </p:nvPicPr>
        <p:blipFill>
          <a:blip r:embed="rId2"/>
          <a:stretch>
            <a:fillRect/>
          </a:stretch>
        </p:blipFill>
        <p:spPr>
          <a:xfrm rot="4613640">
            <a:off x="200440" y="184833"/>
            <a:ext cx="1189917" cy="1020701"/>
          </a:xfrm>
          <a:prstGeom prst="rect">
            <a:avLst/>
          </a:prstGeom>
        </p:spPr>
      </p:pic>
      <p:sp>
        <p:nvSpPr>
          <p:cNvPr id="5" name="文本1"/>
          <p:cNvSpPr txBox="1"/>
          <p:nvPr/>
        </p:nvSpPr>
        <p:spPr>
          <a:xfrm>
            <a:off x="1893951" y="422399"/>
            <a:ext cx="9321184" cy="546481"/>
          </a:xfrm>
          <a:prstGeom prst="rect">
            <a:avLst/>
          </a:prstGeom>
          <a:noFill/>
        </p:spPr>
        <p:txBody>
          <a:bodyPr wrap="square" rtlCol="0" anchor="t"/>
          <a:lstStyle/>
          <a:p>
            <a:pPr marL="0" algn="l"/>
            <a:r>
              <a:rPr lang="zh-CN" altLang="en-US" sz="2000" b="0" i="0" dirty="0">
                <a:solidFill>
                  <a:srgbClr val="222222"/>
                </a:solidFill>
                <a:latin typeface="方正粗黑宋简体" panose="02000000000000000000" charset="-122"/>
                <a:ea typeface="方正粗黑宋简体" panose="02000000000000000000" charset="-122"/>
              </a:rPr>
              <a:t>福建省202</a:t>
            </a:r>
            <a:r>
              <a:rPr lang="en-US" altLang="zh-CN" sz="2000" b="0" i="0" dirty="0">
                <a:solidFill>
                  <a:srgbClr val="222222"/>
                </a:solidFill>
                <a:latin typeface="方正粗黑宋简体" panose="02000000000000000000" charset="-122"/>
                <a:ea typeface="方正粗黑宋简体" panose="02000000000000000000" charset="-122"/>
              </a:rPr>
              <a:t>4</a:t>
            </a:r>
            <a:r>
              <a:rPr lang="zh-CN" altLang="en-US" sz="2000" b="0" i="0" dirty="0">
                <a:solidFill>
                  <a:srgbClr val="222222"/>
                </a:solidFill>
                <a:latin typeface="方正粗黑宋简体" panose="02000000000000000000" charset="-122"/>
                <a:ea typeface="方正粗黑宋简体" panose="02000000000000000000" charset="-122"/>
              </a:rPr>
              <a:t>年、</a:t>
            </a:r>
            <a:r>
              <a:rPr lang="en-US" altLang="zh-CN" sz="2000" b="0" i="0" dirty="0">
                <a:solidFill>
                  <a:srgbClr val="222222"/>
                </a:solidFill>
                <a:latin typeface="方正粗黑宋简体" panose="02000000000000000000" charset="-122"/>
                <a:ea typeface="方正粗黑宋简体" panose="02000000000000000000" charset="-122"/>
              </a:rPr>
              <a:t>2023</a:t>
            </a:r>
            <a:r>
              <a:rPr lang="zh-CN" altLang="en-US" sz="2000" b="0" i="0" dirty="0">
                <a:solidFill>
                  <a:srgbClr val="222222"/>
                </a:solidFill>
                <a:latin typeface="方正粗黑宋简体" panose="02000000000000000000" charset="-122"/>
                <a:ea typeface="方正粗黑宋简体" panose="02000000000000000000" charset="-122"/>
              </a:rPr>
              <a:t>年普通高校招生录取</a:t>
            </a:r>
            <a:r>
              <a:rPr lang="zh-CN" altLang="en-US" sz="2000" b="1" i="0" dirty="0">
                <a:solidFill>
                  <a:srgbClr val="FF0000"/>
                </a:solidFill>
                <a:latin typeface="方正粗黑宋简体" panose="02000000000000000000" charset="-122"/>
                <a:ea typeface="方正粗黑宋简体" panose="02000000000000000000" charset="-122"/>
              </a:rPr>
              <a:t>体育类、艺术类</a:t>
            </a:r>
            <a:r>
              <a:rPr lang="zh-CN" altLang="en-US" sz="2000" b="0" i="0" dirty="0">
                <a:solidFill>
                  <a:srgbClr val="222222"/>
                </a:solidFill>
                <a:latin typeface="方正粗黑宋简体" panose="02000000000000000000" charset="-122"/>
                <a:ea typeface="方正粗黑宋简体" panose="02000000000000000000" charset="-122"/>
              </a:rPr>
              <a:t>最低投档控制分数线</a:t>
            </a:r>
            <a:endParaRPr lang="zh-CN" altLang="en-US" sz="2000" b="0" i="0" dirty="0">
              <a:solidFill>
                <a:srgbClr val="222222"/>
              </a:solidFill>
              <a:latin typeface="方正粗黑宋简体" panose="02000000000000000000" charset="-122"/>
              <a:ea typeface="方正粗黑宋简体" panose="02000000000000000000" charset="-122"/>
            </a:endParaRPr>
          </a:p>
        </p:txBody>
      </p:sp>
      <p:pic>
        <p:nvPicPr>
          <p:cNvPr id="11" name="图片 10"/>
          <p:cNvPicPr>
            <a:picLocks noChangeAspect="1"/>
          </p:cNvPicPr>
          <p:nvPr/>
        </p:nvPicPr>
        <p:blipFill>
          <a:blip r:embed="rId3"/>
          <a:srcRect t="4921" b="4090"/>
          <a:stretch>
            <a:fillRect/>
          </a:stretch>
        </p:blipFill>
        <p:spPr>
          <a:xfrm>
            <a:off x="6394450" y="925195"/>
            <a:ext cx="4924425" cy="5494655"/>
          </a:xfrm>
          <a:prstGeom prst="rect">
            <a:avLst/>
          </a:prstGeom>
        </p:spPr>
      </p:pic>
      <p:pic>
        <p:nvPicPr>
          <p:cNvPr id="6" name="图片 5"/>
          <p:cNvPicPr/>
          <p:nvPr/>
        </p:nvPicPr>
        <p:blipFill>
          <a:blip r:embed="rId4"/>
          <a:stretch>
            <a:fillRect/>
          </a:stretch>
        </p:blipFill>
        <p:spPr>
          <a:xfrm>
            <a:off x="1574165" y="929005"/>
            <a:ext cx="4074160" cy="5490845"/>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rcRect l="9392" t="16518" r="27720" b="6946"/>
          <a:stretch>
            <a:fillRect/>
          </a:stretch>
        </p:blipFill>
        <p:spPr>
          <a:xfrm rot="5400000">
            <a:off x="2667002" y="-2666999"/>
            <a:ext cx="6857996" cy="12192000"/>
          </a:xfrm>
          <a:prstGeom prst="rect">
            <a:avLst/>
          </a:prstGeom>
        </p:spPr>
      </p:pic>
      <p:sp>
        <p:nvSpPr>
          <p:cNvPr id="3" name="形状1"/>
          <p:cNvSpPr txBox="1"/>
          <p:nvPr/>
        </p:nvSpPr>
        <p:spPr>
          <a:xfrm>
            <a:off x="89937" y="117262"/>
            <a:ext cx="12025863" cy="6623475"/>
          </a:xfrm>
          <a:prstGeom prst="roundRect">
            <a:avLst/>
          </a:prstGeom>
          <a:solidFill>
            <a:srgbClr val="FFFFFF">
              <a:alpha val="98823"/>
            </a:srgbClr>
          </a:solidFill>
          <a:ln w="9525">
            <a:solidFill>
              <a:srgbClr val="FFFFFF">
                <a:alpha val="0"/>
              </a:srgbClr>
            </a:solidFill>
          </a:ln>
        </p:spPr>
        <p:txBody>
          <a:bodyPr wrap="square" rtlCol="0" anchor="ctr"/>
          <a:lstStyle/>
          <a:p>
            <a:pPr marL="0" algn="ctr"/>
          </a:p>
        </p:txBody>
      </p:sp>
      <p:pic>
        <p:nvPicPr>
          <p:cNvPr id="4" name="图片2"/>
          <p:cNvPicPr>
            <a:picLocks noChangeAspect="1"/>
          </p:cNvPicPr>
          <p:nvPr/>
        </p:nvPicPr>
        <p:blipFill>
          <a:blip r:embed="rId2"/>
          <a:stretch>
            <a:fillRect/>
          </a:stretch>
        </p:blipFill>
        <p:spPr>
          <a:xfrm rot="4613640">
            <a:off x="200440" y="184833"/>
            <a:ext cx="1189917" cy="1020701"/>
          </a:xfrm>
          <a:prstGeom prst="rect">
            <a:avLst/>
          </a:prstGeom>
        </p:spPr>
      </p:pic>
      <p:grpSp>
        <p:nvGrpSpPr>
          <p:cNvPr id="5" name="组合1"/>
          <p:cNvGrpSpPr/>
          <p:nvPr/>
        </p:nvGrpSpPr>
        <p:grpSpPr>
          <a:xfrm>
            <a:off x="4462301" y="537153"/>
            <a:ext cx="3855082" cy="579839"/>
            <a:chOff x="0" y="0"/>
            <a:chExt cx="3855082" cy="579839"/>
          </a:xfrm>
        </p:grpSpPr>
        <p:sp>
          <p:nvSpPr>
            <p:cNvPr id="6" name="形状2"/>
            <p:cNvSpPr txBox="1"/>
            <p:nvPr/>
          </p:nvSpPr>
          <p:spPr>
            <a:xfrm>
              <a:off x="1977" y="37208"/>
              <a:ext cx="3756200" cy="345840"/>
            </a:xfrm>
            <a:prstGeom prst="rect">
              <a:avLst/>
            </a:prstGeom>
            <a:solidFill>
              <a:srgbClr val="FFFFFF">
                <a:alpha val="0"/>
              </a:srgbClr>
            </a:solidFill>
            <a:ln w="9525">
              <a:solidFill>
                <a:srgbClr val="FFFFFF">
                  <a:alpha val="0"/>
                </a:srgbClr>
              </a:solidFill>
            </a:ln>
          </p:spPr>
          <p:txBody>
            <a:bodyPr wrap="square" rtlCol="0" anchor="ctr"/>
            <a:lstStyle/>
            <a:p>
              <a:pPr marL="0" algn="ctr"/>
            </a:p>
          </p:txBody>
        </p:sp>
        <p:sp>
          <p:nvSpPr>
            <p:cNvPr id="7" name="文本3"/>
            <p:cNvSpPr txBox="1"/>
            <p:nvPr/>
          </p:nvSpPr>
          <p:spPr>
            <a:xfrm>
              <a:off x="0" y="0"/>
              <a:ext cx="3855082" cy="579839"/>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途径一：艺术类</a:t>
              </a:r>
              <a:endParaRPr lang="zh-CN" altLang="en-US" sz="2400" b="0" i="0" dirty="0">
                <a:solidFill>
                  <a:srgbClr val="000000"/>
                </a:solidFill>
                <a:latin typeface="方正粗黑宋简体" panose="02000000000000000000" charset="-122"/>
                <a:ea typeface="方正粗黑宋简体" panose="02000000000000000000" charset="-122"/>
              </a:endParaRPr>
            </a:p>
          </p:txBody>
        </p:sp>
      </p:grpSp>
      <p:sp>
        <p:nvSpPr>
          <p:cNvPr id="8" name="文本1"/>
          <p:cNvSpPr txBox="1"/>
          <p:nvPr/>
        </p:nvSpPr>
        <p:spPr>
          <a:xfrm>
            <a:off x="755126" y="1390825"/>
            <a:ext cx="4962525" cy="2544083"/>
          </a:xfrm>
          <a:prstGeom prst="rect">
            <a:avLst/>
          </a:prstGeom>
          <a:noFill/>
        </p:spPr>
        <p:txBody>
          <a:bodyPr wrap="square" rtlCol="0" anchor="t"/>
          <a:lstStyle/>
          <a:p>
            <a:pPr marL="0" algn="l">
              <a:lnSpc>
                <a:spcPct val="140000"/>
              </a:lnSpc>
            </a:pPr>
            <a:r>
              <a:rPr lang="zh-CN" altLang="en-US" sz="1800" b="1" i="0" dirty="0">
                <a:solidFill>
                  <a:srgbClr val="1A5CB3"/>
                </a:solidFill>
                <a:latin typeface="方正粗黑宋简体" panose="02000000000000000000" charset="-122"/>
                <a:ea typeface="方正粗黑宋简体" panose="02000000000000000000" charset="-122"/>
              </a:rPr>
              <a:t>艺术类专业招生</a:t>
            </a:r>
            <a:r>
              <a:rPr lang="zh-CN" altLang="en-US" sz="1800" b="0" i="0" dirty="0">
                <a:solidFill>
                  <a:srgbClr val="292929"/>
                </a:solidFill>
                <a:latin typeface="微软雅黑 Light" panose="020B0502040204020203" charset="-122"/>
                <a:ea typeface="微软雅黑 Light" panose="020B0502040204020203" charset="-122"/>
              </a:rPr>
              <a:t>（艺考统招）主要指高校艺术类专业经过省级招生机构组织的专业测试和(或)学校的专业测试，</a:t>
            </a:r>
            <a:r>
              <a:rPr lang="zh-CN" altLang="en-US" sz="1800" b="1" i="0" dirty="0">
                <a:solidFill>
                  <a:srgbClr val="292929"/>
                </a:solidFill>
                <a:latin typeface="微软雅黑 Light" panose="020B0502040204020203" charset="-122"/>
                <a:ea typeface="微软雅黑 Light" panose="020B0502040204020203" charset="-122"/>
              </a:rPr>
              <a:t>结合高考成绩</a:t>
            </a:r>
            <a:r>
              <a:rPr lang="zh-CN" altLang="en-US" sz="1800" b="0" i="0" dirty="0">
                <a:solidFill>
                  <a:srgbClr val="292929"/>
                </a:solidFill>
                <a:latin typeface="微软雅黑 Light" panose="020B0502040204020203" charset="-122"/>
                <a:ea typeface="微软雅黑 Light" panose="020B0502040204020203" charset="-122"/>
              </a:rPr>
              <a:t>择优为艺术类专业选拔人才的一种招生方式。也分为提前批、本科批、专科批。</a:t>
            </a:r>
            <a:endParaRPr lang="zh-CN" altLang="en-US" sz="1800" b="0" i="0" dirty="0">
              <a:solidFill>
                <a:srgbClr val="292929"/>
              </a:solidFill>
              <a:latin typeface="微软雅黑 Light" panose="020B0502040204020203" charset="-122"/>
              <a:ea typeface="微软雅黑 Light" panose="020B0502040204020203" charset="-122"/>
            </a:endParaRPr>
          </a:p>
          <a:p>
            <a:pPr marL="0" algn="l">
              <a:lnSpc>
                <a:spcPct val="140000"/>
              </a:lnSpc>
            </a:pPr>
          </a:p>
        </p:txBody>
      </p:sp>
      <p:sp>
        <p:nvSpPr>
          <p:cNvPr id="9" name="文本2"/>
          <p:cNvSpPr txBox="1"/>
          <p:nvPr/>
        </p:nvSpPr>
        <p:spPr>
          <a:xfrm>
            <a:off x="6364176" y="1416539"/>
            <a:ext cx="4981575" cy="2151849"/>
          </a:xfrm>
          <a:prstGeom prst="rect">
            <a:avLst/>
          </a:prstGeom>
          <a:noFill/>
        </p:spPr>
        <p:txBody>
          <a:bodyPr wrap="square" rtlCol="0" anchor="t"/>
          <a:lstStyle/>
          <a:p>
            <a:pPr marL="0" algn="l">
              <a:lnSpc>
                <a:spcPct val="160000"/>
              </a:lnSpc>
            </a:pPr>
            <a:r>
              <a:rPr lang="zh-CN" altLang="en-US" sz="1800" b="1" i="0" dirty="0">
                <a:solidFill>
                  <a:srgbClr val="1A5CB3"/>
                </a:solidFill>
                <a:latin typeface="方正粗黑宋简体" panose="02000000000000000000" charset="-122"/>
                <a:ea typeface="方正粗黑宋简体" panose="02000000000000000000" charset="-122"/>
              </a:rPr>
              <a:t>高水平艺术团招生</a:t>
            </a:r>
            <a:r>
              <a:rPr lang="zh-CN" altLang="en-US" sz="1800" b="0" i="0" dirty="0">
                <a:solidFill>
                  <a:srgbClr val="222222"/>
                </a:solidFill>
                <a:latin typeface="微软雅黑 Light" panose="020B0502040204020203" charset="-122"/>
                <a:ea typeface="微软雅黑 Light" panose="020B0502040204020203" charset="-122"/>
              </a:rPr>
              <a:t>是指部分高校为活跃校园文化、丰富校园生活而招收具有艺术特长的考生。</a:t>
            </a:r>
            <a:r>
              <a:rPr lang="zh-CN" altLang="en-US" sz="1800" b="0" i="0" dirty="0">
                <a:solidFill>
                  <a:srgbClr val="FF0000"/>
                </a:solidFill>
                <a:latin typeface="微软雅黑 Light" panose="020B0502040204020203" charset="-122"/>
                <a:ea typeface="微软雅黑 Light" panose="020B0502040204020203" charset="-122"/>
              </a:rPr>
              <a:t>2</a:t>
            </a:r>
            <a:r>
              <a:rPr lang="zh-CN" altLang="en-US" sz="1800" b="1" i="0" dirty="0">
                <a:solidFill>
                  <a:srgbClr val="FF0000"/>
                </a:solidFill>
                <a:latin typeface="微软雅黑 Light" panose="020B0502040204020203" charset="-122"/>
                <a:ea typeface="微软雅黑 Light" panose="020B0502040204020203" charset="-122"/>
              </a:rPr>
              <a:t>024年起，高校高水平艺术团不再从高校招生环节选拔，由相关高校从在校生中遴选培养。</a:t>
            </a:r>
            <a:endParaRPr lang="zh-CN" altLang="en-US" sz="1800" b="1" i="0" dirty="0">
              <a:solidFill>
                <a:srgbClr val="FF0000"/>
              </a:solidFill>
              <a:latin typeface="微软雅黑 Light" panose="020B0502040204020203" charset="-122"/>
              <a:ea typeface="微软雅黑 Light" panose="020B0502040204020203" charset="-122"/>
            </a:endParaRPr>
          </a:p>
        </p:txBody>
      </p:sp>
      <p:pic>
        <p:nvPicPr>
          <p:cNvPr id="10" name="图片3"/>
          <p:cNvPicPr>
            <a:picLocks noChangeAspect="1"/>
          </p:cNvPicPr>
          <p:nvPr/>
        </p:nvPicPr>
        <p:blipFill>
          <a:blip r:embed="rId3"/>
          <a:stretch>
            <a:fillRect/>
          </a:stretch>
        </p:blipFill>
        <p:spPr>
          <a:xfrm>
            <a:off x="919731" y="3428829"/>
            <a:ext cx="4248150" cy="2323509"/>
          </a:xfrm>
          <a:prstGeom prst="rect">
            <a:avLst/>
          </a:prstGeom>
        </p:spPr>
      </p:pic>
      <p:pic>
        <p:nvPicPr>
          <p:cNvPr id="11" name="图片4"/>
          <p:cNvPicPr>
            <a:picLocks noChangeAspect="1"/>
          </p:cNvPicPr>
          <p:nvPr/>
        </p:nvPicPr>
        <p:blipFill>
          <a:blip r:embed="rId4"/>
          <a:stretch>
            <a:fillRect/>
          </a:stretch>
        </p:blipFill>
        <p:spPr>
          <a:xfrm>
            <a:off x="6439186" y="3428838"/>
            <a:ext cx="4533900" cy="232375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3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3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3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3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bldLvl="0" animBg="1"/>
      <p:bldP spid="9" grpId="0" animBg="1"/>
      <p:bldP spid="11" grpId="0"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rcRect l="9392" t="16518" r="27720" b="6946"/>
          <a:stretch>
            <a:fillRect/>
          </a:stretch>
        </p:blipFill>
        <p:spPr>
          <a:xfrm rot="5400000">
            <a:off x="2667002" y="-2666999"/>
            <a:ext cx="6857996" cy="12192000"/>
          </a:xfrm>
          <a:prstGeom prst="rect">
            <a:avLst/>
          </a:prstGeom>
        </p:spPr>
      </p:pic>
      <p:sp>
        <p:nvSpPr>
          <p:cNvPr id="3" name="形状1"/>
          <p:cNvSpPr txBox="1"/>
          <p:nvPr/>
        </p:nvSpPr>
        <p:spPr>
          <a:xfrm>
            <a:off x="89937" y="117262"/>
            <a:ext cx="12025863" cy="6623475"/>
          </a:xfrm>
          <a:prstGeom prst="roundRect">
            <a:avLst/>
          </a:prstGeom>
          <a:solidFill>
            <a:srgbClr val="FFFFFF">
              <a:alpha val="98823"/>
            </a:srgbClr>
          </a:solidFill>
          <a:ln w="9525">
            <a:solidFill>
              <a:srgbClr val="FFFFFF">
                <a:alpha val="0"/>
              </a:srgbClr>
            </a:solidFill>
          </a:ln>
        </p:spPr>
        <p:txBody>
          <a:bodyPr wrap="square" rtlCol="0" anchor="ctr"/>
          <a:lstStyle/>
          <a:p>
            <a:pPr marL="0" algn="ctr"/>
          </a:p>
        </p:txBody>
      </p:sp>
      <p:pic>
        <p:nvPicPr>
          <p:cNvPr id="4" name="图片2"/>
          <p:cNvPicPr>
            <a:picLocks noChangeAspect="1"/>
          </p:cNvPicPr>
          <p:nvPr/>
        </p:nvPicPr>
        <p:blipFill>
          <a:blip r:embed="rId2"/>
          <a:stretch>
            <a:fillRect/>
          </a:stretch>
        </p:blipFill>
        <p:spPr>
          <a:xfrm rot="4613640">
            <a:off x="200440" y="184833"/>
            <a:ext cx="1189917" cy="1020701"/>
          </a:xfrm>
          <a:prstGeom prst="rect">
            <a:avLst/>
          </a:prstGeom>
        </p:spPr>
      </p:pic>
      <p:grpSp>
        <p:nvGrpSpPr>
          <p:cNvPr id="5" name="组合1"/>
          <p:cNvGrpSpPr/>
          <p:nvPr/>
        </p:nvGrpSpPr>
        <p:grpSpPr>
          <a:xfrm>
            <a:off x="5098447" y="173069"/>
            <a:ext cx="3449650" cy="735318"/>
            <a:chOff x="0" y="0"/>
            <a:chExt cx="3449650" cy="735318"/>
          </a:xfrm>
        </p:grpSpPr>
        <p:sp>
          <p:nvSpPr>
            <p:cNvPr id="6" name="形状2"/>
            <p:cNvSpPr txBox="1"/>
            <p:nvPr/>
          </p:nvSpPr>
          <p:spPr>
            <a:xfrm>
              <a:off x="3810" y="49530"/>
              <a:ext cx="2268550" cy="609398"/>
            </a:xfrm>
            <a:prstGeom prst="rect">
              <a:avLst/>
            </a:prstGeom>
            <a:solidFill>
              <a:srgbClr val="FFFFFF">
                <a:alpha val="0"/>
              </a:srgbClr>
            </a:solidFill>
            <a:ln w="9525">
              <a:solidFill>
                <a:srgbClr val="FFFFFF">
                  <a:alpha val="0"/>
                </a:srgbClr>
              </a:solidFill>
            </a:ln>
          </p:spPr>
          <p:txBody>
            <a:bodyPr wrap="square" rtlCol="0" anchor="ctr"/>
            <a:lstStyle/>
            <a:p>
              <a:pPr marL="0" algn="ctr"/>
            </a:p>
          </p:txBody>
        </p:sp>
        <p:sp>
          <p:nvSpPr>
            <p:cNvPr id="7" name="文本7"/>
            <p:cNvSpPr txBox="1"/>
            <p:nvPr/>
          </p:nvSpPr>
          <p:spPr>
            <a:xfrm>
              <a:off x="0" y="0"/>
              <a:ext cx="3449650" cy="735318"/>
            </a:xfrm>
            <a:prstGeom prst="rect">
              <a:avLst/>
            </a:prstGeom>
            <a:noFill/>
          </p:spPr>
          <p:txBody>
            <a:bodyPr wrap="square" rtlCol="0" anchor="ctr"/>
            <a:lstStyle/>
            <a:p>
              <a:pPr marL="0" algn="l"/>
              <a:r>
                <a:rPr lang="zh-CN" altLang="en-US" sz="2800" b="0" i="0" dirty="0">
                  <a:solidFill>
                    <a:srgbClr val="484B5C"/>
                  </a:solidFill>
                  <a:latin typeface="方正粗黑宋简体" panose="02000000000000000000" charset="-122"/>
                  <a:ea typeface="方正粗黑宋简体" panose="02000000000000000000" charset="-122"/>
                </a:rPr>
                <a:t>途径二：体育类</a:t>
              </a:r>
              <a:endParaRPr lang="zh-CN" altLang="en-US" sz="2800" b="0" i="0" dirty="0">
                <a:solidFill>
                  <a:srgbClr val="484B5C"/>
                </a:solidFill>
                <a:latin typeface="方正粗黑宋简体" panose="02000000000000000000" charset="-122"/>
                <a:ea typeface="方正粗黑宋简体" panose="02000000000000000000" charset="-122"/>
              </a:endParaRPr>
            </a:p>
          </p:txBody>
        </p:sp>
      </p:grpSp>
      <p:pic>
        <p:nvPicPr>
          <p:cNvPr id="8" name="图片3"/>
          <p:cNvPicPr>
            <a:picLocks noChangeAspect="1"/>
          </p:cNvPicPr>
          <p:nvPr/>
        </p:nvPicPr>
        <p:blipFill>
          <a:blip r:embed="rId3"/>
          <a:srcRect t="15084"/>
          <a:stretch>
            <a:fillRect/>
          </a:stretch>
        </p:blipFill>
        <p:spPr>
          <a:xfrm>
            <a:off x="-19" y="513321"/>
            <a:ext cx="11748821" cy="5830519"/>
          </a:xfrm>
          <a:prstGeom prst="rect">
            <a:avLst/>
          </a:prstGeom>
        </p:spPr>
      </p:pic>
      <p:sp>
        <p:nvSpPr>
          <p:cNvPr id="9" name="文本1"/>
          <p:cNvSpPr txBox="1"/>
          <p:nvPr/>
        </p:nvSpPr>
        <p:spPr>
          <a:xfrm>
            <a:off x="1236488" y="1242355"/>
            <a:ext cx="2019300" cy="561975"/>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体育专业招生</a:t>
            </a:r>
            <a:endParaRPr lang="zh-CN" altLang="en-US" sz="2400" b="0" i="0" dirty="0">
              <a:solidFill>
                <a:srgbClr val="000000"/>
              </a:solidFill>
              <a:latin typeface="方正粗黑宋简体" panose="02000000000000000000" charset="-122"/>
              <a:ea typeface="方正粗黑宋简体" panose="02000000000000000000" charset="-122"/>
            </a:endParaRPr>
          </a:p>
        </p:txBody>
      </p:sp>
      <p:sp>
        <p:nvSpPr>
          <p:cNvPr id="10" name="文本2"/>
          <p:cNvSpPr txBox="1"/>
          <p:nvPr/>
        </p:nvSpPr>
        <p:spPr>
          <a:xfrm>
            <a:off x="5308759" y="1242203"/>
            <a:ext cx="1409700" cy="561975"/>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体育单招</a:t>
            </a:r>
            <a:endParaRPr lang="zh-CN" altLang="en-US" sz="2400" b="0" i="0" dirty="0">
              <a:solidFill>
                <a:srgbClr val="000000"/>
              </a:solidFill>
              <a:latin typeface="方正粗黑宋简体" panose="02000000000000000000" charset="-122"/>
              <a:ea typeface="方正粗黑宋简体" panose="02000000000000000000" charset="-122"/>
            </a:endParaRPr>
          </a:p>
        </p:txBody>
      </p:sp>
      <p:sp>
        <p:nvSpPr>
          <p:cNvPr id="11" name="文本3"/>
          <p:cNvSpPr txBox="1"/>
          <p:nvPr/>
        </p:nvSpPr>
        <p:spPr>
          <a:xfrm>
            <a:off x="9099785" y="1242193"/>
            <a:ext cx="2019300" cy="561975"/>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高水平运动员</a:t>
            </a:r>
            <a:endParaRPr lang="zh-CN" altLang="en-US" sz="2400" b="0" i="0" dirty="0">
              <a:solidFill>
                <a:srgbClr val="000000"/>
              </a:solidFill>
              <a:latin typeface="方正粗黑宋简体" panose="02000000000000000000" charset="-122"/>
              <a:ea typeface="方正粗黑宋简体" panose="02000000000000000000" charset="-122"/>
            </a:endParaRPr>
          </a:p>
        </p:txBody>
      </p:sp>
      <p:sp>
        <p:nvSpPr>
          <p:cNvPr id="12" name="文本4"/>
          <p:cNvSpPr txBox="1"/>
          <p:nvPr/>
        </p:nvSpPr>
        <p:spPr>
          <a:xfrm>
            <a:off x="4554712" y="4832013"/>
            <a:ext cx="3267075" cy="1304925"/>
          </a:xfrm>
          <a:prstGeom prst="rect">
            <a:avLst/>
          </a:prstGeom>
          <a:noFill/>
        </p:spPr>
        <p:txBody>
          <a:bodyPr wrap="square" rtlCol="0" anchor="t"/>
          <a:lstStyle/>
          <a:p>
            <a:pPr marL="0" algn="l"/>
            <a:r>
              <a:rPr lang="zh-CN" altLang="en-US" sz="1800" b="0" i="0" dirty="0">
                <a:solidFill>
                  <a:srgbClr val="292929"/>
                </a:solidFill>
                <a:latin typeface="方正粗黑宋简体" panose="02000000000000000000" charset="-122"/>
                <a:ea typeface="方正粗黑宋简体" panose="02000000000000000000" charset="-122"/>
              </a:rPr>
              <a:t>体育单招是指普通高等学校</a:t>
            </a:r>
            <a:r>
              <a:rPr lang="zh-CN" altLang="en-US" sz="1800" b="0" i="0" dirty="0">
                <a:solidFill>
                  <a:srgbClr val="C00000"/>
                </a:solidFill>
                <a:latin typeface="方正粗黑宋简体" panose="02000000000000000000" charset="-122"/>
                <a:ea typeface="方正粗黑宋简体" panose="02000000000000000000" charset="-122"/>
              </a:rPr>
              <a:t>运动训练、武术与民族传统体育</a:t>
            </a:r>
            <a:r>
              <a:rPr lang="zh-CN" altLang="en-US" sz="1800" b="0" i="0" dirty="0">
                <a:solidFill>
                  <a:srgbClr val="292929"/>
                </a:solidFill>
                <a:latin typeface="方正粗黑宋简体" panose="02000000000000000000" charset="-122"/>
                <a:ea typeface="方正粗黑宋简体" panose="02000000000000000000" charset="-122"/>
              </a:rPr>
              <a:t>专业招生考试。单招考试学生必须是国家二级以上运动员。</a:t>
            </a:r>
            <a:endParaRPr lang="zh-CN" altLang="en-US" sz="1800" b="0" i="0" dirty="0">
              <a:solidFill>
                <a:srgbClr val="292929"/>
              </a:solidFill>
              <a:latin typeface="方正粗黑宋简体" panose="02000000000000000000" charset="-122"/>
              <a:ea typeface="方正粗黑宋简体" panose="02000000000000000000" charset="-122"/>
            </a:endParaRPr>
          </a:p>
        </p:txBody>
      </p:sp>
      <p:sp>
        <p:nvSpPr>
          <p:cNvPr id="13" name="文本5"/>
          <p:cNvSpPr txBox="1"/>
          <p:nvPr/>
        </p:nvSpPr>
        <p:spPr>
          <a:xfrm>
            <a:off x="8494919" y="4893412"/>
            <a:ext cx="3433762" cy="1181100"/>
          </a:xfrm>
          <a:prstGeom prst="rect">
            <a:avLst/>
          </a:prstGeom>
          <a:noFill/>
        </p:spPr>
        <p:txBody>
          <a:bodyPr wrap="square" rtlCol="0" anchor="t"/>
          <a:lstStyle/>
          <a:p>
            <a:pPr marL="0" algn="l"/>
            <a:r>
              <a:rPr lang="zh-CN" altLang="en-US" sz="1600" b="0" i="0" dirty="0">
                <a:solidFill>
                  <a:srgbClr val="292929"/>
                </a:solidFill>
                <a:latin typeface="方正粗黑宋简体" panose="02000000000000000000" charset="-122"/>
                <a:ea typeface="方正粗黑宋简体" panose="02000000000000000000" charset="-122"/>
              </a:rPr>
              <a:t>2024年起，获得国家一级运动员可报考。</a:t>
            </a:r>
            <a:endParaRPr lang="zh-CN" altLang="en-US" sz="1600" b="0" i="0" dirty="0">
              <a:solidFill>
                <a:srgbClr val="292929"/>
              </a:solidFill>
              <a:latin typeface="方正粗黑宋简体" panose="02000000000000000000" charset="-122"/>
              <a:ea typeface="方正粗黑宋简体" panose="02000000000000000000" charset="-122"/>
            </a:endParaRPr>
          </a:p>
          <a:p>
            <a:pPr marL="0" algn="l"/>
            <a:r>
              <a:rPr lang="zh-CN" altLang="en-US" sz="1600" b="0" i="0" dirty="0">
                <a:solidFill>
                  <a:srgbClr val="292929"/>
                </a:solidFill>
                <a:latin typeface="方正粗黑宋简体" panose="02000000000000000000" charset="-122"/>
                <a:ea typeface="方正粗黑宋简体" panose="02000000000000000000" charset="-122"/>
              </a:rPr>
              <a:t>2027年起，国家一级运动员、近三年内全国体育比赛前八名者方可以报考。</a:t>
            </a:r>
            <a:endParaRPr lang="zh-CN" altLang="en-US" sz="1600" b="0" i="0" dirty="0">
              <a:solidFill>
                <a:srgbClr val="292929"/>
              </a:solidFill>
              <a:latin typeface="方正粗黑宋简体" panose="02000000000000000000" charset="-122"/>
              <a:ea typeface="方正粗黑宋简体" panose="02000000000000000000" charset="-122"/>
            </a:endParaRPr>
          </a:p>
        </p:txBody>
      </p:sp>
      <p:sp>
        <p:nvSpPr>
          <p:cNvPr id="14" name="文本6"/>
          <p:cNvSpPr txBox="1"/>
          <p:nvPr/>
        </p:nvSpPr>
        <p:spPr>
          <a:xfrm>
            <a:off x="1427216" y="5242522"/>
            <a:ext cx="1343025" cy="484568"/>
          </a:xfrm>
          <a:prstGeom prst="rect">
            <a:avLst/>
          </a:prstGeom>
          <a:noFill/>
        </p:spPr>
        <p:txBody>
          <a:bodyPr wrap="square" rtlCol="0" anchor="t"/>
          <a:lstStyle/>
          <a:p>
            <a:pPr marL="0" algn="l"/>
            <a:r>
              <a:rPr lang="zh-CN" altLang="en-US" sz="1900" b="1" i="0" dirty="0">
                <a:solidFill>
                  <a:srgbClr val="000000"/>
                </a:solidFill>
                <a:latin typeface="方正粗黑宋简体" panose="02000000000000000000" charset="-122"/>
                <a:ea typeface="方正粗黑宋简体" panose="02000000000000000000" charset="-122"/>
              </a:rPr>
              <a:t>统一招考</a:t>
            </a:r>
            <a:endParaRPr lang="zh-CN" altLang="en-US" sz="1900" b="1" i="0" dirty="0">
              <a:solidFill>
                <a:srgbClr val="000000"/>
              </a:solidFill>
              <a:latin typeface="方正粗黑宋简体" panose="02000000000000000000" charset="-122"/>
              <a:ea typeface="方正粗黑宋简体" panose="02000000000000000000"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rcRect l="9392" t="16518" r="27720" b="6946"/>
          <a:stretch>
            <a:fillRect/>
          </a:stretch>
        </p:blipFill>
        <p:spPr>
          <a:xfrm rot="5400000">
            <a:off x="2667002" y="-2666999"/>
            <a:ext cx="6857996" cy="12192000"/>
          </a:xfrm>
          <a:prstGeom prst="rect">
            <a:avLst/>
          </a:prstGeom>
        </p:spPr>
      </p:pic>
      <p:sp>
        <p:nvSpPr>
          <p:cNvPr id="3" name="形状1"/>
          <p:cNvSpPr txBox="1"/>
          <p:nvPr/>
        </p:nvSpPr>
        <p:spPr>
          <a:xfrm>
            <a:off x="89937" y="117262"/>
            <a:ext cx="12025863" cy="6623475"/>
          </a:xfrm>
          <a:prstGeom prst="roundRect">
            <a:avLst/>
          </a:prstGeom>
          <a:solidFill>
            <a:srgbClr val="FFFFFF">
              <a:alpha val="98823"/>
            </a:srgbClr>
          </a:solidFill>
          <a:ln w="9525">
            <a:solidFill>
              <a:srgbClr val="FFFFFF">
                <a:alpha val="0"/>
              </a:srgbClr>
            </a:solidFill>
          </a:ln>
        </p:spPr>
        <p:txBody>
          <a:bodyPr wrap="square" rtlCol="0" anchor="ctr"/>
          <a:lstStyle/>
          <a:p>
            <a:pPr marL="0" algn="ctr"/>
            <a:r>
              <a:rPr lang="zh-CN" altLang="en-US" sz="2200" b="0" i="0" dirty="0">
                <a:solidFill>
                  <a:srgbClr val="FFFFFF"/>
                </a:solidFill>
                <a:latin typeface="微软雅黑" panose="020B0503020204020204" charset="-122"/>
                <a:ea typeface="微软雅黑" panose="020B0503020204020204" charset="-122"/>
              </a:rPr>
              <a:t>+</a:t>
            </a:r>
            <a:endParaRPr lang="zh-CN" altLang="en-US" sz="2200" b="0" i="0" dirty="0">
              <a:solidFill>
                <a:srgbClr val="FFFFFF"/>
              </a:solidFill>
              <a:latin typeface="微软雅黑" panose="020B0503020204020204" charset="-122"/>
              <a:ea typeface="微软雅黑" panose="020B0503020204020204" charset="-122"/>
            </a:endParaRPr>
          </a:p>
        </p:txBody>
      </p:sp>
      <p:pic>
        <p:nvPicPr>
          <p:cNvPr id="4" name="图片2"/>
          <p:cNvPicPr>
            <a:picLocks noChangeAspect="1"/>
          </p:cNvPicPr>
          <p:nvPr/>
        </p:nvPicPr>
        <p:blipFill>
          <a:blip r:embed="rId2"/>
          <a:stretch>
            <a:fillRect/>
          </a:stretch>
        </p:blipFill>
        <p:spPr>
          <a:xfrm rot="4613640">
            <a:off x="200440" y="184833"/>
            <a:ext cx="1189917" cy="1020701"/>
          </a:xfrm>
          <a:prstGeom prst="rect">
            <a:avLst/>
          </a:prstGeom>
        </p:spPr>
      </p:pic>
      <p:grpSp>
        <p:nvGrpSpPr>
          <p:cNvPr id="5" name="组合1"/>
          <p:cNvGrpSpPr/>
          <p:nvPr/>
        </p:nvGrpSpPr>
        <p:grpSpPr>
          <a:xfrm>
            <a:off x="5069148" y="317468"/>
            <a:ext cx="2597782" cy="579839"/>
            <a:chOff x="0" y="0"/>
            <a:chExt cx="2597782" cy="579839"/>
          </a:xfrm>
        </p:grpSpPr>
        <p:sp>
          <p:nvSpPr>
            <p:cNvPr id="6" name="形状2"/>
            <p:cNvSpPr txBox="1"/>
            <p:nvPr/>
          </p:nvSpPr>
          <p:spPr>
            <a:xfrm>
              <a:off x="1668" y="49529"/>
              <a:ext cx="2514350" cy="460368"/>
            </a:xfrm>
            <a:prstGeom prst="rect">
              <a:avLst/>
            </a:prstGeom>
            <a:solidFill>
              <a:srgbClr val="FFFFFF">
                <a:alpha val="0"/>
              </a:srgbClr>
            </a:solidFill>
            <a:ln w="9525">
              <a:solidFill>
                <a:srgbClr val="FFFFFF">
                  <a:alpha val="0"/>
                </a:srgbClr>
              </a:solidFill>
            </a:ln>
          </p:spPr>
          <p:txBody>
            <a:bodyPr wrap="square" rtlCol="0" anchor="ctr"/>
            <a:lstStyle/>
            <a:p>
              <a:pPr marL="0" algn="ctr"/>
            </a:p>
          </p:txBody>
        </p:sp>
        <p:sp>
          <p:nvSpPr>
            <p:cNvPr id="7" name="文本2"/>
            <p:cNvSpPr txBox="1"/>
            <p:nvPr/>
          </p:nvSpPr>
          <p:spPr>
            <a:xfrm>
              <a:off x="0" y="0"/>
              <a:ext cx="2597782" cy="579839"/>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路径三：艺</a:t>
              </a:r>
              <a:r>
                <a:rPr lang="zh-CN" altLang="en-US" sz="2400" dirty="0">
                  <a:solidFill>
                    <a:srgbClr val="000000"/>
                  </a:solidFill>
                  <a:latin typeface="方正粗黑宋简体" panose="02000000000000000000" charset="-122"/>
                  <a:ea typeface="方正粗黑宋简体" panose="02000000000000000000" charset="-122"/>
                  <a:sym typeface="+mn-ea"/>
                </a:rPr>
                <a:t>体</a:t>
              </a:r>
              <a:r>
                <a:rPr lang="zh-CN" altLang="en-US" sz="2400" b="0" i="0" dirty="0">
                  <a:solidFill>
                    <a:srgbClr val="000000"/>
                  </a:solidFill>
                  <a:latin typeface="方正粗黑宋简体" panose="02000000000000000000" charset="-122"/>
                  <a:ea typeface="方正粗黑宋简体" panose="02000000000000000000" charset="-122"/>
                </a:rPr>
                <a:t>生</a:t>
              </a:r>
              <a:endParaRPr lang="zh-CN" altLang="en-US" sz="2400" b="0" i="0" dirty="0">
                <a:solidFill>
                  <a:srgbClr val="000000"/>
                </a:solidFill>
                <a:latin typeface="方正粗黑宋简体" panose="02000000000000000000" charset="-122"/>
                <a:ea typeface="方正粗黑宋简体" panose="02000000000000000000" charset="-122"/>
              </a:endParaRPr>
            </a:p>
          </p:txBody>
        </p:sp>
      </p:grpSp>
      <p:sp>
        <p:nvSpPr>
          <p:cNvPr id="8" name="文本1"/>
          <p:cNvSpPr txBox="1"/>
          <p:nvPr/>
        </p:nvSpPr>
        <p:spPr>
          <a:xfrm>
            <a:off x="899274" y="1035539"/>
            <a:ext cx="4000500" cy="500062"/>
          </a:xfrm>
          <a:prstGeom prst="rect">
            <a:avLst/>
          </a:prstGeom>
          <a:noFill/>
        </p:spPr>
        <p:txBody>
          <a:bodyPr wrap="square" rtlCol="0" anchor="t"/>
          <a:lstStyle/>
          <a:p>
            <a:pPr marL="0" algn="l"/>
            <a:r>
              <a:rPr lang="zh-CN" altLang="en-US" sz="2000" b="0" i="0" dirty="0">
                <a:solidFill>
                  <a:srgbClr val="000000"/>
                </a:solidFill>
                <a:latin typeface="方正粗黑宋简体" panose="02000000000000000000" charset="-122"/>
                <a:ea typeface="方正粗黑宋简体" panose="02000000000000000000" charset="-122"/>
              </a:rPr>
              <a:t>低年级的学生该如何准备体艺考？</a:t>
            </a:r>
            <a:endParaRPr lang="zh-CN" altLang="en-US" sz="2000" b="0" i="0" dirty="0">
              <a:solidFill>
                <a:srgbClr val="000000"/>
              </a:solidFill>
              <a:latin typeface="方正粗黑宋简体" panose="02000000000000000000" charset="-122"/>
              <a:ea typeface="方正粗黑宋简体" panose="02000000000000000000" charset="-122"/>
            </a:endParaRPr>
          </a:p>
        </p:txBody>
      </p:sp>
      <p:pic>
        <p:nvPicPr>
          <p:cNvPr id="9" name="表格1"/>
          <p:cNvPicPr>
            <a:picLocks noChangeAspect="1"/>
          </p:cNvPicPr>
          <p:nvPr/>
        </p:nvPicPr>
        <p:blipFill>
          <a:blip r:embed="rId3"/>
          <a:stretch>
            <a:fillRect/>
          </a:stretch>
        </p:blipFill>
        <p:spPr>
          <a:xfrm>
            <a:off x="531066" y="1535592"/>
            <a:ext cx="10991850" cy="4429855"/>
          </a:xfrm>
          <a:prstGeom prst="rect">
            <a:avLst/>
          </a:prstGeom>
        </p:spPr>
      </p:pic>
      <p:pic>
        <p:nvPicPr>
          <p:cNvPr id="10" name="图片3"/>
          <p:cNvPicPr>
            <a:picLocks noChangeAspect="1"/>
          </p:cNvPicPr>
          <p:nvPr/>
        </p:nvPicPr>
        <p:blipFill>
          <a:blip r:embed="rId4"/>
          <a:stretch>
            <a:fillRect/>
          </a:stretch>
        </p:blipFill>
        <p:spPr>
          <a:xfrm>
            <a:off x="661613" y="3409645"/>
            <a:ext cx="1864452" cy="962025"/>
          </a:xfrm>
          <a:prstGeom prst="rect">
            <a:avLst/>
          </a:prstGeom>
        </p:spPr>
      </p:pic>
      <p:pic>
        <p:nvPicPr>
          <p:cNvPr id="11" name="图片4"/>
          <p:cNvPicPr>
            <a:picLocks noChangeAspect="1"/>
          </p:cNvPicPr>
          <p:nvPr/>
        </p:nvPicPr>
        <p:blipFill>
          <a:blip r:embed="rId5"/>
          <a:stretch>
            <a:fillRect/>
          </a:stretch>
        </p:blipFill>
        <p:spPr>
          <a:xfrm>
            <a:off x="2629005" y="2432647"/>
            <a:ext cx="1864433" cy="3222803"/>
          </a:xfrm>
          <a:prstGeom prst="rect">
            <a:avLst/>
          </a:prstGeom>
        </p:spPr>
      </p:pic>
      <p:pic>
        <p:nvPicPr>
          <p:cNvPr id="12" name="图片5"/>
          <p:cNvPicPr>
            <a:picLocks noChangeAspect="1"/>
          </p:cNvPicPr>
          <p:nvPr/>
        </p:nvPicPr>
        <p:blipFill>
          <a:blip r:embed="rId6"/>
          <a:srcRect t="1165"/>
          <a:stretch>
            <a:fillRect/>
          </a:stretch>
        </p:blipFill>
        <p:spPr>
          <a:xfrm>
            <a:off x="4596384" y="2233193"/>
            <a:ext cx="2752725" cy="3621872"/>
          </a:xfrm>
          <a:prstGeom prst="rect">
            <a:avLst/>
          </a:prstGeom>
        </p:spPr>
      </p:pic>
      <p:pic>
        <p:nvPicPr>
          <p:cNvPr id="13" name="图片6"/>
          <p:cNvPicPr>
            <a:picLocks noChangeAspect="1"/>
          </p:cNvPicPr>
          <p:nvPr/>
        </p:nvPicPr>
        <p:blipFill>
          <a:blip r:embed="rId7"/>
          <a:stretch>
            <a:fillRect/>
          </a:stretch>
        </p:blipFill>
        <p:spPr>
          <a:xfrm>
            <a:off x="7433615" y="2687364"/>
            <a:ext cx="3936511" cy="253365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3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3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3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3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1" grpId="0" animBg="1"/>
      <p:bldP spid="12" grpId="0" animBg="1"/>
      <p:bldP spid="1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tretch>
            <a:fillRect/>
          </a:stretch>
        </p:blipFill>
        <p:spPr>
          <a:xfrm>
            <a:off x="5870781" y="0"/>
            <a:ext cx="6321676" cy="6858000"/>
          </a:xfrm>
          <a:prstGeom prst="rect">
            <a:avLst/>
          </a:prstGeom>
        </p:spPr>
      </p:pic>
      <p:sp>
        <p:nvSpPr>
          <p:cNvPr id="4" name="文本1"/>
          <p:cNvSpPr txBox="1"/>
          <p:nvPr/>
        </p:nvSpPr>
        <p:spPr>
          <a:xfrm>
            <a:off x="756907" y="1359081"/>
            <a:ext cx="4914900" cy="3852624"/>
          </a:xfrm>
          <a:prstGeom prst="rect">
            <a:avLst/>
          </a:prstGeom>
          <a:noFill/>
        </p:spPr>
        <p:txBody>
          <a:bodyPr wrap="square" rtlCol="0" anchor="t"/>
          <a:lstStyle/>
          <a:p>
            <a:pPr marL="0" algn="l">
              <a:lnSpc>
                <a:spcPct val="120000"/>
              </a:lnSpc>
            </a:pPr>
            <a:r>
              <a:rPr lang="zh-CN" altLang="en-US" sz="2600" b="0" i="0" dirty="0">
                <a:solidFill>
                  <a:schemeClr val="tx1"/>
                </a:solidFill>
                <a:latin typeface="方正粗黑宋简体" panose="02000000000000000000" charset="-122"/>
                <a:ea typeface="方正粗黑宋简体" panose="02000000000000000000" charset="-122"/>
              </a:rPr>
              <a:t>体艺绝不是某些同学眼中的“捷径”，想要考上一所心仪的好大学，任何考试类型都需要自身脚踏实地的努力，坚定不移的意志，长远发展的眼光，任何只顾利益及眼前的选择都可能成为你一生的遗憾。</a:t>
            </a:r>
            <a:endParaRPr lang="zh-CN" altLang="en-US" sz="2600" b="0" i="0" dirty="0">
              <a:solidFill>
                <a:schemeClr val="tx1"/>
              </a:solidFill>
              <a:latin typeface="方正粗黑宋简体" panose="02000000000000000000" charset="-122"/>
              <a:ea typeface="方正粗黑宋简体" panose="02000000000000000000"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tretch>
            <a:fillRect/>
          </a:stretch>
        </p:blipFill>
        <p:spPr>
          <a:xfrm>
            <a:off x="-210" y="69152"/>
            <a:ext cx="12191943" cy="6858114"/>
          </a:xfrm>
          <a:prstGeom prst="rect">
            <a:avLst/>
          </a:prstGeom>
        </p:spPr>
      </p:pic>
      <p:sp>
        <p:nvSpPr>
          <p:cNvPr id="3" name="文本1"/>
          <p:cNvSpPr txBox="1"/>
          <p:nvPr/>
        </p:nvSpPr>
        <p:spPr>
          <a:xfrm>
            <a:off x="3943350" y="2614295"/>
            <a:ext cx="6021705" cy="1769110"/>
          </a:xfrm>
          <a:prstGeom prst="rect">
            <a:avLst/>
          </a:prstGeom>
          <a:noFill/>
        </p:spPr>
        <p:txBody>
          <a:bodyPr wrap="square" rtlCol="0" anchor="t"/>
          <a:lstStyle/>
          <a:p>
            <a:pPr marL="0" algn="l"/>
            <a:r>
              <a:rPr lang="zh-CN" altLang="en-US" sz="4400" b="0" i="0" dirty="0">
                <a:solidFill>
                  <a:srgbClr val="FFFFFF"/>
                </a:solidFill>
                <a:latin typeface="方正粗黑宋简体" panose="02000000000000000000" charset="-122"/>
                <a:ea typeface="方正粗黑宋简体" panose="02000000000000000000" charset="-122"/>
              </a:rPr>
              <a:t>假如我身体素质极佳                                  </a:t>
            </a:r>
            <a:endParaRPr lang="zh-CN" altLang="en-US" sz="4400" b="0" i="0" dirty="0">
              <a:solidFill>
                <a:srgbClr val="FFFFFF"/>
              </a:solidFill>
              <a:latin typeface="方正粗黑宋简体" panose="02000000000000000000" charset="-122"/>
              <a:ea typeface="方正粗黑宋简体" panose="02000000000000000000" charset="-122"/>
            </a:endParaRPr>
          </a:p>
          <a:p>
            <a:pPr marL="0" algn="l"/>
            <a:r>
              <a:rPr lang="zh-CN" altLang="en-US" sz="4400" b="0" i="0" dirty="0">
                <a:solidFill>
                  <a:srgbClr val="FFFFFF"/>
                </a:solidFill>
                <a:latin typeface="方正粗黑宋简体" panose="02000000000000000000" charset="-122"/>
                <a:ea typeface="方正粗黑宋简体" panose="02000000000000000000" charset="-122"/>
              </a:rPr>
              <a:t>思想觉悟极高</a:t>
            </a:r>
            <a:endParaRPr lang="zh-CN" altLang="en-US" sz="4400" b="0" i="0" dirty="0">
              <a:solidFill>
                <a:srgbClr val="FFFFFF"/>
              </a:solidFill>
              <a:latin typeface="方正粗黑宋简体" panose="02000000000000000000" charset="-122"/>
              <a:ea typeface="方正粗黑宋简体" panose="02000000000000000000"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rcRect l="9392" t="16518" r="27720" b="6946"/>
          <a:stretch>
            <a:fillRect/>
          </a:stretch>
        </p:blipFill>
        <p:spPr>
          <a:xfrm rot="5400000">
            <a:off x="2667002" y="-2666999"/>
            <a:ext cx="6857996" cy="12192000"/>
          </a:xfrm>
          <a:prstGeom prst="rect">
            <a:avLst/>
          </a:prstGeom>
        </p:spPr>
      </p:pic>
      <p:sp>
        <p:nvSpPr>
          <p:cNvPr id="3" name="形状1"/>
          <p:cNvSpPr txBox="1"/>
          <p:nvPr/>
        </p:nvSpPr>
        <p:spPr>
          <a:xfrm>
            <a:off x="89937" y="117262"/>
            <a:ext cx="12025863" cy="6623475"/>
          </a:xfrm>
          <a:prstGeom prst="roundRect">
            <a:avLst/>
          </a:prstGeom>
          <a:solidFill>
            <a:srgbClr val="FFFFFF">
              <a:alpha val="98823"/>
            </a:srgbClr>
          </a:solidFill>
          <a:ln w="9525">
            <a:solidFill>
              <a:srgbClr val="FFFFFF">
                <a:alpha val="0"/>
              </a:srgbClr>
            </a:solidFill>
          </a:ln>
        </p:spPr>
        <p:txBody>
          <a:bodyPr wrap="square" rtlCol="0" anchor="ctr"/>
          <a:lstStyle/>
          <a:p>
            <a:pPr algn="ctr"/>
          </a:p>
        </p:txBody>
      </p:sp>
      <p:grpSp>
        <p:nvGrpSpPr>
          <p:cNvPr id="5" name="组合1"/>
          <p:cNvGrpSpPr/>
          <p:nvPr/>
        </p:nvGrpSpPr>
        <p:grpSpPr>
          <a:xfrm>
            <a:off x="3950218" y="213169"/>
            <a:ext cx="4689319" cy="665541"/>
            <a:chOff x="0" y="0"/>
            <a:chExt cx="4689319" cy="665541"/>
          </a:xfrm>
        </p:grpSpPr>
        <p:sp>
          <p:nvSpPr>
            <p:cNvPr id="6" name="形状2"/>
            <p:cNvSpPr txBox="1"/>
            <p:nvPr/>
          </p:nvSpPr>
          <p:spPr>
            <a:xfrm>
              <a:off x="0" y="205168"/>
              <a:ext cx="3987615" cy="460373"/>
            </a:xfrm>
            <a:prstGeom prst="rect">
              <a:avLst/>
            </a:prstGeom>
            <a:solidFill>
              <a:srgbClr val="FFFFFF">
                <a:alpha val="0"/>
              </a:srgbClr>
            </a:solidFill>
            <a:ln w="9525">
              <a:solidFill>
                <a:srgbClr val="FFFFFF">
                  <a:alpha val="0"/>
                </a:srgbClr>
              </a:solidFill>
            </a:ln>
          </p:spPr>
          <p:txBody>
            <a:bodyPr wrap="square" rtlCol="0" anchor="ctr"/>
            <a:lstStyle/>
            <a:p>
              <a:pPr marL="0" algn="ctr"/>
            </a:p>
          </p:txBody>
        </p:sp>
        <p:sp>
          <p:nvSpPr>
            <p:cNvPr id="7" name="文本3"/>
            <p:cNvSpPr txBox="1"/>
            <p:nvPr/>
          </p:nvSpPr>
          <p:spPr>
            <a:xfrm>
              <a:off x="133073" y="0"/>
              <a:ext cx="4556246" cy="579839"/>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军校类、公安类招考</a:t>
              </a:r>
              <a:endParaRPr lang="zh-CN" altLang="en-US" sz="2400" b="0" i="0" dirty="0">
                <a:solidFill>
                  <a:srgbClr val="000000"/>
                </a:solidFill>
                <a:latin typeface="方正粗黑宋简体" panose="02000000000000000000" charset="-122"/>
                <a:ea typeface="方正粗黑宋简体" panose="02000000000000000000" charset="-122"/>
              </a:endParaRPr>
            </a:p>
          </p:txBody>
        </p:sp>
      </p:grpSp>
      <p:sp>
        <p:nvSpPr>
          <p:cNvPr id="10" name="文本1"/>
          <p:cNvSpPr txBox="1"/>
          <p:nvPr/>
        </p:nvSpPr>
        <p:spPr>
          <a:xfrm>
            <a:off x="778510" y="5553075"/>
            <a:ext cx="5105400" cy="375285"/>
          </a:xfrm>
          <a:prstGeom prst="rect">
            <a:avLst/>
          </a:prstGeom>
          <a:noFill/>
        </p:spPr>
        <p:txBody>
          <a:bodyPr wrap="square" rtlCol="0" anchor="t"/>
          <a:lstStyle/>
          <a:p>
            <a:r>
              <a:rPr lang="en-US" sz="2400" b="0" i="0" dirty="0">
                <a:solidFill>
                  <a:srgbClr val="222222"/>
                </a:solidFill>
                <a:latin typeface="方正粗黑宋简体" panose="02000000000000000000" charset="-122"/>
                <a:ea typeface="方正粗黑宋简体" panose="02000000000000000000" charset="-122"/>
              </a:rPr>
              <a:t>2024</a:t>
            </a:r>
            <a:r>
              <a:rPr lang="zh-CN" altLang="en-US" sz="2400" b="0" i="0" dirty="0">
                <a:solidFill>
                  <a:srgbClr val="222222"/>
                </a:solidFill>
                <a:latin typeface="方正粗黑宋简体" panose="02000000000000000000" charset="-122"/>
                <a:ea typeface="方正粗黑宋简体" panose="02000000000000000000" charset="-122"/>
              </a:rPr>
              <a:t>年军校类在闽招生情况一览表</a:t>
            </a:r>
            <a:endParaRPr lang="zh-CN" altLang="en-US" sz="2400" b="0" i="0" dirty="0">
              <a:solidFill>
                <a:srgbClr val="222222"/>
              </a:solidFill>
              <a:latin typeface="方正粗黑宋简体" panose="02000000000000000000" charset="-122"/>
              <a:ea typeface="方正粗黑宋简体" panose="02000000000000000000" charset="-122"/>
            </a:endParaRPr>
          </a:p>
        </p:txBody>
      </p:sp>
      <p:pic>
        <p:nvPicPr>
          <p:cNvPr id="9" name="图片 8"/>
          <p:cNvPicPr>
            <a:picLocks noChangeAspect="1"/>
          </p:cNvPicPr>
          <p:nvPr/>
        </p:nvPicPr>
        <p:blipFill>
          <a:blip r:embed="rId2"/>
          <a:stretch>
            <a:fillRect/>
          </a:stretch>
        </p:blipFill>
        <p:spPr>
          <a:xfrm>
            <a:off x="90170" y="1096010"/>
            <a:ext cx="5843270" cy="4321810"/>
          </a:xfrm>
          <a:prstGeom prst="rect">
            <a:avLst/>
          </a:prstGeom>
        </p:spPr>
      </p:pic>
      <p:pic>
        <p:nvPicPr>
          <p:cNvPr id="4" name="图片 3"/>
          <p:cNvPicPr/>
          <p:nvPr/>
        </p:nvPicPr>
        <p:blipFill>
          <a:blip r:embed="rId3"/>
          <a:stretch>
            <a:fillRect/>
          </a:stretch>
        </p:blipFill>
        <p:spPr>
          <a:xfrm>
            <a:off x="6099810" y="1332865"/>
            <a:ext cx="5723255" cy="3833495"/>
          </a:xfrm>
          <a:prstGeom prst="rect">
            <a:avLst/>
          </a:prstGeom>
        </p:spPr>
      </p:pic>
      <p:sp>
        <p:nvSpPr>
          <p:cNvPr id="8" name="文本1"/>
          <p:cNvSpPr txBox="1"/>
          <p:nvPr/>
        </p:nvSpPr>
        <p:spPr>
          <a:xfrm>
            <a:off x="6409055" y="5620385"/>
            <a:ext cx="5105400" cy="375285"/>
          </a:xfrm>
          <a:prstGeom prst="rect">
            <a:avLst/>
          </a:prstGeom>
          <a:noFill/>
        </p:spPr>
        <p:txBody>
          <a:bodyPr wrap="square" rtlCol="0" anchor="t"/>
          <a:p>
            <a:r>
              <a:rPr lang="en-US" sz="2400" b="0" i="0" dirty="0">
                <a:solidFill>
                  <a:srgbClr val="222222"/>
                </a:solidFill>
                <a:latin typeface="方正粗黑宋简体" panose="02000000000000000000" charset="-122"/>
                <a:ea typeface="方正粗黑宋简体" panose="02000000000000000000" charset="-122"/>
              </a:rPr>
              <a:t>2024</a:t>
            </a:r>
            <a:r>
              <a:rPr lang="zh-CN" altLang="en-US" sz="2400" b="0" i="0" dirty="0">
                <a:solidFill>
                  <a:srgbClr val="222222"/>
                </a:solidFill>
                <a:latin typeface="方正粗黑宋简体" panose="02000000000000000000" charset="-122"/>
                <a:ea typeface="方正粗黑宋简体" panose="02000000000000000000" charset="-122"/>
              </a:rPr>
              <a:t>年公安类在闽招生情况一览表</a:t>
            </a:r>
            <a:endParaRPr lang="zh-CN" altLang="en-US" sz="2400" b="0" i="0" dirty="0">
              <a:solidFill>
                <a:srgbClr val="222222"/>
              </a:solidFill>
              <a:latin typeface="方正粗黑宋简体" panose="02000000000000000000" charset="-122"/>
              <a:ea typeface="方正粗黑宋简体" panose="02000000000000000000"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3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rcRect l="9392" t="16518" r="27720" b="6946"/>
          <a:stretch>
            <a:fillRect/>
          </a:stretch>
        </p:blipFill>
        <p:spPr>
          <a:xfrm rot="5400000">
            <a:off x="2667002" y="-2666999"/>
            <a:ext cx="6857996" cy="12192000"/>
          </a:xfrm>
          <a:prstGeom prst="rect">
            <a:avLst/>
          </a:prstGeom>
        </p:spPr>
      </p:pic>
      <p:sp>
        <p:nvSpPr>
          <p:cNvPr id="3" name="形状1"/>
          <p:cNvSpPr txBox="1"/>
          <p:nvPr/>
        </p:nvSpPr>
        <p:spPr>
          <a:xfrm>
            <a:off x="89937" y="117262"/>
            <a:ext cx="12025863" cy="6623475"/>
          </a:xfrm>
          <a:prstGeom prst="roundRect">
            <a:avLst/>
          </a:prstGeom>
          <a:solidFill>
            <a:srgbClr val="FFFFFF">
              <a:alpha val="98823"/>
            </a:srgbClr>
          </a:solidFill>
          <a:ln w="9525">
            <a:solidFill>
              <a:srgbClr val="FFFFFF">
                <a:alpha val="0"/>
              </a:srgbClr>
            </a:solidFill>
          </a:ln>
        </p:spPr>
        <p:txBody>
          <a:bodyPr wrap="square" rtlCol="0" anchor="ctr"/>
          <a:lstStyle/>
          <a:p>
            <a:pPr marL="0" algn="ctr"/>
          </a:p>
        </p:txBody>
      </p:sp>
      <p:pic>
        <p:nvPicPr>
          <p:cNvPr id="4" name="图片2"/>
          <p:cNvPicPr>
            <a:picLocks noChangeAspect="1"/>
          </p:cNvPicPr>
          <p:nvPr/>
        </p:nvPicPr>
        <p:blipFill>
          <a:blip r:embed="rId2"/>
          <a:stretch>
            <a:fillRect/>
          </a:stretch>
        </p:blipFill>
        <p:spPr>
          <a:xfrm rot="4613640">
            <a:off x="209083" y="90878"/>
            <a:ext cx="1189917" cy="1020701"/>
          </a:xfrm>
          <a:prstGeom prst="rect">
            <a:avLst/>
          </a:prstGeom>
        </p:spPr>
      </p:pic>
      <p:grpSp>
        <p:nvGrpSpPr>
          <p:cNvPr id="5" name="组合1"/>
          <p:cNvGrpSpPr/>
          <p:nvPr/>
        </p:nvGrpSpPr>
        <p:grpSpPr>
          <a:xfrm>
            <a:off x="1755134" y="269138"/>
            <a:ext cx="9319098" cy="665544"/>
            <a:chOff x="0" y="0"/>
            <a:chExt cx="9319098" cy="665544"/>
          </a:xfrm>
        </p:grpSpPr>
        <p:sp>
          <p:nvSpPr>
            <p:cNvPr id="6" name="形状2"/>
            <p:cNvSpPr txBox="1"/>
            <p:nvPr/>
          </p:nvSpPr>
          <p:spPr>
            <a:xfrm>
              <a:off x="0" y="205169"/>
              <a:ext cx="7236460" cy="460375"/>
            </a:xfrm>
            <a:prstGeom prst="rect">
              <a:avLst/>
            </a:prstGeom>
            <a:solidFill>
              <a:srgbClr val="FFFFFF">
                <a:alpha val="0"/>
              </a:srgbClr>
            </a:solidFill>
            <a:ln w="9525">
              <a:solidFill>
                <a:srgbClr val="FFFFFF">
                  <a:alpha val="0"/>
                </a:srgbClr>
              </a:solidFill>
            </a:ln>
          </p:spPr>
          <p:txBody>
            <a:bodyPr wrap="square" rtlCol="0" anchor="ctr"/>
            <a:lstStyle/>
            <a:p>
              <a:pPr marL="0" algn="ctr"/>
            </a:p>
          </p:txBody>
        </p:sp>
        <p:sp>
          <p:nvSpPr>
            <p:cNvPr id="7" name="文本1"/>
            <p:cNvSpPr txBox="1"/>
            <p:nvPr/>
          </p:nvSpPr>
          <p:spPr>
            <a:xfrm>
              <a:off x="272891" y="0"/>
              <a:ext cx="9046207" cy="579839"/>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         航海类、飞行类（</a:t>
              </a:r>
              <a:r>
                <a:rPr lang="zh-CN" altLang="en-US" sz="2400" dirty="0">
                  <a:solidFill>
                    <a:srgbClr val="000000"/>
                  </a:solidFill>
                  <a:latin typeface="方正粗黑宋简体" panose="02000000000000000000" charset="-122"/>
                  <a:ea typeface="方正粗黑宋简体" panose="02000000000000000000" charset="-122"/>
                  <a:sym typeface="+mn-ea"/>
                </a:rPr>
                <a:t>空军、</a:t>
              </a:r>
              <a:r>
                <a:rPr lang="zh-CN" altLang="en-US" sz="2400" dirty="0">
                  <a:solidFill>
                    <a:srgbClr val="000000"/>
                  </a:solidFill>
                  <a:latin typeface="方正粗黑宋简体" panose="02000000000000000000" charset="-122"/>
                  <a:ea typeface="方正粗黑宋简体" panose="02000000000000000000" charset="-122"/>
                  <a:sym typeface="+mn-ea"/>
                </a:rPr>
                <a:t>海军、</a:t>
              </a:r>
              <a:r>
                <a:rPr lang="zh-CN" altLang="en-US" sz="2400" dirty="0">
                  <a:solidFill>
                    <a:srgbClr val="000000"/>
                  </a:solidFill>
                  <a:latin typeface="方正粗黑宋简体" panose="02000000000000000000" charset="-122"/>
                  <a:ea typeface="方正粗黑宋简体" panose="02000000000000000000" charset="-122"/>
                  <a:sym typeface="+mn-ea"/>
                </a:rPr>
                <a:t>民航三项招飞</a:t>
              </a:r>
              <a:r>
                <a:rPr lang="zh-CN" altLang="en-US" sz="2400" b="0" i="0" dirty="0">
                  <a:solidFill>
                    <a:srgbClr val="000000"/>
                  </a:solidFill>
                  <a:latin typeface="方正粗黑宋简体" panose="02000000000000000000" charset="-122"/>
                  <a:ea typeface="方正粗黑宋简体" panose="02000000000000000000" charset="-122"/>
                </a:rPr>
                <a:t>）</a:t>
              </a:r>
              <a:endParaRPr lang="zh-CN" altLang="en-US" sz="2400" b="0" i="0" dirty="0">
                <a:solidFill>
                  <a:srgbClr val="000000"/>
                </a:solidFill>
                <a:latin typeface="方正粗黑宋简体" panose="02000000000000000000" charset="-122"/>
                <a:ea typeface="方正粗黑宋简体" panose="02000000000000000000" charset="-122"/>
              </a:endParaRPr>
            </a:p>
          </p:txBody>
        </p:sp>
      </p:grpSp>
      <p:pic>
        <p:nvPicPr>
          <p:cNvPr id="8" name="图片 7"/>
          <p:cNvPicPr>
            <a:picLocks noChangeAspect="1"/>
          </p:cNvPicPr>
          <p:nvPr/>
        </p:nvPicPr>
        <p:blipFill>
          <a:blip r:embed="rId3"/>
          <a:stretch>
            <a:fillRect/>
          </a:stretch>
        </p:blipFill>
        <p:spPr>
          <a:xfrm>
            <a:off x="0" y="1177290"/>
            <a:ext cx="6256020" cy="1744980"/>
          </a:xfrm>
          <a:prstGeom prst="rect">
            <a:avLst/>
          </a:prstGeom>
        </p:spPr>
      </p:pic>
      <p:pic>
        <p:nvPicPr>
          <p:cNvPr id="10" name="图片 9"/>
          <p:cNvPicPr>
            <a:picLocks noChangeAspect="1"/>
          </p:cNvPicPr>
          <p:nvPr/>
        </p:nvPicPr>
        <p:blipFill>
          <a:blip r:embed="rId4"/>
          <a:stretch>
            <a:fillRect/>
          </a:stretch>
        </p:blipFill>
        <p:spPr>
          <a:xfrm>
            <a:off x="0" y="2922270"/>
            <a:ext cx="6019800" cy="1325880"/>
          </a:xfrm>
          <a:prstGeom prst="rect">
            <a:avLst/>
          </a:prstGeom>
        </p:spPr>
      </p:pic>
      <p:pic>
        <p:nvPicPr>
          <p:cNvPr id="11" name="图片 10"/>
          <p:cNvPicPr>
            <a:picLocks noChangeAspect="1"/>
          </p:cNvPicPr>
          <p:nvPr/>
        </p:nvPicPr>
        <p:blipFill>
          <a:blip r:embed="rId5"/>
          <a:stretch>
            <a:fillRect/>
          </a:stretch>
        </p:blipFill>
        <p:spPr>
          <a:xfrm>
            <a:off x="6019800" y="1268730"/>
            <a:ext cx="6050280" cy="406908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rcRect l="9392" t="16518" r="27720" b="6946"/>
          <a:stretch>
            <a:fillRect/>
          </a:stretch>
        </p:blipFill>
        <p:spPr>
          <a:xfrm rot="5400000">
            <a:off x="2667002" y="-2666999"/>
            <a:ext cx="6857996" cy="12192000"/>
          </a:xfrm>
          <a:prstGeom prst="rect">
            <a:avLst/>
          </a:prstGeom>
        </p:spPr>
      </p:pic>
      <p:sp>
        <p:nvSpPr>
          <p:cNvPr id="3" name="形状1"/>
          <p:cNvSpPr txBox="1"/>
          <p:nvPr/>
        </p:nvSpPr>
        <p:spPr>
          <a:xfrm>
            <a:off x="89937" y="117262"/>
            <a:ext cx="12025863" cy="6623475"/>
          </a:xfrm>
          <a:prstGeom prst="roundRect">
            <a:avLst/>
          </a:prstGeom>
          <a:solidFill>
            <a:srgbClr val="FFFFFF">
              <a:alpha val="98823"/>
            </a:srgbClr>
          </a:solidFill>
          <a:ln w="9525">
            <a:solidFill>
              <a:srgbClr val="FFFFFF">
                <a:alpha val="0"/>
              </a:srgbClr>
            </a:solidFill>
          </a:ln>
        </p:spPr>
        <p:txBody>
          <a:bodyPr wrap="square" rtlCol="0" anchor="ctr"/>
          <a:lstStyle/>
          <a:p>
            <a:pPr marL="0" algn="ctr"/>
          </a:p>
        </p:txBody>
      </p:sp>
      <p:grpSp>
        <p:nvGrpSpPr>
          <p:cNvPr id="4" name="组合1"/>
          <p:cNvGrpSpPr/>
          <p:nvPr/>
        </p:nvGrpSpPr>
        <p:grpSpPr>
          <a:xfrm>
            <a:off x="2723569" y="163878"/>
            <a:ext cx="9319098" cy="665543"/>
            <a:chOff x="0" y="0"/>
            <a:chExt cx="9319098" cy="665543"/>
          </a:xfrm>
        </p:grpSpPr>
        <p:sp>
          <p:nvSpPr>
            <p:cNvPr id="5" name="形状2"/>
            <p:cNvSpPr txBox="1"/>
            <p:nvPr/>
          </p:nvSpPr>
          <p:spPr>
            <a:xfrm>
              <a:off x="0" y="205168"/>
              <a:ext cx="7236460" cy="460375"/>
            </a:xfrm>
            <a:prstGeom prst="rect">
              <a:avLst/>
            </a:prstGeom>
            <a:solidFill>
              <a:srgbClr val="FFFFFF">
                <a:alpha val="0"/>
              </a:srgbClr>
            </a:solidFill>
            <a:ln w="9525">
              <a:solidFill>
                <a:srgbClr val="FFFFFF">
                  <a:alpha val="0"/>
                </a:srgbClr>
              </a:solidFill>
            </a:ln>
          </p:spPr>
          <p:txBody>
            <a:bodyPr wrap="square" rtlCol="0" anchor="ctr"/>
            <a:lstStyle/>
            <a:p>
              <a:pPr marL="0" algn="ctr"/>
            </a:p>
          </p:txBody>
        </p:sp>
        <p:sp>
          <p:nvSpPr>
            <p:cNvPr id="6" name="文本1"/>
            <p:cNvSpPr txBox="1"/>
            <p:nvPr/>
          </p:nvSpPr>
          <p:spPr>
            <a:xfrm>
              <a:off x="272891" y="0"/>
              <a:ext cx="9046207" cy="579839"/>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航海类、飞行类（</a:t>
              </a:r>
              <a:r>
                <a:rPr lang="zh-CN" altLang="en-US" sz="2400" dirty="0">
                  <a:solidFill>
                    <a:srgbClr val="000000"/>
                  </a:solidFill>
                  <a:latin typeface="方正粗黑宋简体" panose="02000000000000000000" charset="-122"/>
                  <a:ea typeface="方正粗黑宋简体" panose="02000000000000000000" charset="-122"/>
                  <a:sym typeface="+mn-ea"/>
                </a:rPr>
                <a:t>空军、</a:t>
              </a:r>
              <a:r>
                <a:rPr lang="zh-CN" altLang="en-US" sz="2400" dirty="0">
                  <a:solidFill>
                    <a:srgbClr val="000000"/>
                  </a:solidFill>
                  <a:latin typeface="方正粗黑宋简体" panose="02000000000000000000" charset="-122"/>
                  <a:ea typeface="方正粗黑宋简体" panose="02000000000000000000" charset="-122"/>
                  <a:sym typeface="+mn-ea"/>
                </a:rPr>
                <a:t>海军、</a:t>
              </a:r>
              <a:r>
                <a:rPr lang="zh-CN" altLang="en-US" sz="2400" dirty="0">
                  <a:solidFill>
                    <a:srgbClr val="000000"/>
                  </a:solidFill>
                  <a:latin typeface="方正粗黑宋简体" panose="02000000000000000000" charset="-122"/>
                  <a:ea typeface="方正粗黑宋简体" panose="02000000000000000000" charset="-122"/>
                  <a:sym typeface="+mn-ea"/>
                </a:rPr>
                <a:t>民航三项招飞</a:t>
              </a:r>
              <a:r>
                <a:rPr lang="zh-CN" altLang="en-US" sz="2400" b="0" i="0" dirty="0">
                  <a:solidFill>
                    <a:srgbClr val="000000"/>
                  </a:solidFill>
                  <a:latin typeface="方正粗黑宋简体" panose="02000000000000000000" charset="-122"/>
                  <a:ea typeface="方正粗黑宋简体" panose="02000000000000000000" charset="-122"/>
                </a:rPr>
                <a:t>）</a:t>
              </a:r>
              <a:endParaRPr lang="zh-CN" altLang="en-US" sz="2400" b="0" i="0" dirty="0">
                <a:solidFill>
                  <a:srgbClr val="000000"/>
                </a:solidFill>
                <a:latin typeface="方正粗黑宋简体" panose="02000000000000000000" charset="-122"/>
                <a:ea typeface="方正粗黑宋简体" panose="02000000000000000000" charset="-122"/>
              </a:endParaRPr>
            </a:p>
          </p:txBody>
        </p:sp>
      </p:grpSp>
      <p:pic>
        <p:nvPicPr>
          <p:cNvPr id="8" name="图片2"/>
          <p:cNvPicPr>
            <a:picLocks noChangeAspect="1"/>
          </p:cNvPicPr>
          <p:nvPr/>
        </p:nvPicPr>
        <p:blipFill>
          <a:blip r:embed="rId2"/>
          <a:stretch>
            <a:fillRect/>
          </a:stretch>
        </p:blipFill>
        <p:spPr>
          <a:xfrm rot="4613640">
            <a:off x="127378" y="63779"/>
            <a:ext cx="1189917" cy="1020701"/>
          </a:xfrm>
          <a:prstGeom prst="rect">
            <a:avLst/>
          </a:prstGeom>
        </p:spPr>
      </p:pic>
      <p:pic>
        <p:nvPicPr>
          <p:cNvPr id="9" name="图片 8"/>
          <p:cNvPicPr>
            <a:picLocks noChangeAspect="1"/>
          </p:cNvPicPr>
          <p:nvPr/>
        </p:nvPicPr>
        <p:blipFill>
          <a:blip r:embed="rId3"/>
          <a:stretch>
            <a:fillRect/>
          </a:stretch>
        </p:blipFill>
        <p:spPr>
          <a:xfrm>
            <a:off x="-62865" y="1149985"/>
            <a:ext cx="6248400" cy="1684020"/>
          </a:xfrm>
          <a:prstGeom prst="rect">
            <a:avLst/>
          </a:prstGeom>
        </p:spPr>
      </p:pic>
      <p:pic>
        <p:nvPicPr>
          <p:cNvPr id="10" name="图片 9"/>
          <p:cNvPicPr>
            <a:picLocks noChangeAspect="1"/>
          </p:cNvPicPr>
          <p:nvPr/>
        </p:nvPicPr>
        <p:blipFill>
          <a:blip r:embed="rId4"/>
          <a:stretch>
            <a:fillRect/>
          </a:stretch>
        </p:blipFill>
        <p:spPr>
          <a:xfrm>
            <a:off x="-62865" y="2834005"/>
            <a:ext cx="6065520" cy="1592580"/>
          </a:xfrm>
          <a:prstGeom prst="rect">
            <a:avLst/>
          </a:prstGeom>
        </p:spPr>
      </p:pic>
      <p:pic>
        <p:nvPicPr>
          <p:cNvPr id="11" name="图片 10"/>
          <p:cNvPicPr>
            <a:picLocks noChangeAspect="1"/>
          </p:cNvPicPr>
          <p:nvPr/>
        </p:nvPicPr>
        <p:blipFill>
          <a:blip r:embed="rId5"/>
          <a:stretch>
            <a:fillRect/>
          </a:stretch>
        </p:blipFill>
        <p:spPr>
          <a:xfrm>
            <a:off x="6103620" y="1691005"/>
            <a:ext cx="6088380" cy="273558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rcRect l="9392" t="16518" r="27720" b="6946"/>
          <a:stretch>
            <a:fillRect/>
          </a:stretch>
        </p:blipFill>
        <p:spPr>
          <a:xfrm rot="5400000">
            <a:off x="2667002" y="-2666999"/>
            <a:ext cx="6857996" cy="12192000"/>
          </a:xfrm>
          <a:prstGeom prst="rect">
            <a:avLst/>
          </a:prstGeom>
        </p:spPr>
      </p:pic>
      <p:sp>
        <p:nvSpPr>
          <p:cNvPr id="3" name="形状1"/>
          <p:cNvSpPr txBox="1"/>
          <p:nvPr/>
        </p:nvSpPr>
        <p:spPr>
          <a:xfrm>
            <a:off x="89937" y="117262"/>
            <a:ext cx="12025863" cy="6623475"/>
          </a:xfrm>
          <a:prstGeom prst="roundRect">
            <a:avLst/>
          </a:prstGeom>
          <a:solidFill>
            <a:srgbClr val="FFFFFF">
              <a:alpha val="98823"/>
            </a:srgbClr>
          </a:solidFill>
          <a:ln w="9525">
            <a:solidFill>
              <a:srgbClr val="FFFFFF">
                <a:alpha val="0"/>
              </a:srgbClr>
            </a:solidFill>
          </a:ln>
        </p:spPr>
        <p:txBody>
          <a:bodyPr wrap="square" rtlCol="0" anchor="ctr"/>
          <a:lstStyle/>
          <a:p>
            <a:pPr marL="0" algn="ctr"/>
          </a:p>
        </p:txBody>
      </p:sp>
      <p:pic>
        <p:nvPicPr>
          <p:cNvPr id="4" name="图片2"/>
          <p:cNvPicPr>
            <a:picLocks noChangeAspect="1"/>
          </p:cNvPicPr>
          <p:nvPr/>
        </p:nvPicPr>
        <p:blipFill>
          <a:blip r:embed="rId2"/>
          <a:stretch>
            <a:fillRect/>
          </a:stretch>
        </p:blipFill>
        <p:spPr>
          <a:xfrm rot="4613640">
            <a:off x="200440" y="184833"/>
            <a:ext cx="1189917" cy="1020701"/>
          </a:xfrm>
          <a:prstGeom prst="rect">
            <a:avLst/>
          </a:prstGeom>
        </p:spPr>
      </p:pic>
      <p:grpSp>
        <p:nvGrpSpPr>
          <p:cNvPr id="5" name="组合1"/>
          <p:cNvGrpSpPr/>
          <p:nvPr/>
        </p:nvGrpSpPr>
        <p:grpSpPr>
          <a:xfrm>
            <a:off x="1556252" y="141227"/>
            <a:ext cx="8583177" cy="786597"/>
            <a:chOff x="0" y="0"/>
            <a:chExt cx="8583177" cy="786597"/>
          </a:xfrm>
        </p:grpSpPr>
        <p:sp>
          <p:nvSpPr>
            <p:cNvPr id="6" name="形状2"/>
            <p:cNvSpPr txBox="1"/>
            <p:nvPr/>
          </p:nvSpPr>
          <p:spPr>
            <a:xfrm>
              <a:off x="0" y="326222"/>
              <a:ext cx="7236460" cy="460375"/>
            </a:xfrm>
            <a:prstGeom prst="rect">
              <a:avLst/>
            </a:prstGeom>
            <a:solidFill>
              <a:srgbClr val="FFFFFF">
                <a:alpha val="0"/>
              </a:srgbClr>
            </a:solidFill>
            <a:ln w="9525">
              <a:solidFill>
                <a:srgbClr val="FFFFFF">
                  <a:alpha val="0"/>
                </a:srgbClr>
              </a:solidFill>
            </a:ln>
          </p:spPr>
          <p:txBody>
            <a:bodyPr wrap="square" rtlCol="0" anchor="ctr"/>
            <a:lstStyle/>
            <a:p>
              <a:pPr marL="0" algn="ctr"/>
            </a:p>
          </p:txBody>
        </p:sp>
        <p:sp>
          <p:nvSpPr>
            <p:cNvPr id="7" name="文本1"/>
            <p:cNvSpPr txBox="1"/>
            <p:nvPr/>
          </p:nvSpPr>
          <p:spPr>
            <a:xfrm>
              <a:off x="1422920" y="0"/>
              <a:ext cx="7160257" cy="579839"/>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航海类、飞行类（空军、</a:t>
              </a:r>
              <a:r>
                <a:rPr lang="zh-CN" altLang="en-US" sz="2400" dirty="0">
                  <a:solidFill>
                    <a:srgbClr val="000000"/>
                  </a:solidFill>
                  <a:latin typeface="方正粗黑宋简体" panose="02000000000000000000" charset="-122"/>
                  <a:ea typeface="方正粗黑宋简体" panose="02000000000000000000" charset="-122"/>
                  <a:sym typeface="+mn-ea"/>
                </a:rPr>
                <a:t>海军、</a:t>
              </a:r>
              <a:r>
                <a:rPr lang="zh-CN" altLang="en-US" sz="2400" b="0" i="0" dirty="0">
                  <a:solidFill>
                    <a:srgbClr val="000000"/>
                  </a:solidFill>
                  <a:latin typeface="方正粗黑宋简体" panose="02000000000000000000" charset="-122"/>
                  <a:ea typeface="方正粗黑宋简体" panose="02000000000000000000" charset="-122"/>
                </a:rPr>
                <a:t>民航三项招飞）</a:t>
              </a:r>
              <a:endParaRPr lang="zh-CN" altLang="en-US" sz="2400" b="0" i="0" dirty="0">
                <a:solidFill>
                  <a:srgbClr val="000000"/>
                </a:solidFill>
                <a:latin typeface="方正粗黑宋简体" panose="02000000000000000000" charset="-122"/>
                <a:ea typeface="方正粗黑宋简体" panose="02000000000000000000" charset="-122"/>
              </a:endParaRPr>
            </a:p>
          </p:txBody>
        </p:sp>
      </p:grpSp>
      <p:pic>
        <p:nvPicPr>
          <p:cNvPr id="9" name="图片 8"/>
          <p:cNvPicPr>
            <a:picLocks noChangeAspect="1"/>
          </p:cNvPicPr>
          <p:nvPr/>
        </p:nvPicPr>
        <p:blipFill>
          <a:blip r:embed="rId3"/>
          <a:stretch>
            <a:fillRect/>
          </a:stretch>
        </p:blipFill>
        <p:spPr>
          <a:xfrm>
            <a:off x="-92075" y="1390650"/>
            <a:ext cx="6332220" cy="1630680"/>
          </a:xfrm>
          <a:prstGeom prst="rect">
            <a:avLst/>
          </a:prstGeom>
        </p:spPr>
      </p:pic>
      <p:pic>
        <p:nvPicPr>
          <p:cNvPr id="10" name="图片 9"/>
          <p:cNvPicPr>
            <a:picLocks noChangeAspect="1"/>
          </p:cNvPicPr>
          <p:nvPr/>
        </p:nvPicPr>
        <p:blipFill>
          <a:blip r:embed="rId4"/>
          <a:stretch>
            <a:fillRect/>
          </a:stretch>
        </p:blipFill>
        <p:spPr>
          <a:xfrm>
            <a:off x="0" y="3021330"/>
            <a:ext cx="6035040" cy="1996440"/>
          </a:xfrm>
          <a:prstGeom prst="rect">
            <a:avLst/>
          </a:prstGeom>
        </p:spPr>
      </p:pic>
      <p:pic>
        <p:nvPicPr>
          <p:cNvPr id="12" name="图片 11"/>
          <p:cNvPicPr>
            <a:picLocks noChangeAspect="1"/>
          </p:cNvPicPr>
          <p:nvPr/>
        </p:nvPicPr>
        <p:blipFill>
          <a:blip r:embed="rId5"/>
          <a:stretch>
            <a:fillRect/>
          </a:stretch>
        </p:blipFill>
        <p:spPr>
          <a:xfrm>
            <a:off x="6164580" y="1499235"/>
            <a:ext cx="6027420" cy="325374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rcRect l="9392" t="16518" r="27720" b="6946"/>
          <a:stretch>
            <a:fillRect/>
          </a:stretch>
        </p:blipFill>
        <p:spPr>
          <a:xfrm rot="5400000">
            <a:off x="2667002" y="-2666999"/>
            <a:ext cx="6857996" cy="12192000"/>
          </a:xfrm>
          <a:prstGeom prst="rect">
            <a:avLst/>
          </a:prstGeom>
        </p:spPr>
      </p:pic>
      <p:sp>
        <p:nvSpPr>
          <p:cNvPr id="3" name="形状1"/>
          <p:cNvSpPr txBox="1"/>
          <p:nvPr/>
        </p:nvSpPr>
        <p:spPr>
          <a:xfrm>
            <a:off x="89937" y="117262"/>
            <a:ext cx="12025863" cy="6623475"/>
          </a:xfrm>
          <a:prstGeom prst="roundRect">
            <a:avLst/>
          </a:prstGeom>
          <a:solidFill>
            <a:srgbClr val="FFFFFF">
              <a:alpha val="98823"/>
            </a:srgbClr>
          </a:solidFill>
          <a:ln w="9525">
            <a:solidFill>
              <a:srgbClr val="FFFFFF">
                <a:alpha val="0"/>
              </a:srgbClr>
            </a:solidFill>
          </a:ln>
        </p:spPr>
        <p:txBody>
          <a:bodyPr wrap="square" rtlCol="0" anchor="ctr"/>
          <a:lstStyle/>
          <a:p>
            <a:pPr marL="0" algn="ctr"/>
            <a:r>
              <a:rPr lang="zh-CN" altLang="en-US" sz="2200" b="0" i="0" dirty="0">
                <a:solidFill>
                  <a:srgbClr val="FFFFFF"/>
                </a:solidFill>
                <a:latin typeface="微软雅黑" panose="020B0503020204020204" charset="-122"/>
                <a:ea typeface="微软雅黑" panose="020B0503020204020204" charset="-122"/>
              </a:rPr>
              <a:t>+</a:t>
            </a:r>
            <a:endParaRPr lang="zh-CN" altLang="en-US" sz="2200" b="0" i="0" dirty="0">
              <a:solidFill>
                <a:srgbClr val="FFFFFF"/>
              </a:solidFill>
              <a:latin typeface="微软雅黑" panose="020B0503020204020204" charset="-122"/>
              <a:ea typeface="微软雅黑" panose="020B0503020204020204" charset="-122"/>
            </a:endParaRPr>
          </a:p>
        </p:txBody>
      </p:sp>
      <p:pic>
        <p:nvPicPr>
          <p:cNvPr id="4" name="图片2"/>
          <p:cNvPicPr>
            <a:picLocks noChangeAspect="1"/>
          </p:cNvPicPr>
          <p:nvPr/>
        </p:nvPicPr>
        <p:blipFill>
          <a:blip r:embed="rId2"/>
          <a:stretch>
            <a:fillRect/>
          </a:stretch>
        </p:blipFill>
        <p:spPr>
          <a:xfrm rot="4613640">
            <a:off x="200440" y="184833"/>
            <a:ext cx="1189917" cy="1020701"/>
          </a:xfrm>
          <a:prstGeom prst="rect">
            <a:avLst/>
          </a:prstGeom>
        </p:spPr>
      </p:pic>
      <p:grpSp>
        <p:nvGrpSpPr>
          <p:cNvPr id="5" name="组合1"/>
          <p:cNvGrpSpPr/>
          <p:nvPr/>
        </p:nvGrpSpPr>
        <p:grpSpPr>
          <a:xfrm>
            <a:off x="1859655" y="1199877"/>
            <a:ext cx="9941557" cy="579839"/>
            <a:chOff x="0" y="0"/>
            <a:chExt cx="9941557" cy="579839"/>
          </a:xfrm>
        </p:grpSpPr>
        <p:sp>
          <p:nvSpPr>
            <p:cNvPr id="6" name="形状2"/>
            <p:cNvSpPr txBox="1"/>
            <p:nvPr/>
          </p:nvSpPr>
          <p:spPr>
            <a:xfrm>
              <a:off x="3370546" y="40880"/>
              <a:ext cx="2514350" cy="460368"/>
            </a:xfrm>
            <a:prstGeom prst="rect">
              <a:avLst/>
            </a:prstGeom>
            <a:solidFill>
              <a:srgbClr val="FFFFFF">
                <a:alpha val="0"/>
              </a:srgbClr>
            </a:solidFill>
            <a:ln w="9525">
              <a:solidFill>
                <a:srgbClr val="FFFFFF">
                  <a:alpha val="0"/>
                </a:srgbClr>
              </a:solidFill>
            </a:ln>
          </p:spPr>
          <p:txBody>
            <a:bodyPr wrap="square" rtlCol="0" anchor="ctr"/>
            <a:lstStyle/>
            <a:p>
              <a:pPr marL="0" algn="ctr"/>
            </a:p>
          </p:txBody>
        </p:sp>
        <p:sp>
          <p:nvSpPr>
            <p:cNvPr id="7" name="文本2"/>
            <p:cNvSpPr txBox="1"/>
            <p:nvPr/>
          </p:nvSpPr>
          <p:spPr>
            <a:xfrm>
              <a:off x="0" y="0"/>
              <a:ext cx="9941557" cy="579839"/>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路径四：军校类、公安类、航海类、飞行类（</a:t>
              </a:r>
              <a:r>
                <a:rPr lang="zh-CN" altLang="en-US" sz="2400" dirty="0">
                  <a:solidFill>
                    <a:srgbClr val="000000"/>
                  </a:solidFill>
                  <a:latin typeface="方正粗黑宋简体" panose="02000000000000000000" charset="-122"/>
                  <a:ea typeface="方正粗黑宋简体" panose="02000000000000000000" charset="-122"/>
                  <a:sym typeface="+mn-ea"/>
                </a:rPr>
                <a:t>空军、</a:t>
              </a:r>
              <a:r>
                <a:rPr lang="zh-CN" altLang="en-US" sz="2400" dirty="0">
                  <a:solidFill>
                    <a:srgbClr val="000000"/>
                  </a:solidFill>
                  <a:latin typeface="方正粗黑宋简体" panose="02000000000000000000" charset="-122"/>
                  <a:ea typeface="方正粗黑宋简体" panose="02000000000000000000" charset="-122"/>
                  <a:sym typeface="+mn-ea"/>
                </a:rPr>
                <a:t>海军、</a:t>
              </a:r>
              <a:r>
                <a:rPr lang="zh-CN" altLang="en-US" sz="2400" dirty="0">
                  <a:solidFill>
                    <a:srgbClr val="000000"/>
                  </a:solidFill>
                  <a:latin typeface="方正粗黑宋简体" panose="02000000000000000000" charset="-122"/>
                  <a:ea typeface="方正粗黑宋简体" panose="02000000000000000000" charset="-122"/>
                  <a:sym typeface="+mn-ea"/>
                </a:rPr>
                <a:t>民航三项招飞</a:t>
              </a:r>
              <a:r>
                <a:rPr lang="zh-CN" altLang="en-US" sz="2400" b="0" i="0" dirty="0">
                  <a:solidFill>
                    <a:srgbClr val="000000"/>
                  </a:solidFill>
                  <a:latin typeface="方正粗黑宋简体" panose="02000000000000000000" charset="-122"/>
                  <a:ea typeface="方正粗黑宋简体" panose="02000000000000000000" charset="-122"/>
                </a:rPr>
                <a:t>）</a:t>
              </a:r>
              <a:endParaRPr lang="zh-CN" altLang="en-US" sz="2400" b="0" i="0" dirty="0">
                <a:solidFill>
                  <a:srgbClr val="000000"/>
                </a:solidFill>
                <a:latin typeface="方正粗黑宋简体" panose="02000000000000000000" charset="-122"/>
                <a:ea typeface="方正粗黑宋简体" panose="02000000000000000000" charset="-122"/>
              </a:endParaRPr>
            </a:p>
          </p:txBody>
        </p:sp>
      </p:grpSp>
      <p:pic>
        <p:nvPicPr>
          <p:cNvPr id="9" name="表格1"/>
          <p:cNvPicPr>
            <a:picLocks noChangeAspect="1"/>
          </p:cNvPicPr>
          <p:nvPr/>
        </p:nvPicPr>
        <p:blipFill>
          <a:blip r:embed="rId3"/>
          <a:stretch>
            <a:fillRect/>
          </a:stretch>
        </p:blipFill>
        <p:spPr>
          <a:xfrm>
            <a:off x="600551" y="2261921"/>
            <a:ext cx="10991850" cy="3222974"/>
          </a:xfrm>
          <a:prstGeom prst="rect">
            <a:avLst/>
          </a:prstGeom>
        </p:spPr>
      </p:pic>
      <p:pic>
        <p:nvPicPr>
          <p:cNvPr id="10" name="图片3"/>
          <p:cNvPicPr>
            <a:picLocks noChangeAspect="1"/>
          </p:cNvPicPr>
          <p:nvPr/>
        </p:nvPicPr>
        <p:blipFill>
          <a:blip r:embed="rId4"/>
          <a:stretch>
            <a:fillRect/>
          </a:stretch>
        </p:blipFill>
        <p:spPr>
          <a:xfrm>
            <a:off x="908399" y="3634616"/>
            <a:ext cx="1409700" cy="478441"/>
          </a:xfrm>
          <a:prstGeom prst="rect">
            <a:avLst/>
          </a:prstGeom>
        </p:spPr>
      </p:pic>
      <p:pic>
        <p:nvPicPr>
          <p:cNvPr id="11" name="图片4"/>
          <p:cNvPicPr>
            <a:picLocks noChangeAspect="1"/>
          </p:cNvPicPr>
          <p:nvPr/>
        </p:nvPicPr>
        <p:blipFill>
          <a:blip r:embed="rId5"/>
          <a:stretch>
            <a:fillRect/>
          </a:stretch>
        </p:blipFill>
        <p:spPr>
          <a:xfrm>
            <a:off x="2942911" y="3328606"/>
            <a:ext cx="1263853" cy="1480509"/>
          </a:xfrm>
          <a:prstGeom prst="rect">
            <a:avLst/>
          </a:prstGeom>
        </p:spPr>
      </p:pic>
      <p:pic>
        <p:nvPicPr>
          <p:cNvPr id="12" name="图片5"/>
          <p:cNvPicPr>
            <a:picLocks noChangeAspect="1"/>
          </p:cNvPicPr>
          <p:nvPr/>
        </p:nvPicPr>
        <p:blipFill>
          <a:blip r:embed="rId6"/>
          <a:stretch>
            <a:fillRect/>
          </a:stretch>
        </p:blipFill>
        <p:spPr>
          <a:xfrm>
            <a:off x="4788246" y="3092768"/>
            <a:ext cx="2615851" cy="2314575"/>
          </a:xfrm>
          <a:prstGeom prst="rect">
            <a:avLst/>
          </a:prstGeom>
        </p:spPr>
      </p:pic>
      <p:pic>
        <p:nvPicPr>
          <p:cNvPr id="13" name="图片6"/>
          <p:cNvPicPr>
            <a:picLocks noChangeAspect="1"/>
          </p:cNvPicPr>
          <p:nvPr/>
        </p:nvPicPr>
        <p:blipFill>
          <a:blip r:embed="rId7"/>
          <a:srcRect l="902"/>
          <a:stretch>
            <a:fillRect/>
          </a:stretch>
        </p:blipFill>
        <p:spPr>
          <a:xfrm>
            <a:off x="7596816" y="3501323"/>
            <a:ext cx="3905050" cy="130789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3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3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3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3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2"/>
          <a:stretch>
            <a:fillRect/>
          </a:stretch>
        </p:blipFill>
        <p:spPr>
          <a:xfrm>
            <a:off x="3251264" y="699087"/>
            <a:ext cx="7153275" cy="566737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rcRect l="9392" t="16518" r="27720" b="6946"/>
          <a:stretch>
            <a:fillRect/>
          </a:stretch>
        </p:blipFill>
        <p:spPr>
          <a:xfrm rot="5400000">
            <a:off x="2667002" y="-2666999"/>
            <a:ext cx="6857996" cy="12192000"/>
          </a:xfrm>
          <a:prstGeom prst="rect">
            <a:avLst/>
          </a:prstGeom>
        </p:spPr>
      </p:pic>
      <p:sp>
        <p:nvSpPr>
          <p:cNvPr id="3" name="形状1"/>
          <p:cNvSpPr txBox="1"/>
          <p:nvPr/>
        </p:nvSpPr>
        <p:spPr>
          <a:xfrm>
            <a:off x="89937" y="117262"/>
            <a:ext cx="12025863" cy="6623475"/>
          </a:xfrm>
          <a:prstGeom prst="roundRect">
            <a:avLst/>
          </a:prstGeom>
          <a:solidFill>
            <a:srgbClr val="FFFFFF">
              <a:alpha val="98823"/>
            </a:srgbClr>
          </a:solidFill>
          <a:ln w="9525">
            <a:solidFill>
              <a:srgbClr val="FFFFFF">
                <a:alpha val="0"/>
              </a:srgbClr>
            </a:solidFill>
          </a:ln>
        </p:spPr>
        <p:txBody>
          <a:bodyPr wrap="square" rtlCol="0" anchor="ctr"/>
          <a:lstStyle/>
          <a:p>
            <a:pPr marL="0" algn="ctr"/>
          </a:p>
        </p:txBody>
      </p:sp>
      <p:pic>
        <p:nvPicPr>
          <p:cNvPr id="4" name="图片2"/>
          <p:cNvPicPr>
            <a:picLocks noChangeAspect="1"/>
          </p:cNvPicPr>
          <p:nvPr/>
        </p:nvPicPr>
        <p:blipFill>
          <a:blip r:embed="rId2"/>
          <a:stretch>
            <a:fillRect/>
          </a:stretch>
        </p:blipFill>
        <p:spPr>
          <a:xfrm rot="4613640">
            <a:off x="200440" y="184833"/>
            <a:ext cx="1189917" cy="1020701"/>
          </a:xfrm>
          <a:prstGeom prst="rect">
            <a:avLst/>
          </a:prstGeom>
        </p:spPr>
      </p:pic>
      <p:sp>
        <p:nvSpPr>
          <p:cNvPr id="5" name="文本1"/>
          <p:cNvSpPr txBox="1"/>
          <p:nvPr/>
        </p:nvSpPr>
        <p:spPr>
          <a:xfrm>
            <a:off x="4078262" y="405394"/>
            <a:ext cx="4845682" cy="579839"/>
          </a:xfrm>
          <a:prstGeom prst="rect">
            <a:avLst/>
          </a:prstGeom>
          <a:noFill/>
        </p:spPr>
        <p:txBody>
          <a:bodyPr wrap="square" rtlCol="0" anchor="t"/>
          <a:lstStyle/>
          <a:p>
            <a:pPr marL="0" algn="l"/>
            <a:r>
              <a:rPr lang="zh-CN" altLang="en-US" sz="2400" b="0" i="0" dirty="0">
                <a:solidFill>
                  <a:srgbClr val="000000"/>
                </a:solidFill>
                <a:latin typeface="方正粗黑宋简体" panose="02000000000000000000" charset="-122"/>
                <a:ea typeface="方正粗黑宋简体" panose="02000000000000000000" charset="-122"/>
              </a:rPr>
              <a:t>路径五：民族班 预科班 </a:t>
            </a:r>
            <a:endParaRPr lang="zh-CN" altLang="en-US" sz="2400" b="0" i="0" dirty="0">
              <a:solidFill>
                <a:srgbClr val="000000"/>
              </a:solidFill>
              <a:latin typeface="方正粗黑宋简体" panose="02000000000000000000" charset="-122"/>
              <a:ea typeface="方正粗黑宋简体" panose="02000000000000000000" charset="-122"/>
            </a:endParaRPr>
          </a:p>
        </p:txBody>
      </p:sp>
      <p:pic>
        <p:nvPicPr>
          <p:cNvPr id="6" name="表格1"/>
          <p:cNvPicPr>
            <a:picLocks noChangeAspect="1"/>
          </p:cNvPicPr>
          <p:nvPr/>
        </p:nvPicPr>
        <p:blipFill>
          <a:blip r:embed="rId3"/>
          <a:stretch>
            <a:fillRect/>
          </a:stretch>
        </p:blipFill>
        <p:spPr>
          <a:xfrm>
            <a:off x="243392" y="1178490"/>
            <a:ext cx="11482388" cy="5207292"/>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tretch>
            <a:fillRect/>
          </a:stretch>
        </p:blipFill>
        <p:spPr>
          <a:xfrm>
            <a:off x="591" y="-1000"/>
            <a:ext cx="12191428" cy="6859000"/>
          </a:xfrm>
          <a:prstGeom prst="rect">
            <a:avLst/>
          </a:prstGeom>
        </p:spPr>
      </p:pic>
      <p:pic>
        <p:nvPicPr>
          <p:cNvPr id="3" name="图片2"/>
          <p:cNvPicPr>
            <a:picLocks noChangeAspect="1"/>
          </p:cNvPicPr>
          <p:nvPr/>
        </p:nvPicPr>
        <p:blipFill>
          <a:blip r:embed="rId2"/>
          <a:stretch>
            <a:fillRect/>
          </a:stretch>
        </p:blipFill>
        <p:spPr>
          <a:xfrm>
            <a:off x="591" y="-1000"/>
            <a:ext cx="12190828" cy="6859000"/>
          </a:xfrm>
          <a:prstGeom prst="rect">
            <a:avLst/>
          </a:prstGeom>
        </p:spPr>
      </p:pic>
      <p:pic>
        <p:nvPicPr>
          <p:cNvPr id="4" name="图片3"/>
          <p:cNvPicPr>
            <a:picLocks noChangeAspect="1"/>
          </p:cNvPicPr>
          <p:nvPr/>
        </p:nvPicPr>
        <p:blipFill>
          <a:blip r:embed="rId3"/>
          <a:stretch>
            <a:fillRect/>
          </a:stretch>
        </p:blipFill>
        <p:spPr>
          <a:xfrm rot="18456000">
            <a:off x="8655758" y="4884639"/>
            <a:ext cx="1400175" cy="685800"/>
          </a:xfrm>
          <a:prstGeom prst="rect">
            <a:avLst/>
          </a:prstGeom>
        </p:spPr>
      </p:pic>
      <p:pic>
        <p:nvPicPr>
          <p:cNvPr id="5" name="图片4"/>
          <p:cNvPicPr>
            <a:picLocks noChangeAspect="1"/>
          </p:cNvPicPr>
          <p:nvPr/>
        </p:nvPicPr>
        <p:blipFill>
          <a:blip r:embed="rId4"/>
          <a:stretch>
            <a:fillRect/>
          </a:stretch>
        </p:blipFill>
        <p:spPr>
          <a:xfrm>
            <a:off x="3032169" y="857250"/>
            <a:ext cx="6127661" cy="5143500"/>
          </a:xfrm>
          <a:prstGeom prst="rect">
            <a:avLst/>
          </a:prstGeom>
        </p:spPr>
      </p:pic>
      <p:pic>
        <p:nvPicPr>
          <p:cNvPr id="6" name="图片5"/>
          <p:cNvPicPr>
            <a:picLocks noChangeAspect="1"/>
          </p:cNvPicPr>
          <p:nvPr/>
        </p:nvPicPr>
        <p:blipFill>
          <a:blip r:embed="rId5"/>
          <a:stretch>
            <a:fillRect/>
          </a:stretch>
        </p:blipFill>
        <p:spPr>
          <a:xfrm>
            <a:off x="1523657" y="2220030"/>
            <a:ext cx="9144000" cy="2504408"/>
          </a:xfrm>
          <a:prstGeom prst="rect">
            <a:avLst/>
          </a:prstGeom>
        </p:spPr>
      </p:pic>
      <p:pic>
        <p:nvPicPr>
          <p:cNvPr id="7" name="图片6"/>
          <p:cNvPicPr>
            <a:picLocks noChangeAspect="1"/>
          </p:cNvPicPr>
          <p:nvPr/>
        </p:nvPicPr>
        <p:blipFill>
          <a:blip r:embed="rId3"/>
          <a:stretch>
            <a:fillRect/>
          </a:stretch>
        </p:blipFill>
        <p:spPr>
          <a:xfrm rot="7308000">
            <a:off x="1473384" y="1326242"/>
            <a:ext cx="669026" cy="354187"/>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tretch>
            <a:fillRect/>
          </a:stretch>
        </p:blipFill>
        <p:spPr>
          <a:xfrm>
            <a:off x="-4140879" y="152"/>
            <a:ext cx="11719817" cy="6917341"/>
          </a:xfrm>
          <a:prstGeom prst="rect">
            <a:avLst/>
          </a:prstGeom>
        </p:spPr>
      </p:pic>
      <p:pic>
        <p:nvPicPr>
          <p:cNvPr id="3" name="图片2"/>
          <p:cNvPicPr>
            <a:picLocks noChangeAspect="1"/>
          </p:cNvPicPr>
          <p:nvPr/>
        </p:nvPicPr>
        <p:blipFill>
          <a:blip r:embed="rId2"/>
          <a:stretch>
            <a:fillRect/>
          </a:stretch>
        </p:blipFill>
        <p:spPr>
          <a:xfrm>
            <a:off x="-562" y="1938271"/>
            <a:ext cx="6572250" cy="3310042"/>
          </a:xfrm>
          <a:prstGeom prst="rect">
            <a:avLst/>
          </a:prstGeom>
        </p:spPr>
      </p:pic>
      <p:pic>
        <p:nvPicPr>
          <p:cNvPr id="4" name="图片3"/>
          <p:cNvPicPr>
            <a:picLocks noChangeAspect="1"/>
          </p:cNvPicPr>
          <p:nvPr/>
        </p:nvPicPr>
        <p:blipFill>
          <a:blip r:embed="rId3"/>
          <a:stretch>
            <a:fillRect/>
          </a:stretch>
        </p:blipFill>
        <p:spPr>
          <a:xfrm>
            <a:off x="1011203" y="4717104"/>
            <a:ext cx="4324350" cy="381000"/>
          </a:xfrm>
          <a:prstGeom prst="rect">
            <a:avLst/>
          </a:prstGeom>
        </p:spPr>
      </p:pic>
      <p:sp>
        <p:nvSpPr>
          <p:cNvPr id="5" name="文本1"/>
          <p:cNvSpPr txBox="1"/>
          <p:nvPr/>
        </p:nvSpPr>
        <p:spPr>
          <a:xfrm>
            <a:off x="188062" y="2213943"/>
            <a:ext cx="6486525" cy="2265362"/>
          </a:xfrm>
          <a:prstGeom prst="rect">
            <a:avLst/>
          </a:prstGeom>
          <a:noFill/>
        </p:spPr>
        <p:txBody>
          <a:bodyPr wrap="square" rtlCol="0" anchor="t"/>
          <a:lstStyle/>
          <a:p>
            <a:pPr marL="0" algn="l"/>
            <a:r>
              <a:rPr lang="zh-CN" altLang="en-US" sz="4400" b="0" i="0" dirty="0">
                <a:solidFill>
                  <a:srgbClr val="FFFFFF"/>
                </a:solidFill>
                <a:latin typeface="方正粗黑宋简体" panose="02000000000000000000" charset="-122"/>
                <a:ea typeface="方正粗黑宋简体" panose="02000000000000000000" charset="-122"/>
              </a:rPr>
              <a:t>统</a:t>
            </a:r>
            <a:r>
              <a:rPr lang="zh-CN" altLang="en-US" b="0" i="0" dirty="0">
                <a:solidFill>
                  <a:srgbClr val="FFFFFF"/>
                </a:solidFill>
                <a:latin typeface="微软雅黑" panose="020B0503020204020204" charset="-122"/>
                <a:ea typeface="微软雅黑" panose="020B0503020204020204" charset="-122"/>
              </a:rPr>
              <a:t>一高考，全称“普通高等学校招生全国统一考试”，简称高考，是目前高中学生升入大学的主要通道。统一高考一直是社会关注度最高、参加人数最多的考试。统一高考成绩，也是国内所有大学都认可的一种招生录取参考依据。统一高考的时间为每年的6月7日和8日。使用的试卷包括全国I 卷、全国II卷和部分省市教育考试院自主命题试卷。未来使用全国卷的省份会越来越多。</a:t>
            </a:r>
            <a:endParaRPr lang="zh-CN" altLang="en-US" b="0" i="0" dirty="0">
              <a:solidFill>
                <a:srgbClr val="FFFFFF"/>
              </a:solidFill>
              <a:latin typeface="微软雅黑" panose="020B0503020204020204" charset="-122"/>
              <a:ea typeface="微软雅黑" panose="020B0503020204020204" charset="-122"/>
            </a:endParaRPr>
          </a:p>
        </p:txBody>
      </p:sp>
      <p:sp>
        <p:nvSpPr>
          <p:cNvPr id="6" name="文本2"/>
          <p:cNvSpPr txBox="1"/>
          <p:nvPr/>
        </p:nvSpPr>
        <p:spPr>
          <a:xfrm>
            <a:off x="8551545" y="1740535"/>
            <a:ext cx="2742565" cy="2976880"/>
          </a:xfrm>
          <a:prstGeom prst="rect">
            <a:avLst/>
          </a:prstGeom>
          <a:noFill/>
        </p:spPr>
        <p:txBody>
          <a:bodyPr wrap="square" rtlCol="0" anchor="t"/>
          <a:lstStyle/>
          <a:p>
            <a:pPr marL="0" algn="l"/>
            <a:r>
              <a:rPr lang="zh-CN" altLang="en-US" sz="3600" b="0" i="0" dirty="0">
                <a:solidFill>
                  <a:schemeClr val="tx1"/>
                </a:solidFill>
                <a:latin typeface="宋体" panose="02010600030101010101" pitchFamily="2" charset="-122"/>
                <a:ea typeface="宋体" panose="02010600030101010101" pitchFamily="2" charset="-122"/>
                <a:cs typeface="宋体" panose="02010600030101010101" pitchFamily="2" charset="-122"/>
              </a:rPr>
              <a:t>3+1+2</a:t>
            </a:r>
            <a:endParaRPr lang="zh-CN" altLang="en-US" sz="3600" b="0" i="0" dirty="0">
              <a:solidFill>
                <a:schemeClr val="tx1"/>
              </a:solidFill>
              <a:latin typeface="宋体" panose="02010600030101010101" pitchFamily="2" charset="-122"/>
              <a:ea typeface="宋体" panose="02010600030101010101" pitchFamily="2" charset="-122"/>
              <a:cs typeface="宋体" panose="02010600030101010101" pitchFamily="2" charset="-122"/>
            </a:endParaRPr>
          </a:p>
          <a:p>
            <a:pPr marL="0" algn="l"/>
            <a:endParaRPr>
              <a:solidFill>
                <a:schemeClr val="tx1"/>
              </a:solidFill>
              <a:latin typeface="宋体" panose="02010600030101010101" pitchFamily="2" charset="-122"/>
              <a:ea typeface="宋体" panose="02010600030101010101" pitchFamily="2" charset="-122"/>
              <a:cs typeface="宋体" panose="02010600030101010101" pitchFamily="2" charset="-122"/>
            </a:endParaRPr>
          </a:p>
          <a:p>
            <a:pPr marL="0" algn="l"/>
            <a:endParaRPr>
              <a:solidFill>
                <a:schemeClr val="tx1"/>
              </a:solidFill>
              <a:latin typeface="宋体" panose="02010600030101010101" pitchFamily="2" charset="-122"/>
              <a:ea typeface="宋体" panose="02010600030101010101" pitchFamily="2" charset="-122"/>
              <a:cs typeface="宋体" panose="02010600030101010101" pitchFamily="2" charset="-122"/>
            </a:endParaRPr>
          </a:p>
          <a:p>
            <a:pPr marL="0" algn="l"/>
            <a:r>
              <a:rPr lang="zh-CN" altLang="en-US" sz="3600" b="0" i="0" dirty="0">
                <a:solidFill>
                  <a:schemeClr val="tx1"/>
                </a:solidFill>
                <a:latin typeface="宋体" panose="02010600030101010101" pitchFamily="2" charset="-122"/>
                <a:ea typeface="宋体" panose="02010600030101010101" pitchFamily="2" charset="-122"/>
                <a:cs typeface="宋体" panose="02010600030101010101" pitchFamily="2" charset="-122"/>
              </a:rPr>
              <a:t>高考</a:t>
            </a:r>
            <a:endParaRPr lang="zh-CN" altLang="en-US" sz="3600" b="0" i="0" dirty="0">
              <a:solidFill>
                <a:schemeClr val="tx1"/>
              </a:solidFill>
              <a:latin typeface="宋体" panose="02010600030101010101" pitchFamily="2" charset="-122"/>
              <a:ea typeface="宋体" panose="02010600030101010101" pitchFamily="2" charset="-122"/>
              <a:cs typeface="宋体" panose="02010600030101010101" pitchFamily="2"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 1"/>
          <p:cNvPicPr/>
          <p:nvPr/>
        </p:nvPicPr>
        <p:blipFill>
          <a:blip r:embed="rId1"/>
          <a:stretch>
            <a:fillRect/>
          </a:stretch>
        </p:blipFill>
        <p:spPr>
          <a:xfrm>
            <a:off x="2491105" y="0"/>
            <a:ext cx="6735445" cy="6721475"/>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图片1"/>
          <p:cNvPicPr>
            <a:picLocks noChangeAspect="1"/>
          </p:cNvPicPr>
          <p:nvPr/>
        </p:nvPicPr>
        <p:blipFill>
          <a:blip r:embed="rId1"/>
          <a:stretch>
            <a:fillRect/>
          </a:stretch>
        </p:blipFill>
        <p:spPr>
          <a:xfrm>
            <a:off x="591" y="-1000"/>
            <a:ext cx="12191428" cy="6859000"/>
          </a:xfrm>
          <a:prstGeom prst="rect">
            <a:avLst/>
          </a:prstGeom>
        </p:spPr>
      </p:pic>
      <p:pic>
        <p:nvPicPr>
          <p:cNvPr id="3" name="图片2"/>
          <p:cNvPicPr>
            <a:picLocks noChangeAspect="1"/>
          </p:cNvPicPr>
          <p:nvPr/>
        </p:nvPicPr>
        <p:blipFill>
          <a:blip r:embed="rId2"/>
          <a:stretch>
            <a:fillRect/>
          </a:stretch>
        </p:blipFill>
        <p:spPr>
          <a:xfrm>
            <a:off x="4723924" y="-600"/>
            <a:ext cx="7467790" cy="6858667"/>
          </a:xfrm>
          <a:prstGeom prst="rect">
            <a:avLst/>
          </a:prstGeom>
        </p:spPr>
      </p:pic>
      <p:sp>
        <p:nvSpPr>
          <p:cNvPr id="4" name="文本1"/>
          <p:cNvSpPr txBox="1"/>
          <p:nvPr/>
        </p:nvSpPr>
        <p:spPr>
          <a:xfrm>
            <a:off x="6619199" y="2772585"/>
            <a:ext cx="5343525" cy="1862074"/>
          </a:xfrm>
          <a:prstGeom prst="rect">
            <a:avLst/>
          </a:prstGeom>
          <a:noFill/>
        </p:spPr>
        <p:txBody>
          <a:bodyPr wrap="square" rtlCol="0" anchor="t"/>
          <a:lstStyle/>
          <a:p>
            <a:pPr marL="0" algn="l"/>
            <a:r>
              <a:rPr lang="zh-CN" altLang="en-US" sz="2700" b="0" i="0" dirty="0">
                <a:solidFill>
                  <a:srgbClr val="545457"/>
                </a:solidFill>
                <a:latin typeface="方正粗黑宋简体" panose="02000000000000000000" charset="-122"/>
                <a:ea typeface="方正粗黑宋简体" panose="02000000000000000000" charset="-122"/>
              </a:rPr>
              <a:t>无论你决定走何种途径升学，都要知道学习没有捷径，唯一的方法只有自律和勤奋。加油吧！少年!</a:t>
            </a:r>
            <a:endParaRPr lang="zh-CN" altLang="en-US" sz="2700" b="0" i="0" dirty="0">
              <a:solidFill>
                <a:srgbClr val="545457"/>
              </a:solidFill>
              <a:latin typeface="方正粗黑宋简体" panose="02000000000000000000" charset="-122"/>
              <a:ea typeface="方正粗黑宋简体" panose="02000000000000000000" charset="-122"/>
            </a:endParaRPr>
          </a:p>
          <a:p>
            <a:pPr marL="0" algn="l"/>
          </a:p>
        </p:txBody>
      </p:sp>
    </p:spTree>
  </p:cSld>
  <p:clrMapOvr>
    <a:masterClrMapping/>
  </p:clrMapOvr>
</p:sld>
</file>

<file path=ppt/tags/tag1.xml><?xml version="1.0" encoding="utf-8"?>
<p:tagLst xmlns:p="http://schemas.openxmlformats.org/presentationml/2006/main">
  <p:tag name="commondata" val="eyJoZGlkIjoiNjRiYmI3MTQ5ZWUyYTMxZTkyNGRmOTExMTY4NGEwODk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2045</Words>
  <Application>WPS 演示</Application>
  <PresentationFormat>宽屏</PresentationFormat>
  <Paragraphs>167</Paragraphs>
  <Slides>28</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28</vt:i4>
      </vt:variant>
    </vt:vector>
  </HeadingPairs>
  <TitlesOfParts>
    <vt:vector size="43" baseType="lpstr">
      <vt:lpstr>Arial</vt:lpstr>
      <vt:lpstr>宋体</vt:lpstr>
      <vt:lpstr>Wingdings</vt:lpstr>
      <vt:lpstr>方正粗黑宋简体</vt:lpstr>
      <vt:lpstr>爱奇艺黑体 Black</vt:lpstr>
      <vt:lpstr>黑体</vt:lpstr>
      <vt:lpstr>微软雅黑</vt:lpstr>
      <vt:lpstr>Wingdings</vt:lpstr>
      <vt:lpstr>&amp;quot</vt:lpstr>
      <vt:lpstr>Segoe Print</vt:lpstr>
      <vt:lpstr>等线</vt:lpstr>
      <vt:lpstr>Arial Unicode MS</vt:lpstr>
      <vt:lpstr>Calibri</vt:lpstr>
      <vt:lpstr>微软雅黑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上大学的N种途径</dc:title>
  <dc:creator>K7</dc:creator>
  <cp:lastModifiedBy>yA0</cp:lastModifiedBy>
  <cp:revision>13</cp:revision>
  <dcterms:created xsi:type="dcterms:W3CDTF">2024-04-15T13:01:00Z</dcterms:created>
  <dcterms:modified xsi:type="dcterms:W3CDTF">2026-03-11T01:45:51Z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licationName">
    <vt:lpwstr>EasiNote5</vt:lpwstr>
  </property>
  <property fmtid="{D5CDD505-2E9C-101B-9397-08002B2CF9AE}" pid="3" name="ApplicationVersion">
    <vt:lpwstr>5.2.4.6953</vt:lpwstr>
  </property>
  <property fmtid="{D5CDD505-2E9C-101B-9397-08002B2CF9AE}" pid="4" name="EasiNoteCoursewareInfo">
    <vt:lpwstr>e5a6aa59-176a-43b1-847e-648f3cc74010:6</vt:lpwstr>
  </property>
  <property fmtid="{D5CDD505-2E9C-101B-9397-08002B2CF9AE}" pid="5" name="EasiNoteDocumentName">
    <vt:lpwstr>上大学的N种途径</vt:lpwstr>
  </property>
  <property fmtid="{D5CDD505-2E9C-101B-9397-08002B2CF9AE}" pid="6" name="EasiNoteAuthor">
    <vt:lpwstr>d6490b0c12e94c4a869198426c588b95</vt:lpwstr>
  </property>
  <property fmtid="{D5CDD505-2E9C-101B-9397-08002B2CF9AE}" pid="7" name="EasiNoteUpstreamCoursewareInfo_0">
    <vt:lpwstr>9c55e2e5-d89c-4bd4-8da8-6752b40a2801</vt:lpwstr>
  </property>
  <property fmtid="{D5CDD505-2E9C-101B-9397-08002B2CF9AE}" pid="8" name="EasiNoteUpstreamCoursewareInfo_1">
    <vt:lpwstr>65c0c643-9bd7-405a-97a4-558f7bc9a980</vt:lpwstr>
  </property>
  <property fmtid="{D5CDD505-2E9C-101B-9397-08002B2CF9AE}" pid="9" name="EasiNoteUpstreamCoursewareInfo_2">
    <vt:lpwstr>e5a6aa59-176a-43b1-847e-648f3cc74010</vt:lpwstr>
  </property>
  <property fmtid="{D5CDD505-2E9C-101B-9397-08002B2CF9AE}" pid="10" name="ICV">
    <vt:lpwstr>91BC6F5B5201427A88CDC0CD5923F06C_13</vt:lpwstr>
  </property>
  <property fmtid="{D5CDD505-2E9C-101B-9397-08002B2CF9AE}" pid="11" name="KSOProductBuildVer">
    <vt:lpwstr>2052-12.1.0.25225</vt:lpwstr>
  </property>
</Properties>
</file>
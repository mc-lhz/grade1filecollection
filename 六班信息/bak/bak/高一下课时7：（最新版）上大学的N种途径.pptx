
<file path=[Content_Types].xml><?xml version="1.0" encoding="utf-8"?>
<Types xmlns="http://schemas.openxmlformats.org/package/2006/content-types">
  <Default Extension="gif" ContentType="image/gif"/>
  <Default Extension="png" ContentType="image/png"/>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3"/>
    <p:sldId id="258" r:id="rId4"/>
    <p:sldId id="259" r:id="rId5"/>
    <p:sldId id="260" r:id="rId6"/>
    <p:sldId id="261" r:id="rId7"/>
    <p:sldId id="263" r:id="rId8"/>
    <p:sldId id="264" r:id="rId9"/>
    <p:sldId id="265" r:id="rId10"/>
    <p:sldId id="266" r:id="rId11"/>
    <p:sldId id="267" r:id="rId12"/>
    <p:sldId id="271" r:id="rId13"/>
    <p:sldId id="272" r:id="rId14"/>
    <p:sldId id="273" r:id="rId15"/>
    <p:sldId id="274" r:id="rId16"/>
    <p:sldId id="275" r:id="rId17"/>
    <p:sldId id="276" r:id="rId18"/>
    <p:sldId id="277" r:id="rId19"/>
    <p:sldId id="278" r:id="rId20"/>
    <p:sldId id="280" r:id="rId21"/>
    <p:sldId id="281" r:id="rId22"/>
    <p:sldId id="282" r:id="rId23"/>
    <p:sldId id="283" r:id="rId24"/>
    <p:sldId id="284" r:id="rId25"/>
    <p:sldId id="285" r:id="rId26"/>
    <p:sldId id="286" r:id="rId27"/>
    <p:sldId id="287" r:id="rId28"/>
    <p:sldId id="288" r:id="rId29"/>
    <p:sldId id="289" r:id="rId30"/>
  </p:sldIdLst>
  <p:sldSz cx="12192000" cy="6858000"/>
  <p:notesSz cx="6858000" cy="9144000"/>
  <p:embeddedFontLst>
    <p:embeddedFont>
      <p:font typeface="微软雅黑" panose="020B0503020204020204" charset="-122"/>
      <p:regular r:id="rId34"/>
    </p:embeddedFont>
    <p:embeddedFont>
      <p:font typeface="等线" panose="02010600030101010101" charset="-122"/>
      <p:regular r:id="rId35"/>
    </p:embeddedFont>
    <p:embeddedFont>
      <p:font typeface="微软雅黑 Light" panose="020B0502040204020203" charset="-122"/>
      <p:regular r:id="rId36"/>
    </p:embeddedFont>
  </p:embeddedFontLst>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0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gs" Target="tags/tag1.xml"/><Relationship Id="rId36" Type="http://schemas.openxmlformats.org/officeDocument/2006/relationships/font" Target="fonts/font3.fntdata"/><Relationship Id="rId35" Type="http://schemas.openxmlformats.org/officeDocument/2006/relationships/font" Target="fonts/font2.fntdata"/><Relationship Id="rId34" Type="http://schemas.openxmlformats.org/officeDocument/2006/relationships/font" Target="fonts/font1.fntdata"/><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5" Type="http://schemas.openxmlformats.org/officeDocument/2006/relationships/theme" Target="../theme/theme1.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GIF"/></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9" Type="http://schemas.openxmlformats.org/officeDocument/2006/relationships/image" Target="../media/image18.jpeg"/><Relationship Id="rId8" Type="http://schemas.openxmlformats.org/officeDocument/2006/relationships/image" Target="../media/image17.jpeg"/><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png"/><Relationship Id="rId4" Type="http://schemas.microsoft.com/office/2007/relationships/media" Target="../media/media1.mp4"/><Relationship Id="rId3" Type="http://schemas.openxmlformats.org/officeDocument/2006/relationships/video" Target="../media/media1.mp4"/><Relationship Id="rId2" Type="http://schemas.openxmlformats.org/officeDocument/2006/relationships/image" Target="../media/image11.png"/><Relationship Id="rId10" Type="http://schemas.openxmlformats.org/officeDocument/2006/relationships/slideLayout" Target="../slideLayouts/slideLayout6.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25.jpe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6.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7.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31.GIF"/><Relationship Id="rId3" Type="http://schemas.openxmlformats.org/officeDocument/2006/relationships/image" Target="../media/image30.GIF"/><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32.png"/><Relationship Id="rId2" Type="http://schemas.openxmlformats.org/officeDocument/2006/relationships/image" Target="../media/image11.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20.xml"/><Relationship Id="rId7" Type="http://schemas.openxmlformats.org/officeDocument/2006/relationships/image" Target="../media/image37.png"/><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11.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3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39.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5.xml"/><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6.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11.pn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7.xml"/><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11.png"/><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28.xml"/><Relationship Id="rId7" Type="http://schemas.openxmlformats.org/officeDocument/2006/relationships/image" Target="../media/image55.png"/><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11.png"/><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7.png"/><Relationship Id="rId1" Type="http://schemas.openxmlformats.org/officeDocument/2006/relationships/image" Target="../media/image56.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30.xml"/><Relationship Id="rId3" Type="http://schemas.openxmlformats.org/officeDocument/2006/relationships/image" Target="../media/image58.png"/><Relationship Id="rId2" Type="http://schemas.openxmlformats.org/officeDocument/2006/relationships/image" Target="../media/image11.pn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31.xml"/><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32.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3.xml"/><Relationship Id="rId1" Type="http://schemas.openxmlformats.org/officeDocument/2006/relationships/image" Target="../media/image67.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image" Target="../media/image69.png"/><Relationship Id="rId1"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4124982" y="1572778"/>
            <a:ext cx="3943350" cy="3943350"/>
          </a:xfrm>
          <a:prstGeom prst="ellipse">
            <a:avLst/>
          </a:prstGeom>
          <a:ln w="95250">
            <a:solidFill>
              <a:srgbClr val="FFFFFF"/>
            </a:solidFill>
          </a:ln>
          <a:scene3d>
            <a:camera prst="orthographicFront"/>
            <a:lightRig rig="contrasting" dir="t">
              <a:rot lat="0" lon="0" rev="3000000"/>
            </a:lightRig>
          </a:scene3d>
          <a:sp3d contourW="7620">
            <a:bevelT w="95250" h="31750"/>
            <a:contourClr>
              <a:srgbClr val="333333"/>
            </a:contourClr>
          </a:sp3d>
        </p:spPr>
      </p:pic>
      <p:sp>
        <p:nvSpPr>
          <p:cNvPr id="3" name="形状1"/>
          <p:cNvSpPr txBox="1"/>
          <p:nvPr/>
        </p:nvSpPr>
        <p:spPr>
          <a:xfrm>
            <a:off x="5479885" y="3005509"/>
            <a:ext cx="1234269" cy="952700"/>
          </a:xfrm>
          <a:custGeom>
            <a:avLst/>
            <a:gdLst>
              <a:gd name="connsiteX0" fmla="*/ 158783 w 1234269"/>
              <a:gd name="connsiteY0" fmla="*/ 0 h 952700"/>
              <a:gd name="connsiteX1" fmla="*/ 1075485 w 1234269"/>
              <a:gd name="connsiteY1" fmla="*/ 0 h 952700"/>
              <a:gd name="connsiteX2" fmla="*/ 1163179 w 1234269"/>
              <a:gd name="connsiteY2" fmla="*/ 0 h 952700"/>
              <a:gd name="connsiteX3" fmla="*/ 1234269 w 1234269"/>
              <a:gd name="connsiteY3" fmla="*/ 793917 h 952700"/>
              <a:gd name="connsiteX4" fmla="*/ 1234269 w 1234269"/>
              <a:gd name="connsiteY4" fmla="*/ 836029 h 952700"/>
              <a:gd name="connsiteX5" fmla="*/ 1157984 w 1234269"/>
              <a:gd name="connsiteY5" fmla="*/ 935971 h 952700"/>
              <a:gd name="connsiteX6" fmla="*/ 158783 w 1234269"/>
              <a:gd name="connsiteY6" fmla="*/ 952700 h 952700"/>
              <a:gd name="connsiteX7" fmla="*/ 116671 w 1234269"/>
              <a:gd name="connsiteY7" fmla="*/ 952700 h 952700"/>
              <a:gd name="connsiteX8" fmla="*/ 16729 w 1234269"/>
              <a:gd name="connsiteY8" fmla="*/ 876416 h 952700"/>
              <a:gd name="connsiteX9" fmla="*/ 0 w 1234269"/>
              <a:gd name="connsiteY9" fmla="*/ 158783 h 952700"/>
              <a:gd name="connsiteX10" fmla="*/ 0 w 1234269"/>
              <a:gd name="connsiteY10" fmla="*/ 71090 h 95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4269" h="952700">
                <a:moveTo>
                  <a:pt x="158783" y="0"/>
                </a:moveTo>
                <a:lnTo>
                  <a:pt x="1075485" y="0"/>
                </a:lnTo>
                <a:cubicBezTo>
                  <a:pt x="1163179" y="0"/>
                  <a:pt x="1234269" y="71090"/>
                  <a:pt x="1234269" y="158783"/>
                </a:cubicBezTo>
                <a:lnTo>
                  <a:pt x="1234269" y="793917"/>
                </a:lnTo>
                <a:cubicBezTo>
                  <a:pt x="1234269" y="836029"/>
                  <a:pt x="1217540" y="876416"/>
                  <a:pt x="1187762" y="906193"/>
                </a:cubicBezTo>
                <a:cubicBezTo>
                  <a:pt x="1157984" y="935971"/>
                  <a:pt x="1117597" y="952700"/>
                  <a:pt x="1075485" y="952700"/>
                </a:cubicBezTo>
                <a:lnTo>
                  <a:pt x="158783" y="952700"/>
                </a:lnTo>
                <a:cubicBezTo>
                  <a:pt x="116671" y="952700"/>
                  <a:pt x="76284" y="935971"/>
                  <a:pt x="46507" y="906193"/>
                </a:cubicBezTo>
                <a:cubicBezTo>
                  <a:pt x="16729" y="876416"/>
                  <a:pt x="0" y="836029"/>
                  <a:pt x="0" y="793917"/>
                </a:cubicBezTo>
                <a:lnTo>
                  <a:pt x="0" y="158783"/>
                </a:lnTo>
                <a:cubicBezTo>
                  <a:pt x="0" y="71090"/>
                  <a:pt x="71090" y="0"/>
                  <a:pt x="158783"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4" name="文本1"/>
          <p:cNvSpPr txBox="1"/>
          <p:nvPr/>
        </p:nvSpPr>
        <p:spPr>
          <a:xfrm>
            <a:off x="5519471" y="3092596"/>
            <a:ext cx="1155700" cy="778669"/>
          </a:xfrm>
          <a:prstGeom prst="rect">
            <a:avLst/>
          </a:prstGeom>
          <a:noFill/>
        </p:spPr>
        <p:txBody>
          <a:bodyPr wrap="square" rtlCol="0" anchor="t"/>
          <a:lstStyle/>
          <a:p>
            <a:pPr marL="0" algn="l"/>
            <a:r>
              <a:rPr lang="zh-CN" altLang="en-US" sz="3800" b="0" i="0" dirty="0">
                <a:solidFill>
                  <a:srgbClr val="000000"/>
                </a:solidFill>
                <a:latin typeface="方正粗黑宋简体" panose="02000000000000000000" charset="-122"/>
                <a:ea typeface="方正粗黑宋简体" panose="02000000000000000000" charset="-122"/>
              </a:rPr>
              <a:t>大学</a:t>
            </a:r>
            <a:endParaRPr lang="zh-CN" altLang="en-US" sz="3800" b="0" i="0" dirty="0">
              <a:solidFill>
                <a:srgbClr val="000000"/>
              </a:solidFill>
              <a:latin typeface="方正粗黑宋简体" panose="02000000000000000000" charset="-122"/>
              <a:ea typeface="方正粗黑宋简体" panose="02000000000000000000" charset="-122"/>
            </a:endParaRPr>
          </a:p>
        </p:txBody>
      </p:sp>
      <p:sp>
        <p:nvSpPr>
          <p:cNvPr id="5" name="文本2"/>
          <p:cNvSpPr txBox="1"/>
          <p:nvPr/>
        </p:nvSpPr>
        <p:spPr>
          <a:xfrm>
            <a:off x="7224293" y="3071193"/>
            <a:ext cx="190500" cy="716756"/>
          </a:xfrm>
          <a:prstGeom prst="rect">
            <a:avLst/>
          </a:prstGeom>
          <a:noFill/>
        </p:spPr>
        <p:txBody>
          <a:bodyPr wrap="square" rtlCol="0" anchor="t"/>
          <a:lstStyle/>
          <a:p>
            <a:pPr marL="0" algn="l"/>
          </a:p>
        </p:txBody>
      </p:sp>
      <p:sp>
        <p:nvSpPr>
          <p:cNvPr id="6" name="形状2"/>
          <p:cNvSpPr txBox="1"/>
          <p:nvPr/>
        </p:nvSpPr>
        <p:spPr>
          <a:xfrm>
            <a:off x="8171234" y="593590"/>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7" name="文本3"/>
          <p:cNvSpPr txBox="1"/>
          <p:nvPr/>
        </p:nvSpPr>
        <p:spPr>
          <a:xfrm>
            <a:off x="8300437" y="1194330"/>
            <a:ext cx="17145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低分上名校</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8" name="形状3"/>
          <p:cNvSpPr txBox="1"/>
          <p:nvPr/>
        </p:nvSpPr>
        <p:spPr>
          <a:xfrm>
            <a:off x="8976198" y="2834240"/>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9" name="文本4"/>
          <p:cNvSpPr txBox="1"/>
          <p:nvPr/>
        </p:nvSpPr>
        <p:spPr>
          <a:xfrm>
            <a:off x="9256814" y="3434944"/>
            <a:ext cx="14097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身体素质</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0" name="形状4"/>
          <p:cNvSpPr txBox="1"/>
          <p:nvPr/>
        </p:nvSpPr>
        <p:spPr>
          <a:xfrm>
            <a:off x="8470954" y="5012255"/>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11" name="文本5"/>
          <p:cNvSpPr txBox="1"/>
          <p:nvPr/>
        </p:nvSpPr>
        <p:spPr>
          <a:xfrm>
            <a:off x="8751694" y="5612968"/>
            <a:ext cx="14097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艺术天赋</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2" name="形状5"/>
          <p:cNvSpPr txBox="1"/>
          <p:nvPr/>
        </p:nvSpPr>
        <p:spPr>
          <a:xfrm>
            <a:off x="1905152" y="456047"/>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13" name="形状6"/>
          <p:cNvSpPr txBox="1"/>
          <p:nvPr/>
        </p:nvSpPr>
        <p:spPr>
          <a:xfrm>
            <a:off x="1117063" y="2663666"/>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14" name="形状7"/>
          <p:cNvSpPr txBox="1"/>
          <p:nvPr/>
        </p:nvSpPr>
        <p:spPr>
          <a:xfrm>
            <a:off x="1753095" y="5012246"/>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15" name="文本6"/>
          <p:cNvSpPr txBox="1"/>
          <p:nvPr/>
        </p:nvSpPr>
        <p:spPr>
          <a:xfrm>
            <a:off x="2185768" y="1057046"/>
            <a:ext cx="14097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特殊身份</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6" name="文本7"/>
          <p:cNvSpPr txBox="1"/>
          <p:nvPr/>
        </p:nvSpPr>
        <p:spPr>
          <a:xfrm>
            <a:off x="1397908" y="3148546"/>
            <a:ext cx="1409700" cy="933450"/>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家国情怀</a:t>
            </a:r>
            <a:endParaRPr lang="zh-CN" altLang="en-US" sz="2400" b="0" i="0" dirty="0">
              <a:solidFill>
                <a:srgbClr val="000000"/>
              </a:solidFill>
              <a:latin typeface="方正粗黑宋简体" panose="02000000000000000000" charset="-122"/>
              <a:ea typeface="方正粗黑宋简体" panose="02000000000000000000" charset="-122"/>
            </a:endParaRPr>
          </a:p>
          <a:p>
            <a:pPr marL="0" algn="l"/>
            <a:r>
              <a:rPr lang="zh-CN" altLang="en-US" sz="2400" b="0" i="0" dirty="0">
                <a:solidFill>
                  <a:srgbClr val="000000"/>
                </a:solidFill>
                <a:latin typeface="方正粗黑宋简体" panose="02000000000000000000" charset="-122"/>
                <a:ea typeface="方正粗黑宋简体" panose="02000000000000000000" charset="-122"/>
              </a:rPr>
              <a:t>雄心壮志</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7" name="文本8"/>
          <p:cNvSpPr txBox="1"/>
          <p:nvPr/>
        </p:nvSpPr>
        <p:spPr>
          <a:xfrm>
            <a:off x="2124732" y="5642896"/>
            <a:ext cx="11049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不高考</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8" name="形状8"/>
          <p:cNvSpPr txBox="1"/>
          <p:nvPr/>
        </p:nvSpPr>
        <p:spPr>
          <a:xfrm>
            <a:off x="8231762" y="562851"/>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009CAE"/>
          </a:solidFill>
          <a:ln w="38100">
            <a:solidFill>
              <a:srgbClr val="000000"/>
            </a:solidFill>
            <a:prstDash val="solid"/>
          </a:ln>
        </p:spPr>
        <p:txBody>
          <a:bodyPr wrap="square" rtlCol="0" anchor="ctr"/>
          <a:lstStyle/>
          <a:p>
            <a:pPr marL="0" algn="ctr"/>
          </a:p>
        </p:txBody>
      </p:sp>
      <p:sp>
        <p:nvSpPr>
          <p:cNvPr id="19" name="形状9"/>
          <p:cNvSpPr txBox="1"/>
          <p:nvPr/>
        </p:nvSpPr>
        <p:spPr>
          <a:xfrm>
            <a:off x="10523972" y="4101084"/>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FF7E00"/>
          </a:solidFill>
          <a:ln w="38100">
            <a:solidFill>
              <a:srgbClr val="000000"/>
            </a:solidFill>
            <a:prstDash val="solid"/>
          </a:ln>
        </p:spPr>
        <p:txBody>
          <a:bodyPr wrap="square" rtlCol="0" anchor="ctr"/>
          <a:lstStyle/>
          <a:p>
            <a:pPr marL="0" algn="ctr"/>
          </a:p>
        </p:txBody>
      </p:sp>
      <p:sp>
        <p:nvSpPr>
          <p:cNvPr id="20" name="形状10"/>
          <p:cNvSpPr txBox="1"/>
          <p:nvPr/>
        </p:nvSpPr>
        <p:spPr>
          <a:xfrm>
            <a:off x="8363083" y="6300816"/>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660A0A"/>
          </a:solidFill>
          <a:ln w="38100">
            <a:solidFill>
              <a:srgbClr val="000000"/>
            </a:solidFill>
            <a:prstDash val="solid"/>
          </a:ln>
        </p:spPr>
        <p:txBody>
          <a:bodyPr wrap="square" rtlCol="0" anchor="ctr"/>
          <a:lstStyle/>
          <a:p>
            <a:pPr marL="0" algn="ctr"/>
          </a:p>
        </p:txBody>
      </p:sp>
      <p:sp>
        <p:nvSpPr>
          <p:cNvPr id="21" name="形状11"/>
          <p:cNvSpPr txBox="1"/>
          <p:nvPr/>
        </p:nvSpPr>
        <p:spPr>
          <a:xfrm>
            <a:off x="3452508" y="593684"/>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2A8C51"/>
          </a:solidFill>
          <a:ln w="38100">
            <a:solidFill>
              <a:srgbClr val="000000"/>
            </a:solidFill>
            <a:prstDash val="solid"/>
          </a:ln>
        </p:spPr>
        <p:txBody>
          <a:bodyPr wrap="square" rtlCol="0" anchor="ctr"/>
          <a:lstStyle/>
          <a:p>
            <a:pPr marL="0" algn="ctr"/>
          </a:p>
        </p:txBody>
      </p:sp>
      <p:sp>
        <p:nvSpPr>
          <p:cNvPr id="22" name="形状12"/>
          <p:cNvSpPr txBox="1"/>
          <p:nvPr/>
        </p:nvSpPr>
        <p:spPr>
          <a:xfrm>
            <a:off x="1117035" y="3952494"/>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949499"/>
          </a:solidFill>
          <a:ln w="38100">
            <a:solidFill>
              <a:srgbClr val="000000"/>
            </a:solidFill>
            <a:prstDash val="solid"/>
          </a:ln>
        </p:spPr>
        <p:txBody>
          <a:bodyPr wrap="square" rtlCol="0" anchor="ctr"/>
          <a:lstStyle/>
          <a:p>
            <a:pPr marL="0" algn="ctr"/>
          </a:p>
        </p:txBody>
      </p:sp>
      <p:sp>
        <p:nvSpPr>
          <p:cNvPr id="23" name="形状13"/>
          <p:cNvSpPr txBox="1"/>
          <p:nvPr/>
        </p:nvSpPr>
        <p:spPr>
          <a:xfrm>
            <a:off x="3248787" y="6223845"/>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471ECC"/>
          </a:solidFill>
          <a:ln w="38100">
            <a:solidFill>
              <a:srgbClr val="000000"/>
            </a:solidFill>
            <a:prstDash val="solid"/>
          </a:ln>
        </p:spPr>
        <p:txBody>
          <a:bodyPr wrap="square" rtlCol="0" anchor="ctr"/>
          <a:lstStyle/>
          <a:p>
            <a:pPr marL="0" algn="ctr"/>
          </a:p>
        </p:txBody>
      </p:sp>
      <p:pic>
        <p:nvPicPr>
          <p:cNvPr id="24" name="图片2"/>
          <p:cNvPicPr>
            <a:picLocks noChangeAspect="1"/>
          </p:cNvPicPr>
          <p:nvPr/>
        </p:nvPicPr>
        <p:blipFill>
          <a:blip r:embed="rId2"/>
          <a:stretch>
            <a:fillRect/>
          </a:stretch>
        </p:blipFill>
        <p:spPr>
          <a:xfrm>
            <a:off x="3973001" y="5642781"/>
            <a:ext cx="4248150" cy="981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3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3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3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3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3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3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3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3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3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1" grpId="0" animBg="1"/>
      <p:bldP spid="12" grpId="0" animBg="1"/>
      <p:bldP spid="15" grpId="0" animBg="1"/>
      <p:bldP spid="13" grpId="0" animBg="1"/>
      <p:bldP spid="16" grpId="0" animBg="1"/>
      <p:bldP spid="14" grpId="0" animBg="1"/>
      <p:bldP spid="1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组合1"/>
          <p:cNvGrpSpPr/>
          <p:nvPr/>
        </p:nvGrpSpPr>
        <p:grpSpPr>
          <a:xfrm>
            <a:off x="0" y="-2666999"/>
            <a:ext cx="12192000" cy="12192000"/>
            <a:chOff x="0" y="0"/>
            <a:chExt cx="12192000" cy="12192000"/>
          </a:xfrm>
        </p:grpSpPr>
        <p:pic>
          <p:nvPicPr>
            <p:cNvPr id="3" name="图片3"/>
            <p:cNvPicPr>
              <a:picLocks noChangeAspect="1"/>
            </p:cNvPicPr>
            <p:nvPr/>
          </p:nvPicPr>
          <p:blipFill>
            <a:blip r:embed="rId1"/>
            <a:srcRect l="27720" t="16518" r="9392" b="6946"/>
            <a:stretch>
              <a:fillRect/>
            </a:stretch>
          </p:blipFill>
          <p:spPr>
            <a:xfrm rot="16200000">
              <a:off x="2667002" y="0"/>
              <a:ext cx="6857996" cy="12192000"/>
            </a:xfrm>
            <a:prstGeom prst="rect">
              <a:avLst/>
            </a:prstGeom>
          </p:spPr>
        </p:pic>
        <p:pic>
          <p:nvPicPr>
            <p:cNvPr id="4" name="图片4"/>
            <p:cNvPicPr>
              <a:picLocks noChangeAspect="1"/>
            </p:cNvPicPr>
            <p:nvPr/>
          </p:nvPicPr>
          <p:blipFill>
            <a:blip r:embed="rId2"/>
            <a:srcRect l="12447"/>
            <a:stretch>
              <a:fillRect/>
            </a:stretch>
          </p:blipFill>
          <p:spPr>
            <a:xfrm>
              <a:off x="0" y="3380954"/>
              <a:ext cx="12192000" cy="3750250"/>
            </a:xfrm>
            <a:prstGeom prst="rect">
              <a:avLst/>
            </a:prstGeom>
          </p:spPr>
        </p:pic>
        <p:sp>
          <p:nvSpPr>
            <p:cNvPr id="5" name="形状1"/>
            <p:cNvSpPr txBox="1"/>
            <p:nvPr/>
          </p:nvSpPr>
          <p:spPr>
            <a:xfrm flipH="1">
              <a:off x="0" y="6217626"/>
              <a:ext cx="12192000" cy="3309726"/>
            </a:xfrm>
            <a:prstGeom prst="rect">
              <a:avLst/>
            </a:prstGeom>
            <a:solidFill>
              <a:srgbClr val="FFFFFF"/>
            </a:solidFill>
            <a:ln w="9525">
              <a:solidFill>
                <a:srgbClr val="FFFFFF">
                  <a:alpha val="0"/>
                </a:srgbClr>
              </a:solidFill>
            </a:ln>
          </p:spPr>
          <p:txBody>
            <a:bodyPr wrap="square" rtlCol="0" anchor="ctr"/>
            <a:lstStyle/>
            <a:p>
              <a:pPr marL="0" algn="ctr"/>
            </a:p>
          </p:txBody>
        </p:sp>
      </p:grpSp>
      <p:pic>
        <p:nvPicPr>
          <p:cNvPr id="6" name="图片1"/>
          <p:cNvPicPr>
            <a:picLocks noChangeAspect="1"/>
          </p:cNvPicPr>
          <p:nvPr/>
        </p:nvPicPr>
        <p:blipFill>
          <a:blip r:embed="rId3"/>
          <a:stretch>
            <a:fillRect/>
          </a:stretch>
        </p:blipFill>
        <p:spPr>
          <a:xfrm rot="10800000">
            <a:off x="10166002" y="911589"/>
            <a:ext cx="1518345" cy="1302424"/>
          </a:xfrm>
          <a:prstGeom prst="rect">
            <a:avLst/>
          </a:prstGeom>
        </p:spPr>
      </p:pic>
      <p:pic>
        <p:nvPicPr>
          <p:cNvPr id="7" name="图片2"/>
          <p:cNvPicPr>
            <a:picLocks noChangeAspect="1"/>
          </p:cNvPicPr>
          <p:nvPr/>
        </p:nvPicPr>
        <p:blipFill>
          <a:blip r:embed="rId4"/>
          <a:stretch>
            <a:fillRect/>
          </a:stretch>
        </p:blipFill>
        <p:spPr>
          <a:xfrm>
            <a:off x="-222425" y="565974"/>
            <a:ext cx="5861225" cy="6292025"/>
          </a:xfrm>
          <a:prstGeom prst="rect">
            <a:avLst/>
          </a:prstGeom>
        </p:spPr>
      </p:pic>
      <p:grpSp>
        <p:nvGrpSpPr>
          <p:cNvPr id="8" name="组合2"/>
          <p:cNvGrpSpPr/>
          <p:nvPr/>
        </p:nvGrpSpPr>
        <p:grpSpPr>
          <a:xfrm>
            <a:off x="6106135" y="3142145"/>
            <a:ext cx="6702202" cy="1025548"/>
            <a:chOff x="0" y="0"/>
            <a:chExt cx="6702202" cy="1025548"/>
          </a:xfrm>
        </p:grpSpPr>
        <p:sp>
          <p:nvSpPr>
            <p:cNvPr id="9" name="形状2"/>
            <p:cNvSpPr txBox="1"/>
            <p:nvPr/>
          </p:nvSpPr>
          <p:spPr>
            <a:xfrm>
              <a:off x="0" y="49530"/>
              <a:ext cx="6497320" cy="922020"/>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10" name="文本2"/>
            <p:cNvSpPr txBox="1"/>
            <p:nvPr/>
          </p:nvSpPr>
          <p:spPr>
            <a:xfrm>
              <a:off x="14382" y="0"/>
              <a:ext cx="6687820" cy="1025548"/>
            </a:xfrm>
            <a:prstGeom prst="rect">
              <a:avLst/>
            </a:prstGeom>
            <a:noFill/>
          </p:spPr>
          <p:txBody>
            <a:bodyPr wrap="square" rtlCol="0" anchor="t"/>
            <a:lstStyle/>
            <a:p>
              <a:pPr marL="0" algn="l"/>
              <a:r>
                <a:rPr lang="zh-CN" altLang="en-US" sz="5500" b="1" i="0" dirty="0">
                  <a:solidFill>
                    <a:srgbClr val="000000"/>
                  </a:solidFill>
                  <a:latin typeface="爱奇艺黑体 Black"/>
                  <a:ea typeface="爱奇艺黑体 Black"/>
                </a:rPr>
                <a:t>上大学的N种途径</a:t>
              </a:r>
              <a:endParaRPr lang="zh-CN" altLang="en-US" sz="5500" b="1" i="0" dirty="0">
                <a:solidFill>
                  <a:srgbClr val="000000"/>
                </a:solidFill>
                <a:latin typeface="爱奇艺黑体 Black"/>
                <a:ea typeface="爱奇艺黑体 Black"/>
              </a:endParaRPr>
            </a:p>
          </p:txBody>
        </p:sp>
      </p:grpSp>
      <p:sp>
        <p:nvSpPr>
          <p:cNvPr id="11" name="文本1"/>
          <p:cNvSpPr txBox="1"/>
          <p:nvPr/>
        </p:nvSpPr>
        <p:spPr>
          <a:xfrm>
            <a:off x="7028917" y="4613681"/>
            <a:ext cx="32385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厦门一中学生发展中心</a:t>
            </a:r>
            <a:endParaRPr lang="zh-CN" altLang="en-US" sz="2400" b="0" i="0" dirty="0">
              <a:solidFill>
                <a:srgbClr val="000000"/>
              </a:solidFill>
              <a:latin typeface="方正粗黑宋简体" panose="02000000000000000000" charset="-122"/>
              <a:ea typeface="方正粗黑宋简体"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391" y="-1857"/>
            <a:ext cx="12191810" cy="6859857"/>
          </a:xfrm>
          <a:prstGeom prst="rect">
            <a:avLst/>
          </a:prstGeom>
        </p:spPr>
      </p:pic>
      <p:pic>
        <p:nvPicPr>
          <p:cNvPr id="3" name="图片2"/>
          <p:cNvPicPr>
            <a:picLocks noChangeAspect="1"/>
          </p:cNvPicPr>
          <p:nvPr/>
        </p:nvPicPr>
        <p:blipFill>
          <a:blip r:embed="rId2"/>
          <a:stretch>
            <a:fillRect/>
          </a:stretch>
        </p:blipFill>
        <p:spPr>
          <a:xfrm>
            <a:off x="410" y="-1734"/>
            <a:ext cx="12191409" cy="6859791"/>
          </a:xfrm>
          <a:prstGeom prst="rect">
            <a:avLst/>
          </a:prstGeom>
        </p:spPr>
      </p:pic>
      <p:sp>
        <p:nvSpPr>
          <p:cNvPr id="4" name="文本1"/>
          <p:cNvSpPr txBox="1"/>
          <p:nvPr/>
        </p:nvSpPr>
        <p:spPr>
          <a:xfrm>
            <a:off x="3416989" y="2677478"/>
            <a:ext cx="5791200" cy="1165606"/>
          </a:xfrm>
          <a:prstGeom prst="rect">
            <a:avLst/>
          </a:prstGeom>
          <a:noFill/>
        </p:spPr>
        <p:txBody>
          <a:bodyPr wrap="square" rtlCol="0" anchor="t"/>
          <a:lstStyle/>
          <a:p>
            <a:pPr marL="0" algn="l"/>
            <a:r>
              <a:rPr lang="zh-CN" altLang="en-US" sz="6300" b="0" i="0" dirty="0">
                <a:solidFill>
                  <a:srgbClr val="FFFFFF"/>
                </a:solidFill>
                <a:latin typeface="方正粗黑宋简体" panose="02000000000000000000" charset="-122"/>
                <a:ea typeface="方正粗黑宋简体" panose="02000000000000000000" charset="-122"/>
              </a:rPr>
              <a:t>假如我成绩优异</a:t>
            </a:r>
            <a:endParaRPr lang="zh-CN" altLang="en-US" sz="6300" b="0" i="0" dirty="0">
              <a:solidFill>
                <a:srgbClr val="FFFFFF"/>
              </a:solidFill>
              <a:latin typeface="方正粗黑宋简体" panose="02000000000000000000" charset="-122"/>
              <a:ea typeface="方正粗黑宋简体" panose="02000000000000000000" charset="-122"/>
            </a:endParaRPr>
          </a:p>
        </p:txBody>
      </p:sp>
      <p:pic>
        <p:nvPicPr>
          <p:cNvPr id="5" name="图片3"/>
          <p:cNvPicPr>
            <a:picLocks noChangeAspect="1"/>
          </p:cNvPicPr>
          <p:nvPr/>
        </p:nvPicPr>
        <p:blipFill>
          <a:blip r:embed="rId3"/>
          <a:stretch>
            <a:fillRect/>
          </a:stretch>
        </p:blipFill>
        <p:spPr>
          <a:xfrm>
            <a:off x="5874020" y="912609"/>
            <a:ext cx="876300" cy="847725"/>
          </a:xfrm>
          <a:prstGeom prst="rect">
            <a:avLst/>
          </a:prstGeom>
        </p:spPr>
      </p:pic>
      <p:pic>
        <p:nvPicPr>
          <p:cNvPr id="6" name="图片4"/>
          <p:cNvPicPr>
            <a:picLocks noChangeAspect="1"/>
          </p:cNvPicPr>
          <p:nvPr/>
        </p:nvPicPr>
        <p:blipFill>
          <a:blip r:embed="rId3"/>
          <a:stretch>
            <a:fillRect/>
          </a:stretch>
        </p:blipFill>
        <p:spPr>
          <a:xfrm rot="10800000">
            <a:off x="5874487" y="4398083"/>
            <a:ext cx="876300" cy="8477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sp>
        <p:nvSpPr>
          <p:cNvPr id="5" name="文本1"/>
          <p:cNvSpPr txBox="1"/>
          <p:nvPr/>
        </p:nvSpPr>
        <p:spPr>
          <a:xfrm>
            <a:off x="1554832" y="559575"/>
            <a:ext cx="9520523"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 谢娜侄子高考692分进清华，本是分享喜悦，却遭网友一片“质疑” </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6" name="文本2"/>
          <p:cNvSpPr txBox="1"/>
          <p:nvPr/>
        </p:nvSpPr>
        <p:spPr>
          <a:xfrm>
            <a:off x="4776445" y="3758765"/>
            <a:ext cx="6353966" cy="2543175"/>
          </a:xfrm>
          <a:prstGeom prst="rect">
            <a:avLst/>
          </a:prstGeom>
          <a:noFill/>
        </p:spPr>
        <p:txBody>
          <a:bodyPr wrap="square" rtlCol="0" anchor="ctr"/>
          <a:lstStyle/>
          <a:p>
            <a:pPr marL="0" algn="l"/>
            <a:r>
              <a:rPr lang="zh-CN" altLang="en-US" sz="2000" b="0" i="0" dirty="0">
                <a:solidFill>
                  <a:srgbClr val="000000"/>
                </a:solidFill>
                <a:latin typeface="方正粗黑宋简体" panose="02000000000000000000" charset="-122"/>
                <a:ea typeface="方正粗黑宋简体" panose="02000000000000000000" charset="-122"/>
              </a:rPr>
              <a:t>谢娜侄子以</a:t>
            </a:r>
            <a:r>
              <a:rPr lang="zh-CN" altLang="en-US" sz="2000" b="0" i="0" dirty="0">
                <a:solidFill>
                  <a:srgbClr val="FF0000"/>
                </a:solidFill>
                <a:latin typeface="方正粗黑宋简体" panose="02000000000000000000" charset="-122"/>
                <a:ea typeface="方正粗黑宋简体" panose="02000000000000000000" charset="-122"/>
              </a:rPr>
              <a:t>692分</a:t>
            </a:r>
            <a:r>
              <a:rPr lang="zh-CN" altLang="en-US" sz="2000" b="0" i="0" dirty="0">
                <a:solidFill>
                  <a:srgbClr val="000000"/>
                </a:solidFill>
                <a:latin typeface="方正粗黑宋简体" panose="02000000000000000000" charset="-122"/>
                <a:ea typeface="方正粗黑宋简体" panose="02000000000000000000" charset="-122"/>
              </a:rPr>
              <a:t>的成绩考上清华大学，</a:t>
            </a:r>
            <a:r>
              <a:rPr lang="zh-CN" altLang="en-US" sz="2000" b="0" i="0" dirty="0">
                <a:solidFill>
                  <a:srgbClr val="FF0000"/>
                </a:solidFill>
                <a:latin typeface="方正粗黑宋简体" panose="02000000000000000000" charset="-122"/>
                <a:ea typeface="方正粗黑宋简体" panose="02000000000000000000" charset="-122"/>
              </a:rPr>
              <a:t>里面是否存在猫腻？</a:t>
            </a:r>
            <a:r>
              <a:rPr lang="zh-CN" altLang="en-US" sz="2000" b="0" i="0" dirty="0">
                <a:solidFill>
                  <a:srgbClr val="000000"/>
                </a:solidFill>
                <a:latin typeface="方正粗黑宋简体" panose="02000000000000000000" charset="-122"/>
                <a:ea typeface="方正粗黑宋简体" panose="02000000000000000000" charset="-122"/>
              </a:rPr>
              <a:t>毕竟2021年清华大学的录取分数线在</a:t>
            </a:r>
            <a:r>
              <a:rPr lang="zh-CN" altLang="en-US" sz="2000" b="0" i="0" dirty="0">
                <a:solidFill>
                  <a:srgbClr val="FF0000"/>
                </a:solidFill>
                <a:latin typeface="方正粗黑宋简体" panose="02000000000000000000" charset="-122"/>
                <a:ea typeface="方正粗黑宋简体" panose="02000000000000000000" charset="-122"/>
              </a:rPr>
              <a:t>705分，</a:t>
            </a:r>
            <a:r>
              <a:rPr lang="zh-CN" altLang="en-US" sz="2000" b="0" i="0" dirty="0">
                <a:solidFill>
                  <a:srgbClr val="000000"/>
                </a:solidFill>
                <a:latin typeface="方正粗黑宋简体" panose="02000000000000000000" charset="-122"/>
                <a:ea typeface="方正粗黑宋简体" panose="02000000000000000000" charset="-122"/>
              </a:rPr>
              <a:t>在离清华录取分数线还差</a:t>
            </a:r>
            <a:r>
              <a:rPr lang="zh-CN" altLang="en-US" sz="2000" b="0" i="0" dirty="0">
                <a:solidFill>
                  <a:srgbClr val="FF0000"/>
                </a:solidFill>
                <a:latin typeface="方正粗黑宋简体" panose="02000000000000000000" charset="-122"/>
                <a:ea typeface="方正粗黑宋简体" panose="02000000000000000000" charset="-122"/>
              </a:rPr>
              <a:t>13</a:t>
            </a:r>
            <a:r>
              <a:rPr lang="zh-CN" altLang="en-US" sz="2000" b="0" i="0" dirty="0">
                <a:solidFill>
                  <a:srgbClr val="000000"/>
                </a:solidFill>
                <a:latin typeface="方正粗黑宋简体" panose="02000000000000000000" charset="-122"/>
                <a:ea typeface="方正粗黑宋简体" panose="02000000000000000000" charset="-122"/>
              </a:rPr>
              <a:t>分的情况下，他是如何被清华录取的？</a:t>
            </a:r>
            <a:endParaRPr lang="zh-CN" altLang="en-US" sz="2000" b="0" i="0" dirty="0">
              <a:solidFill>
                <a:srgbClr val="000000"/>
              </a:solidFill>
              <a:latin typeface="方正粗黑宋简体" panose="02000000000000000000" charset="-122"/>
              <a:ea typeface="方正粗黑宋简体" panose="02000000000000000000" charset="-122"/>
            </a:endParaRPr>
          </a:p>
        </p:txBody>
      </p:sp>
      <p:pic>
        <p:nvPicPr>
          <p:cNvPr id="7" name="图片3"/>
          <p:cNvPicPr>
            <a:picLocks noChangeAspect="1"/>
          </p:cNvPicPr>
          <p:nvPr/>
        </p:nvPicPr>
        <p:blipFill>
          <a:blip r:embed="rId3"/>
          <a:stretch>
            <a:fillRect/>
          </a:stretch>
        </p:blipFill>
        <p:spPr>
          <a:xfrm>
            <a:off x="884368" y="1182548"/>
            <a:ext cx="10097995" cy="2337797"/>
          </a:xfrm>
          <a:prstGeom prst="rect">
            <a:avLst/>
          </a:prstGeom>
        </p:spPr>
      </p:pic>
      <p:pic>
        <p:nvPicPr>
          <p:cNvPr id="8" name="图片4"/>
          <p:cNvPicPr>
            <a:picLocks noChangeAspect="1"/>
          </p:cNvPicPr>
          <p:nvPr/>
        </p:nvPicPr>
        <p:blipFill>
          <a:blip r:embed="rId4"/>
          <a:stretch>
            <a:fillRect/>
          </a:stretch>
        </p:blipFill>
        <p:spPr>
          <a:xfrm>
            <a:off x="884472" y="3567989"/>
            <a:ext cx="3810867" cy="30729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sp>
        <p:nvSpPr>
          <p:cNvPr id="5" name="文本1"/>
          <p:cNvSpPr txBox="1"/>
          <p:nvPr/>
        </p:nvSpPr>
        <p:spPr>
          <a:xfrm>
            <a:off x="1554832" y="559575"/>
            <a:ext cx="9520523"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 </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6" name="文本2"/>
          <p:cNvSpPr txBox="1"/>
          <p:nvPr/>
        </p:nvSpPr>
        <p:spPr>
          <a:xfrm>
            <a:off x="2427399" y="5980119"/>
            <a:ext cx="7775572" cy="531019"/>
          </a:xfrm>
          <a:prstGeom prst="rect">
            <a:avLst/>
          </a:prstGeom>
          <a:noFill/>
        </p:spPr>
        <p:txBody>
          <a:bodyPr wrap="square" rtlCol="0" anchor="t"/>
          <a:lstStyle/>
          <a:p>
            <a:pPr marL="0" algn="l"/>
            <a:r>
              <a:rPr lang="zh-CN" altLang="en-US" sz="2200" b="0" i="0" dirty="0">
                <a:solidFill>
                  <a:srgbClr val="000000"/>
                </a:solidFill>
                <a:latin typeface="方正粗黑宋简体" panose="02000000000000000000" charset="-122"/>
                <a:ea typeface="方正粗黑宋简体" panose="02000000000000000000" charset="-122"/>
              </a:rPr>
              <a:t>高考</a:t>
            </a:r>
            <a:r>
              <a:rPr lang="zh-CN" altLang="en-US" sz="2200" b="0" i="0" dirty="0">
                <a:solidFill>
                  <a:srgbClr val="FF0000"/>
                </a:solidFill>
                <a:latin typeface="方正粗黑宋简体" panose="02000000000000000000" charset="-122"/>
                <a:ea typeface="方正粗黑宋简体" panose="02000000000000000000" charset="-122"/>
              </a:rPr>
              <a:t>636</a:t>
            </a:r>
            <a:r>
              <a:rPr lang="zh-CN" altLang="en-US" sz="2200" b="0" i="0" dirty="0">
                <a:solidFill>
                  <a:srgbClr val="000000"/>
                </a:solidFill>
                <a:latin typeface="方正粗黑宋简体" panose="02000000000000000000" charset="-122"/>
                <a:ea typeface="方正粗黑宋简体" panose="02000000000000000000" charset="-122"/>
              </a:rPr>
              <a:t>分，她是如何被清华录取的？——</a:t>
            </a:r>
            <a:r>
              <a:rPr lang="zh-CN" altLang="en-US" sz="2200" b="0" i="0" dirty="0">
                <a:solidFill>
                  <a:srgbClr val="FF0000"/>
                </a:solidFill>
                <a:latin typeface="方正粗黑宋简体" panose="02000000000000000000" charset="-122"/>
                <a:ea typeface="方正粗黑宋简体" panose="02000000000000000000" charset="-122"/>
              </a:rPr>
              <a:t>强基计划助梦名校</a:t>
            </a:r>
            <a:endParaRPr lang="zh-CN" altLang="en-US" sz="2200" b="0" i="0" dirty="0">
              <a:solidFill>
                <a:srgbClr val="FF0000"/>
              </a:solidFill>
              <a:latin typeface="方正粗黑宋简体" panose="02000000000000000000" charset="-122"/>
              <a:ea typeface="方正粗黑宋简体" panose="02000000000000000000" charset="-122"/>
            </a:endParaRPr>
          </a:p>
        </p:txBody>
      </p:sp>
      <p:pic>
        <p:nvPicPr>
          <p:cNvPr id="7" name="视频1">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792340" y="400431"/>
            <a:ext cx="2966847" cy="5274402"/>
          </a:xfrm>
          <a:prstGeom prst="rect">
            <a:avLst/>
          </a:prstGeom>
        </p:spPr>
      </p:pic>
      <p:pic>
        <p:nvPicPr>
          <p:cNvPr id="8" name="图片3"/>
          <p:cNvPicPr>
            <a:picLocks noChangeAspect="1"/>
          </p:cNvPicPr>
          <p:nvPr/>
        </p:nvPicPr>
        <p:blipFill>
          <a:blip r:embed="rId6"/>
          <a:srcRect t="4854" b="21428"/>
          <a:stretch>
            <a:fillRect/>
          </a:stretch>
        </p:blipFill>
        <p:spPr>
          <a:xfrm>
            <a:off x="4709782" y="611438"/>
            <a:ext cx="3109998" cy="5274793"/>
          </a:xfrm>
          <a:prstGeom prst="rect">
            <a:avLst/>
          </a:prstGeom>
        </p:spPr>
      </p:pic>
      <p:pic>
        <p:nvPicPr>
          <p:cNvPr id="9" name="图片4"/>
          <p:cNvPicPr>
            <a:picLocks noChangeAspect="1"/>
          </p:cNvPicPr>
          <p:nvPr/>
        </p:nvPicPr>
        <p:blipFill>
          <a:blip r:embed="rId7"/>
          <a:srcRect b="48270"/>
          <a:stretch>
            <a:fillRect/>
          </a:stretch>
        </p:blipFill>
        <p:spPr>
          <a:xfrm>
            <a:off x="8646620" y="611543"/>
            <a:ext cx="3035579" cy="3013691"/>
          </a:xfrm>
          <a:prstGeom prst="rect">
            <a:avLst/>
          </a:prstGeom>
        </p:spPr>
      </p:pic>
      <p:pic>
        <p:nvPicPr>
          <p:cNvPr id="10" name="图片5"/>
          <p:cNvPicPr>
            <a:picLocks noChangeAspect="1"/>
          </p:cNvPicPr>
          <p:nvPr/>
        </p:nvPicPr>
        <p:blipFill>
          <a:blip r:embed="rId8"/>
          <a:srcRect t="35491" b="55133"/>
          <a:stretch>
            <a:fillRect/>
          </a:stretch>
        </p:blipFill>
        <p:spPr>
          <a:xfrm>
            <a:off x="8737035" y="3428638"/>
            <a:ext cx="3035579" cy="663845"/>
          </a:xfrm>
          <a:prstGeom prst="rect">
            <a:avLst/>
          </a:prstGeom>
        </p:spPr>
      </p:pic>
      <p:pic>
        <p:nvPicPr>
          <p:cNvPr id="11" name="图片6"/>
          <p:cNvPicPr>
            <a:picLocks noChangeAspect="1"/>
          </p:cNvPicPr>
          <p:nvPr/>
        </p:nvPicPr>
        <p:blipFill>
          <a:blip r:embed="rId9"/>
          <a:srcRect t="38169" b="45870"/>
          <a:stretch>
            <a:fillRect/>
          </a:stretch>
        </p:blipFill>
        <p:spPr>
          <a:xfrm>
            <a:off x="8706955" y="4151995"/>
            <a:ext cx="2974867" cy="953443"/>
          </a:xfrm>
          <a:prstGeom prst="rect">
            <a:avLst/>
          </a:prstGeom>
        </p:spPr>
      </p:pic>
      <p:pic>
        <p:nvPicPr>
          <p:cNvPr id="12" name="图片7"/>
          <p:cNvPicPr>
            <a:picLocks noChangeAspect="1"/>
          </p:cNvPicPr>
          <p:nvPr/>
        </p:nvPicPr>
        <p:blipFill>
          <a:blip r:embed="rId9"/>
          <a:srcRect t="68415" b="21205"/>
          <a:stretch>
            <a:fillRect/>
          </a:stretch>
        </p:blipFill>
        <p:spPr>
          <a:xfrm>
            <a:off x="8737121" y="5092141"/>
            <a:ext cx="2974867" cy="725253"/>
          </a:xfrm>
          <a:prstGeom prst="rect">
            <a:avLst/>
          </a:prstGeom>
        </p:spPr>
      </p:pic>
      <p:sp>
        <p:nvSpPr>
          <p:cNvPr id="13" name="形状2"/>
          <p:cNvSpPr txBox="1"/>
          <p:nvPr/>
        </p:nvSpPr>
        <p:spPr>
          <a:xfrm>
            <a:off x="4709417" y="2625585"/>
            <a:ext cx="3211116" cy="1054913"/>
          </a:xfrm>
          <a:custGeom>
            <a:avLst/>
            <a:gdLst>
              <a:gd name="connsiteX0" fmla="*/ 175819 w 3211116"/>
              <a:gd name="connsiteY0" fmla="*/ 0 h 1054913"/>
              <a:gd name="connsiteX1" fmla="*/ 3035297 w 3211116"/>
              <a:gd name="connsiteY1" fmla="*/ 0 h 1054913"/>
              <a:gd name="connsiteX2" fmla="*/ 3081927 w 3211116"/>
              <a:gd name="connsiteY2" fmla="*/ 0 h 1054913"/>
              <a:gd name="connsiteX3" fmla="*/ 3192592 w 3211116"/>
              <a:gd name="connsiteY3" fmla="*/ 84469 h 1054913"/>
              <a:gd name="connsiteX4" fmla="*/ 3211116 w 3211116"/>
              <a:gd name="connsiteY4" fmla="*/ 879094 h 1054913"/>
              <a:gd name="connsiteX5" fmla="*/ 3211116 w 3211116"/>
              <a:gd name="connsiteY5" fmla="*/ 925724 h 1054913"/>
              <a:gd name="connsiteX6" fmla="*/ 3126647 w 3211116"/>
              <a:gd name="connsiteY6" fmla="*/ 1036389 h 1054913"/>
              <a:gd name="connsiteX7" fmla="*/ 175819 w 3211116"/>
              <a:gd name="connsiteY7" fmla="*/ 1054913 h 1054913"/>
              <a:gd name="connsiteX8" fmla="*/ 78717 w 3211116"/>
              <a:gd name="connsiteY8" fmla="*/ 1054913 h 1054913"/>
              <a:gd name="connsiteX9" fmla="*/ 0 w 3211116"/>
              <a:gd name="connsiteY9" fmla="*/ 175819 h 1054913"/>
              <a:gd name="connsiteX10" fmla="*/ 0 w 3211116"/>
              <a:gd name="connsiteY10" fmla="*/ 78717 h 105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11116" h="1054913">
                <a:moveTo>
                  <a:pt x="175819" y="0"/>
                </a:moveTo>
                <a:lnTo>
                  <a:pt x="3035297" y="0"/>
                </a:lnTo>
                <a:cubicBezTo>
                  <a:pt x="3081927" y="0"/>
                  <a:pt x="3126647" y="18524"/>
                  <a:pt x="3159619" y="51496"/>
                </a:cubicBezTo>
                <a:cubicBezTo>
                  <a:pt x="3192592" y="84469"/>
                  <a:pt x="3211116" y="129189"/>
                  <a:pt x="3211116" y="175819"/>
                </a:cubicBezTo>
                <a:lnTo>
                  <a:pt x="3211116" y="879094"/>
                </a:lnTo>
                <a:cubicBezTo>
                  <a:pt x="3211116" y="925724"/>
                  <a:pt x="3192592" y="970444"/>
                  <a:pt x="3159619" y="1003417"/>
                </a:cubicBezTo>
                <a:cubicBezTo>
                  <a:pt x="3126647" y="1036389"/>
                  <a:pt x="3081927" y="1054913"/>
                  <a:pt x="3035297" y="1054913"/>
                </a:cubicBezTo>
                <a:lnTo>
                  <a:pt x="175819" y="1054913"/>
                </a:lnTo>
                <a:cubicBezTo>
                  <a:pt x="78717" y="1054913"/>
                  <a:pt x="0" y="976196"/>
                  <a:pt x="0" y="879094"/>
                </a:cubicBezTo>
                <a:lnTo>
                  <a:pt x="0" y="175819"/>
                </a:lnTo>
                <a:cubicBezTo>
                  <a:pt x="0" y="78717"/>
                  <a:pt x="78717" y="0"/>
                  <a:pt x="175819" y="0"/>
                </a:cubicBezTo>
                <a:close/>
              </a:path>
            </a:pathLst>
          </a:custGeom>
          <a:solidFill>
            <a:srgbClr val="FFFFFF">
              <a:alpha val="0"/>
            </a:srgbClr>
          </a:solidFill>
          <a:ln w="28575">
            <a:solidFill>
              <a:srgbClr val="FF0000"/>
            </a:solidFill>
            <a:prstDash val="solid"/>
          </a:ln>
        </p:spPr>
        <p:txBody>
          <a:bodyPr wrap="square" rtlCol="0" anchor="ctr"/>
          <a:lstStyle/>
          <a:p>
            <a:pPr marL="0" algn="ctr"/>
          </a:p>
        </p:txBody>
      </p:sp>
      <p:sp>
        <p:nvSpPr>
          <p:cNvPr id="14" name="形状3"/>
          <p:cNvSpPr txBox="1"/>
          <p:nvPr/>
        </p:nvSpPr>
        <p:spPr>
          <a:xfrm>
            <a:off x="4709379" y="4620235"/>
            <a:ext cx="3211116" cy="1054913"/>
          </a:xfrm>
          <a:custGeom>
            <a:avLst/>
            <a:gdLst>
              <a:gd name="connsiteX0" fmla="*/ 175819 w 3211116"/>
              <a:gd name="connsiteY0" fmla="*/ 0 h 1054913"/>
              <a:gd name="connsiteX1" fmla="*/ 3035297 w 3211116"/>
              <a:gd name="connsiteY1" fmla="*/ 0 h 1054913"/>
              <a:gd name="connsiteX2" fmla="*/ 3081927 w 3211116"/>
              <a:gd name="connsiteY2" fmla="*/ 0 h 1054913"/>
              <a:gd name="connsiteX3" fmla="*/ 3192592 w 3211116"/>
              <a:gd name="connsiteY3" fmla="*/ 84469 h 1054913"/>
              <a:gd name="connsiteX4" fmla="*/ 3211116 w 3211116"/>
              <a:gd name="connsiteY4" fmla="*/ 879094 h 1054913"/>
              <a:gd name="connsiteX5" fmla="*/ 3211116 w 3211116"/>
              <a:gd name="connsiteY5" fmla="*/ 925724 h 1054913"/>
              <a:gd name="connsiteX6" fmla="*/ 3126647 w 3211116"/>
              <a:gd name="connsiteY6" fmla="*/ 1036389 h 1054913"/>
              <a:gd name="connsiteX7" fmla="*/ 175819 w 3211116"/>
              <a:gd name="connsiteY7" fmla="*/ 1054913 h 1054913"/>
              <a:gd name="connsiteX8" fmla="*/ 78717 w 3211116"/>
              <a:gd name="connsiteY8" fmla="*/ 1054913 h 1054913"/>
              <a:gd name="connsiteX9" fmla="*/ 0 w 3211116"/>
              <a:gd name="connsiteY9" fmla="*/ 175819 h 1054913"/>
              <a:gd name="connsiteX10" fmla="*/ 0 w 3211116"/>
              <a:gd name="connsiteY10" fmla="*/ 78717 h 105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11116" h="1054913">
                <a:moveTo>
                  <a:pt x="175819" y="0"/>
                </a:moveTo>
                <a:lnTo>
                  <a:pt x="3035297" y="0"/>
                </a:lnTo>
                <a:cubicBezTo>
                  <a:pt x="3081927" y="0"/>
                  <a:pt x="3126647" y="18524"/>
                  <a:pt x="3159619" y="51496"/>
                </a:cubicBezTo>
                <a:cubicBezTo>
                  <a:pt x="3192592" y="84469"/>
                  <a:pt x="3211116" y="129189"/>
                  <a:pt x="3211116" y="175819"/>
                </a:cubicBezTo>
                <a:lnTo>
                  <a:pt x="3211116" y="879094"/>
                </a:lnTo>
                <a:cubicBezTo>
                  <a:pt x="3211116" y="925724"/>
                  <a:pt x="3192592" y="970444"/>
                  <a:pt x="3159619" y="1003417"/>
                </a:cubicBezTo>
                <a:cubicBezTo>
                  <a:pt x="3126647" y="1036389"/>
                  <a:pt x="3081927" y="1054913"/>
                  <a:pt x="3035297" y="1054913"/>
                </a:cubicBezTo>
                <a:lnTo>
                  <a:pt x="175819" y="1054913"/>
                </a:lnTo>
                <a:cubicBezTo>
                  <a:pt x="78717" y="1054913"/>
                  <a:pt x="0" y="976196"/>
                  <a:pt x="0" y="879094"/>
                </a:cubicBezTo>
                <a:lnTo>
                  <a:pt x="0" y="175819"/>
                </a:lnTo>
                <a:cubicBezTo>
                  <a:pt x="0" y="78717"/>
                  <a:pt x="78717" y="0"/>
                  <a:pt x="175819" y="0"/>
                </a:cubicBezTo>
                <a:close/>
              </a:path>
            </a:pathLst>
          </a:custGeom>
          <a:solidFill>
            <a:srgbClr val="FFFFFF">
              <a:alpha val="0"/>
            </a:srgbClr>
          </a:solidFill>
          <a:ln w="28575">
            <a:solidFill>
              <a:srgbClr val="FF0000"/>
            </a:solidFill>
            <a:prstDash val="solid"/>
          </a:ln>
        </p:spPr>
        <p:txBody>
          <a:bodyPr wrap="square" rtlCol="0" anchor="ctr"/>
          <a:lstStyle/>
          <a:p>
            <a:pPr marL="0" algn="ctr"/>
          </a:p>
        </p:txBody>
      </p:sp>
      <p:sp>
        <p:nvSpPr>
          <p:cNvPr id="15" name="形状4"/>
          <p:cNvSpPr txBox="1"/>
          <p:nvPr/>
        </p:nvSpPr>
        <p:spPr>
          <a:xfrm>
            <a:off x="8751560" y="2461450"/>
            <a:ext cx="3211116" cy="1721663"/>
          </a:xfrm>
          <a:custGeom>
            <a:avLst/>
            <a:gdLst>
              <a:gd name="connsiteX0" fmla="*/ 286944 w 3211116"/>
              <a:gd name="connsiteY0" fmla="*/ 0 h 1721663"/>
              <a:gd name="connsiteX1" fmla="*/ 2924172 w 3211116"/>
              <a:gd name="connsiteY1" fmla="*/ 0 h 1721663"/>
              <a:gd name="connsiteX2" fmla="*/ 3082646 w 3211116"/>
              <a:gd name="connsiteY2" fmla="*/ 0 h 1721663"/>
              <a:gd name="connsiteX3" fmla="*/ 3211116 w 3211116"/>
              <a:gd name="connsiteY3" fmla="*/ 1434719 h 1721663"/>
              <a:gd name="connsiteX4" fmla="*/ 3211116 w 3211116"/>
              <a:gd name="connsiteY4" fmla="*/ 1510821 h 1721663"/>
              <a:gd name="connsiteX5" fmla="*/ 3073259 w 3211116"/>
              <a:gd name="connsiteY5" fmla="*/ 1691431 h 1721663"/>
              <a:gd name="connsiteX6" fmla="*/ 286944 w 3211116"/>
              <a:gd name="connsiteY6" fmla="*/ 1721663 h 1721663"/>
              <a:gd name="connsiteX7" fmla="*/ 210842 w 3211116"/>
              <a:gd name="connsiteY7" fmla="*/ 1721663 h 1721663"/>
              <a:gd name="connsiteX8" fmla="*/ 30231 w 3211116"/>
              <a:gd name="connsiteY8" fmla="*/ 1583807 h 1721663"/>
              <a:gd name="connsiteX9" fmla="*/ 0 w 3211116"/>
              <a:gd name="connsiteY9" fmla="*/ 286944 h 1721663"/>
              <a:gd name="connsiteX10" fmla="*/ 0 w 3211116"/>
              <a:gd name="connsiteY10" fmla="*/ 128469 h 172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11116" h="1721663">
                <a:moveTo>
                  <a:pt x="286944" y="0"/>
                </a:moveTo>
                <a:lnTo>
                  <a:pt x="2924172" y="0"/>
                </a:lnTo>
                <a:cubicBezTo>
                  <a:pt x="3082646" y="0"/>
                  <a:pt x="3211116" y="128469"/>
                  <a:pt x="3211116" y="286944"/>
                </a:cubicBezTo>
                <a:lnTo>
                  <a:pt x="3211116" y="1434719"/>
                </a:lnTo>
                <a:cubicBezTo>
                  <a:pt x="3211116" y="1510821"/>
                  <a:pt x="3180884" y="1583807"/>
                  <a:pt x="3127072" y="1637619"/>
                </a:cubicBezTo>
                <a:cubicBezTo>
                  <a:pt x="3073259" y="1691431"/>
                  <a:pt x="3000274" y="1721663"/>
                  <a:pt x="2924172" y="1721663"/>
                </a:cubicBezTo>
                <a:lnTo>
                  <a:pt x="286944" y="1721663"/>
                </a:lnTo>
                <a:cubicBezTo>
                  <a:pt x="210842" y="1721663"/>
                  <a:pt x="137856" y="1691431"/>
                  <a:pt x="84044" y="1637619"/>
                </a:cubicBezTo>
                <a:cubicBezTo>
                  <a:pt x="30231" y="1583807"/>
                  <a:pt x="0" y="1510821"/>
                  <a:pt x="0" y="1434719"/>
                </a:cubicBezTo>
                <a:lnTo>
                  <a:pt x="0" y="286944"/>
                </a:lnTo>
                <a:cubicBezTo>
                  <a:pt x="0" y="128469"/>
                  <a:pt x="128469" y="0"/>
                  <a:pt x="286944" y="0"/>
                </a:cubicBezTo>
                <a:close/>
              </a:path>
            </a:pathLst>
          </a:custGeom>
          <a:solidFill>
            <a:srgbClr val="FFFFFF">
              <a:alpha val="0"/>
            </a:srgbClr>
          </a:solidFill>
          <a:ln w="28575">
            <a:solidFill>
              <a:srgbClr val="FF0000"/>
            </a:solidFill>
            <a:prstDash val="solid"/>
          </a:ln>
        </p:spPr>
        <p:txBody>
          <a:bodyPr wrap="square" rtlCol="0" anchor="ctr"/>
          <a:lstStyle/>
          <a:p>
            <a:pPr marL="0" algn="ctr"/>
          </a:p>
        </p:txBody>
      </p:sp>
      <p:sp>
        <p:nvSpPr>
          <p:cNvPr id="16" name="形状5"/>
          <p:cNvSpPr txBox="1"/>
          <p:nvPr/>
        </p:nvSpPr>
        <p:spPr>
          <a:xfrm>
            <a:off x="8693153" y="5022332"/>
            <a:ext cx="3123009" cy="864413"/>
          </a:xfrm>
          <a:custGeom>
            <a:avLst/>
            <a:gdLst>
              <a:gd name="connsiteX0" fmla="*/ 144069 w 3123009"/>
              <a:gd name="connsiteY0" fmla="*/ 0 h 864413"/>
              <a:gd name="connsiteX1" fmla="*/ 2978941 w 3123009"/>
              <a:gd name="connsiteY1" fmla="*/ 0 h 864413"/>
              <a:gd name="connsiteX2" fmla="*/ 3017150 w 3123009"/>
              <a:gd name="connsiteY2" fmla="*/ 0 h 864413"/>
              <a:gd name="connsiteX3" fmla="*/ 3107831 w 3123009"/>
              <a:gd name="connsiteY3" fmla="*/ 69215 h 864413"/>
              <a:gd name="connsiteX4" fmla="*/ 3123009 w 3123009"/>
              <a:gd name="connsiteY4" fmla="*/ 720344 h 864413"/>
              <a:gd name="connsiteX5" fmla="*/ 3123009 w 3123009"/>
              <a:gd name="connsiteY5" fmla="*/ 758553 h 864413"/>
              <a:gd name="connsiteX6" fmla="*/ 3053794 w 3123009"/>
              <a:gd name="connsiteY6" fmla="*/ 849234 h 864413"/>
              <a:gd name="connsiteX7" fmla="*/ 144069 w 3123009"/>
              <a:gd name="connsiteY7" fmla="*/ 864413 h 864413"/>
              <a:gd name="connsiteX8" fmla="*/ 105859 w 3123009"/>
              <a:gd name="connsiteY8" fmla="*/ 864413 h 864413"/>
              <a:gd name="connsiteX9" fmla="*/ 15179 w 3123009"/>
              <a:gd name="connsiteY9" fmla="*/ 795198 h 864413"/>
              <a:gd name="connsiteX10" fmla="*/ 0 w 3123009"/>
              <a:gd name="connsiteY10" fmla="*/ 144069 h 864413"/>
              <a:gd name="connsiteX11" fmla="*/ 0 w 3123009"/>
              <a:gd name="connsiteY11" fmla="*/ 64502 h 86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23009" h="864413">
                <a:moveTo>
                  <a:pt x="144069" y="0"/>
                </a:moveTo>
                <a:lnTo>
                  <a:pt x="2978941" y="0"/>
                </a:lnTo>
                <a:cubicBezTo>
                  <a:pt x="3017150" y="0"/>
                  <a:pt x="3053794" y="15179"/>
                  <a:pt x="3080813" y="42197"/>
                </a:cubicBezTo>
                <a:cubicBezTo>
                  <a:pt x="3107831" y="69215"/>
                  <a:pt x="3123009" y="105859"/>
                  <a:pt x="3123009" y="144069"/>
                </a:cubicBezTo>
                <a:lnTo>
                  <a:pt x="3123009" y="720344"/>
                </a:lnTo>
                <a:cubicBezTo>
                  <a:pt x="3123009" y="758553"/>
                  <a:pt x="3107831" y="795198"/>
                  <a:pt x="3080813" y="822216"/>
                </a:cubicBezTo>
                <a:cubicBezTo>
                  <a:pt x="3053794" y="849234"/>
                  <a:pt x="3017150" y="864413"/>
                  <a:pt x="2978941" y="864413"/>
                </a:cubicBezTo>
                <a:lnTo>
                  <a:pt x="144069" y="864413"/>
                </a:lnTo>
                <a:cubicBezTo>
                  <a:pt x="105859" y="864413"/>
                  <a:pt x="69215" y="849234"/>
                  <a:pt x="42197" y="822216"/>
                </a:cubicBezTo>
                <a:cubicBezTo>
                  <a:pt x="15179" y="795198"/>
                  <a:pt x="0" y="758553"/>
                  <a:pt x="0" y="720344"/>
                </a:cubicBezTo>
                <a:lnTo>
                  <a:pt x="0" y="144069"/>
                </a:lnTo>
                <a:cubicBezTo>
                  <a:pt x="0" y="64502"/>
                  <a:pt x="64502" y="0"/>
                  <a:pt x="144069" y="0"/>
                </a:cubicBezTo>
                <a:close/>
              </a:path>
            </a:pathLst>
          </a:custGeom>
          <a:solidFill>
            <a:srgbClr val="FFFFFF">
              <a:alpha val="0"/>
            </a:srgbClr>
          </a:solidFill>
          <a:ln w="28575">
            <a:solidFill>
              <a:srgbClr val="FF0000"/>
            </a:solidFill>
            <a:prstDash val="solid"/>
          </a:ln>
        </p:spPr>
        <p:txBody>
          <a:bodyPr wrap="square" rtlCol="0" anchor="ctr"/>
          <a:lstStyle/>
          <a:p>
            <a:pPr marL="0" algn="ctr"/>
          </a:p>
        </p:txBody>
      </p:sp>
      <p:grpSp>
        <p:nvGrpSpPr>
          <p:cNvPr id="17" name="组合1"/>
          <p:cNvGrpSpPr/>
          <p:nvPr/>
        </p:nvGrpSpPr>
        <p:grpSpPr>
          <a:xfrm>
            <a:off x="3759229" y="176311"/>
            <a:ext cx="5931535" cy="579839"/>
            <a:chOff x="0" y="0"/>
            <a:chExt cx="5931535" cy="579839"/>
          </a:xfrm>
        </p:grpSpPr>
        <p:sp>
          <p:nvSpPr>
            <p:cNvPr id="18" name="形状8"/>
            <p:cNvSpPr txBox="1"/>
            <p:nvPr/>
          </p:nvSpPr>
          <p:spPr>
            <a:xfrm>
              <a:off x="3810" y="49530"/>
              <a:ext cx="5741035" cy="460375"/>
            </a:xfrm>
            <a:prstGeom prst="rect">
              <a:avLst/>
            </a:prstGeom>
            <a:solidFill>
              <a:srgbClr val="FFFFFF">
                <a:alpha val="0"/>
              </a:srgbClr>
            </a:solidFill>
            <a:ln w="9525">
              <a:solidFill>
                <a:srgbClr val="FFFFFF">
                  <a:alpha val="0"/>
                </a:srgbClr>
              </a:solidFill>
            </a:ln>
          </p:spPr>
          <p:txBody>
            <a:bodyPr wrap="square" rtlCol="0" anchor="ctr"/>
            <a:p>
              <a:pPr marL="0" algn="ctr"/>
            </a:p>
          </p:txBody>
        </p:sp>
        <p:sp>
          <p:nvSpPr>
            <p:cNvPr id="19" name="文本5"/>
            <p:cNvSpPr txBox="1"/>
            <p:nvPr/>
          </p:nvSpPr>
          <p:spPr>
            <a:xfrm>
              <a:off x="0" y="0"/>
              <a:ext cx="5931535" cy="579839"/>
            </a:xfrm>
            <a:prstGeom prst="rect">
              <a:avLst/>
            </a:prstGeom>
            <a:noFill/>
          </p:spPr>
          <p:txBody>
            <a:bodyPr wrap="square" rtlCol="0" anchor="t"/>
            <a:p>
              <a:pPr marL="0" algn="l"/>
              <a:r>
                <a:rPr lang="zh-CN" altLang="en-US" sz="2400" b="0" i="0" dirty="0">
                  <a:solidFill>
                    <a:srgbClr val="000000"/>
                  </a:solidFill>
                  <a:latin typeface="方正粗黑宋简体" panose="02000000000000000000" charset="-122"/>
                  <a:ea typeface="方正粗黑宋简体" panose="02000000000000000000" charset="-122"/>
                </a:rPr>
                <a:t>路径一：强基计划</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3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3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3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3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3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3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3" grpId="0" animBg="1"/>
      <p:bldP spid="14" grpId="0" animBg="1"/>
      <p:bldP spid="9" grpId="0" bldLvl="0" animBg="1"/>
      <p:bldP spid="10" grpId="0" animBg="1"/>
      <p:bldP spid="15" grpId="0" animBg="1"/>
      <p:bldP spid="11" grpId="0" animBg="1"/>
      <p:bldP spid="12" grpId="0" animBg="1"/>
      <p:bldP spid="16"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r>
              <a:rPr lang="zh-CN" altLang="en-US" sz="2200" b="0" i="0" dirty="0">
                <a:solidFill>
                  <a:srgbClr val="FFFFFF"/>
                </a:solidFill>
                <a:latin typeface="微软雅黑" panose="020B0503020204020204" charset="-122"/>
                <a:ea typeface="微软雅黑" panose="020B0503020204020204" charset="-122"/>
              </a:rPr>
              <a:t>+</a:t>
            </a:r>
            <a:endParaRPr lang="zh-CN" altLang="en-US" sz="2200" b="0" i="0" dirty="0">
              <a:solidFill>
                <a:srgbClr val="FFFFFF"/>
              </a:solidFill>
              <a:latin typeface="微软雅黑" panose="020B0503020204020204" charset="-122"/>
              <a:ea typeface="微软雅黑" panose="020B0503020204020204" charset="-122"/>
            </a:endParaRP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sp>
        <p:nvSpPr>
          <p:cNvPr id="5" name="文本1"/>
          <p:cNvSpPr txBox="1"/>
          <p:nvPr/>
        </p:nvSpPr>
        <p:spPr>
          <a:xfrm>
            <a:off x="1325880" y="257175"/>
            <a:ext cx="10277475" cy="2099310"/>
          </a:xfrm>
          <a:prstGeom prst="rect">
            <a:avLst/>
          </a:prstGeom>
          <a:noFill/>
        </p:spPr>
        <p:txBody>
          <a:bodyPr wrap="square" rtlCol="0" anchor="t"/>
          <a:lstStyle/>
          <a:p>
            <a:pPr marL="0" algn="l"/>
          </a:p>
          <a:p>
            <a:pPr marL="0" algn="l">
              <a:buFont typeface="Wingdings" panose="05000000000000000000"/>
              <a:buChar char="«"/>
            </a:pPr>
            <a:r>
              <a:rPr lang="zh-CN" altLang="en-US" sz="3700" b="1" i="0" dirty="0">
                <a:solidFill>
                  <a:srgbClr val="000000"/>
                </a:solidFill>
                <a:latin typeface="微软雅黑" panose="020B0503020204020204" charset="-122"/>
                <a:ea typeface="微软雅黑" panose="020B0503020204020204" charset="-122"/>
              </a:rPr>
              <a:t>针对人群——三类学生</a:t>
            </a:r>
            <a:endParaRPr lang="zh-CN" altLang="en-US" sz="3700" b="1" i="0" dirty="0">
              <a:solidFill>
                <a:srgbClr val="000000"/>
              </a:solidFill>
              <a:latin typeface="微软雅黑" panose="020B0503020204020204" charset="-122"/>
              <a:ea typeface="微软雅黑" panose="020B0503020204020204" charset="-122"/>
            </a:endParaRPr>
          </a:p>
          <a:p>
            <a:pPr marL="0" algn="l">
              <a:lnSpc>
                <a:spcPct val="130000"/>
              </a:lnSpc>
              <a:buFont typeface="Wingdings" panose="05000000000000000000"/>
              <a:buChar char="l"/>
            </a:pPr>
            <a:r>
              <a:rPr lang="zh-CN" altLang="en-US" sz="1600" b="0" i="0" dirty="0">
                <a:solidFill>
                  <a:srgbClr val="000000"/>
                </a:solidFill>
                <a:latin typeface="微软雅黑" panose="020B0503020204020204" charset="-122"/>
                <a:ea typeface="微软雅黑" panose="020B0503020204020204" charset="-122"/>
              </a:rPr>
              <a:t>第一类，高考总成绩较高，综合素质优秀的高三学生</a:t>
            </a:r>
            <a:endParaRPr lang="zh-CN" altLang="en-US" sz="1600" b="0" i="0" dirty="0">
              <a:solidFill>
                <a:srgbClr val="000000"/>
              </a:solidFill>
              <a:latin typeface="微软雅黑" panose="020B0503020204020204" charset="-122"/>
              <a:ea typeface="微软雅黑" panose="020B0503020204020204" charset="-122"/>
            </a:endParaRPr>
          </a:p>
          <a:p>
            <a:pPr marL="0" algn="l">
              <a:lnSpc>
                <a:spcPct val="130000"/>
              </a:lnSpc>
              <a:buFont typeface="Wingdings" panose="05000000000000000000"/>
              <a:buChar char="l"/>
            </a:pPr>
            <a:r>
              <a:rPr lang="zh-CN" altLang="en-US" sz="1600" b="0" i="0" dirty="0">
                <a:solidFill>
                  <a:srgbClr val="000000"/>
                </a:solidFill>
                <a:latin typeface="微软雅黑" panose="020B0503020204020204" charset="-122"/>
                <a:ea typeface="微软雅黑" panose="020B0503020204020204" charset="-122"/>
              </a:rPr>
              <a:t>第二类，高考总成绩不高，但是某一科目特别擅长的学生</a:t>
            </a:r>
            <a:endParaRPr lang="zh-CN" altLang="en-US" sz="1600" b="0" i="0" dirty="0">
              <a:solidFill>
                <a:srgbClr val="000000"/>
              </a:solidFill>
              <a:latin typeface="微软雅黑" panose="020B0503020204020204" charset="-122"/>
              <a:ea typeface="微软雅黑" panose="020B0503020204020204" charset="-122"/>
            </a:endParaRPr>
          </a:p>
          <a:p>
            <a:pPr marL="0" algn="l">
              <a:lnSpc>
                <a:spcPct val="130000"/>
              </a:lnSpc>
              <a:buFont typeface="Wingdings" panose="05000000000000000000"/>
              <a:buChar char="l"/>
            </a:pPr>
            <a:r>
              <a:rPr lang="zh-CN" altLang="en-US" sz="1600" b="0" i="0" dirty="0">
                <a:solidFill>
                  <a:srgbClr val="000000"/>
                </a:solidFill>
                <a:latin typeface="微软雅黑" panose="020B0503020204020204" charset="-122"/>
                <a:ea typeface="微软雅黑" panose="020B0503020204020204" charset="-122"/>
              </a:rPr>
              <a:t>第三类，</a:t>
            </a:r>
            <a:r>
              <a:rPr lang="zh-CN" altLang="en-US" sz="1600" b="0" i="0" dirty="0">
                <a:solidFill>
                  <a:srgbClr val="FF0000"/>
                </a:solidFill>
                <a:latin typeface="微软雅黑" panose="020B0503020204020204" charset="-122"/>
                <a:ea typeface="微软雅黑" panose="020B0503020204020204" charset="-122"/>
              </a:rPr>
              <a:t>高考排名在1到2万名的考生可以尝试报名强基计划。这一位次段的考生可能上不了985，但是报名强基计划能让这类考生有机会上个985名校!</a:t>
            </a:r>
            <a:endParaRPr lang="zh-CN" altLang="en-US" sz="1600" b="0" i="0" dirty="0">
              <a:solidFill>
                <a:srgbClr val="FF0000"/>
              </a:solidFill>
              <a:latin typeface="微软雅黑" panose="020B0503020204020204" charset="-122"/>
              <a:ea typeface="微软雅黑" panose="020B0503020204020204" charset="-122"/>
            </a:endParaRPr>
          </a:p>
        </p:txBody>
      </p:sp>
      <p:sp>
        <p:nvSpPr>
          <p:cNvPr id="6" name="文本2"/>
          <p:cNvSpPr txBox="1"/>
          <p:nvPr/>
        </p:nvSpPr>
        <p:spPr>
          <a:xfrm>
            <a:off x="1326280" y="2521953"/>
            <a:ext cx="2695575" cy="626319"/>
          </a:xfrm>
          <a:prstGeom prst="rect">
            <a:avLst/>
          </a:prstGeom>
          <a:noFill/>
        </p:spPr>
        <p:txBody>
          <a:bodyPr wrap="square" rtlCol="0" anchor="t"/>
          <a:lstStyle/>
          <a:p>
            <a:pPr marL="0" algn="l">
              <a:buFont typeface="Wingdings" panose="05000000000000000000"/>
              <a:buChar char="«"/>
            </a:pPr>
            <a:r>
              <a:rPr lang="zh-CN" altLang="en-US" sz="2000" b="1" i="0" dirty="0">
                <a:solidFill>
                  <a:srgbClr val="000000"/>
                </a:solidFill>
                <a:latin typeface="微软雅黑" panose="020B0503020204020204" charset="-122"/>
                <a:ea typeface="微软雅黑" panose="020B0503020204020204" charset="-122"/>
              </a:rPr>
              <a:t>一些建议——缺点</a:t>
            </a:r>
            <a:endParaRPr lang="zh-CN" altLang="en-US" sz="2000" b="1" i="0" dirty="0">
              <a:solidFill>
                <a:srgbClr val="000000"/>
              </a:solidFill>
              <a:latin typeface="微软雅黑" panose="020B0503020204020204" charset="-122"/>
              <a:ea typeface="微软雅黑" panose="020B0503020204020204" charset="-122"/>
            </a:endParaRPr>
          </a:p>
        </p:txBody>
      </p:sp>
      <p:sp>
        <p:nvSpPr>
          <p:cNvPr id="7" name="文本3"/>
          <p:cNvSpPr txBox="1"/>
          <p:nvPr/>
        </p:nvSpPr>
        <p:spPr>
          <a:xfrm>
            <a:off x="1325813" y="5291522"/>
            <a:ext cx="10153650" cy="887797"/>
          </a:xfrm>
          <a:prstGeom prst="rect">
            <a:avLst/>
          </a:prstGeom>
          <a:noFill/>
        </p:spPr>
        <p:txBody>
          <a:bodyPr wrap="square" rtlCol="0" anchor="t"/>
          <a:lstStyle/>
          <a:p>
            <a:pPr marL="0" algn="l">
              <a:lnSpc>
                <a:spcPct val="130000"/>
              </a:lnSpc>
            </a:pPr>
            <a:r>
              <a:rPr lang="zh-CN" altLang="en-US" sz="1600" b="0" i="0" dirty="0">
                <a:solidFill>
                  <a:srgbClr val="000000"/>
                </a:solidFill>
                <a:latin typeface="微软雅黑" panose="020B0503020204020204" charset="-122"/>
                <a:ea typeface="微软雅黑" panose="020B0503020204020204" charset="-122"/>
              </a:rPr>
              <a:t>低分上名校，参与科研，拥有更多的科研资源，</a:t>
            </a:r>
            <a:r>
              <a:rPr lang="zh-CN" altLang="en-US" sz="1600" b="0" i="0" dirty="0">
                <a:solidFill>
                  <a:srgbClr val="FF0000"/>
                </a:solidFill>
                <a:latin typeface="微软雅黑" panose="020B0503020204020204" charset="-122"/>
                <a:ea typeface="微软雅黑" panose="020B0503020204020204" charset="-122"/>
              </a:rPr>
              <a:t>更好的发展通道本-硕-博”（</a:t>
            </a:r>
            <a:r>
              <a:rPr lang="en-US" altLang="zh-CN" sz="1600" b="0" i="0" dirty="0">
                <a:solidFill>
                  <a:srgbClr val="FF0000"/>
                </a:solidFill>
                <a:latin typeface="微软雅黑" panose="020B0503020204020204" charset="-122"/>
                <a:ea typeface="微软雅黑" panose="020B0503020204020204" charset="-122"/>
              </a:rPr>
              <a:t>6</a:t>
            </a:r>
            <a:r>
              <a:rPr lang="zh-CN" altLang="en-US" sz="1600" b="0" i="0" dirty="0">
                <a:solidFill>
                  <a:srgbClr val="FF0000"/>
                </a:solidFill>
                <a:latin typeface="微软雅黑" panose="020B0503020204020204" charset="-122"/>
                <a:ea typeface="微软雅黑" panose="020B0503020204020204" charset="-122"/>
              </a:rPr>
              <a:t>年以上）衔接的培养模式，避免了考研竞争</a:t>
            </a:r>
            <a:r>
              <a:rPr lang="zh-CN" altLang="en-US" sz="1600" b="0" i="0" dirty="0">
                <a:solidFill>
                  <a:srgbClr val="000000"/>
                </a:solidFill>
                <a:latin typeface="微软雅黑" panose="020B0503020204020204" charset="-122"/>
                <a:ea typeface="微软雅黑" panose="020B0503020204020204" charset="-122"/>
              </a:rPr>
              <a:t>，优秀学生可在免试推荐</a:t>
            </a:r>
            <a:r>
              <a:rPr lang="zh-CN" altLang="en-US" sz="1600" b="0" i="0" dirty="0">
                <a:solidFill>
                  <a:srgbClr val="FF0000"/>
                </a:solidFill>
                <a:latin typeface="微软雅黑" panose="020B0503020204020204" charset="-122"/>
                <a:ea typeface="微软雅黑" panose="020B0503020204020204" charset="-122"/>
              </a:rPr>
              <a:t>研究生直博、公派留学、奖学金</a:t>
            </a:r>
            <a:r>
              <a:rPr lang="zh-CN" altLang="en-US" sz="1600" b="0" i="0" dirty="0">
                <a:solidFill>
                  <a:srgbClr val="000000"/>
                </a:solidFill>
                <a:latin typeface="微软雅黑" panose="020B0503020204020204" charset="-122"/>
                <a:ea typeface="微软雅黑" panose="020B0503020204020204" charset="-122"/>
              </a:rPr>
              <a:t>等方面优先安排。</a:t>
            </a:r>
            <a:endParaRPr lang="zh-CN" altLang="en-US" sz="1600" b="0" i="0" dirty="0">
              <a:solidFill>
                <a:srgbClr val="000000"/>
              </a:solidFill>
              <a:latin typeface="微软雅黑" panose="020B0503020204020204" charset="-122"/>
              <a:ea typeface="微软雅黑" panose="020B0503020204020204" charset="-122"/>
            </a:endParaRPr>
          </a:p>
        </p:txBody>
      </p:sp>
      <p:sp>
        <p:nvSpPr>
          <p:cNvPr id="8" name="文本4"/>
          <p:cNvSpPr txBox="1"/>
          <p:nvPr/>
        </p:nvSpPr>
        <p:spPr>
          <a:xfrm>
            <a:off x="1326271" y="4758319"/>
            <a:ext cx="2962275" cy="604526"/>
          </a:xfrm>
          <a:prstGeom prst="rect">
            <a:avLst/>
          </a:prstGeom>
          <a:noFill/>
        </p:spPr>
        <p:txBody>
          <a:bodyPr wrap="square" rtlCol="0" anchor="t"/>
          <a:lstStyle/>
          <a:p>
            <a:pPr marL="0" algn="l">
              <a:buFont typeface="Wingdings" panose="05000000000000000000"/>
              <a:buChar char="«"/>
            </a:pPr>
            <a:r>
              <a:rPr lang="zh-CN" altLang="en-US" sz="1900" b="1" i="0" dirty="0">
                <a:solidFill>
                  <a:srgbClr val="000000"/>
                </a:solidFill>
                <a:latin typeface="微软雅黑" panose="020B0503020204020204" charset="-122"/>
                <a:ea typeface="微软雅黑" panose="020B0503020204020204" charset="-122"/>
              </a:rPr>
              <a:t>一些建议——优点</a:t>
            </a:r>
            <a:endParaRPr lang="zh-CN" altLang="en-US" sz="1900" b="1" i="0" dirty="0">
              <a:solidFill>
                <a:srgbClr val="000000"/>
              </a:solidFill>
              <a:latin typeface="微软雅黑" panose="020B0503020204020204" charset="-122"/>
              <a:ea typeface="微软雅黑" panose="020B0503020204020204" charset="-122"/>
            </a:endParaRPr>
          </a:p>
        </p:txBody>
      </p:sp>
      <p:sp>
        <p:nvSpPr>
          <p:cNvPr id="9" name="文本5"/>
          <p:cNvSpPr txBox="1"/>
          <p:nvPr/>
        </p:nvSpPr>
        <p:spPr>
          <a:xfrm>
            <a:off x="1325947" y="2987856"/>
            <a:ext cx="9439275" cy="1672265"/>
          </a:xfrm>
          <a:prstGeom prst="rect">
            <a:avLst/>
          </a:prstGeom>
          <a:noFill/>
        </p:spPr>
        <p:txBody>
          <a:bodyPr wrap="square" rtlCol="0" anchor="t"/>
          <a:lstStyle/>
          <a:p>
            <a:pPr marL="0" algn="l">
              <a:lnSpc>
                <a:spcPct val="130000"/>
              </a:lnSpc>
              <a:buFont typeface="Wingdings" panose="05000000000000000000"/>
              <a:buChar char="l"/>
            </a:pPr>
            <a:r>
              <a:rPr lang="zh-CN" altLang="en-US" sz="1700" b="0" i="0" dirty="0">
                <a:solidFill>
                  <a:srgbClr val="000000"/>
                </a:solidFill>
                <a:latin typeface="微软雅黑" panose="020B0503020204020204" charset="-122"/>
                <a:ea typeface="微软雅黑" panose="020B0503020204020204" charset="-122"/>
              </a:rPr>
              <a:t>做好长期熬学历的准备，起码</a:t>
            </a:r>
            <a:r>
              <a:rPr lang="en-US" altLang="zh-CN" sz="1700" b="0" i="0" dirty="0">
                <a:solidFill>
                  <a:srgbClr val="FF0000"/>
                </a:solidFill>
                <a:latin typeface="微软雅黑" panose="020B0503020204020204" charset="-122"/>
                <a:ea typeface="微软雅黑" panose="020B0503020204020204" charset="-122"/>
              </a:rPr>
              <a:t>6-10</a:t>
            </a:r>
            <a:r>
              <a:rPr lang="zh-CN" altLang="en-US" sz="1700" b="0" i="0" dirty="0">
                <a:solidFill>
                  <a:srgbClr val="FF0000"/>
                </a:solidFill>
                <a:latin typeface="微软雅黑" panose="020B0503020204020204" charset="-122"/>
                <a:ea typeface="微软雅黑" panose="020B0503020204020204" charset="-122"/>
              </a:rPr>
              <a:t>年</a:t>
            </a:r>
            <a:r>
              <a:rPr lang="zh-CN" altLang="en-US" sz="1700" b="0" i="0" dirty="0">
                <a:solidFill>
                  <a:srgbClr val="000000"/>
                </a:solidFill>
                <a:latin typeface="微软雅黑" panose="020B0503020204020204" charset="-122"/>
                <a:ea typeface="微软雅黑" panose="020B0503020204020204" charset="-122"/>
              </a:rPr>
              <a:t>深耕于本专业领域，经得住寂寞、经得起诱惑、沉得下心</a:t>
            </a:r>
            <a:endParaRPr lang="zh-CN" altLang="en-US" sz="1700" b="0" i="0" dirty="0">
              <a:solidFill>
                <a:srgbClr val="000000"/>
              </a:solidFill>
              <a:latin typeface="微软雅黑" panose="020B0503020204020204" charset="-122"/>
              <a:ea typeface="微软雅黑" panose="020B0503020204020204" charset="-122"/>
            </a:endParaRPr>
          </a:p>
          <a:p>
            <a:pPr marL="0" algn="l">
              <a:lnSpc>
                <a:spcPct val="130000"/>
              </a:lnSpc>
              <a:buFont typeface="Wingdings" panose="05000000000000000000"/>
              <a:buChar char="l"/>
            </a:pPr>
            <a:r>
              <a:rPr lang="zh-CN" altLang="en-US" sz="1700" b="0" i="0" dirty="0">
                <a:solidFill>
                  <a:srgbClr val="000000"/>
                </a:solidFill>
                <a:latin typeface="微软雅黑" panose="020B0503020204020204" charset="-122"/>
                <a:ea typeface="微软雅黑" panose="020B0503020204020204" charset="-122"/>
              </a:rPr>
              <a:t>学科冷门，聚焦于基础学科，包括数学、物理、化学、生物、力学、基础医学、历史、哲学、古文字学等，基础学科</a:t>
            </a:r>
            <a:r>
              <a:rPr lang="zh-CN" altLang="en-US" sz="1700" b="0" i="0" dirty="0">
                <a:solidFill>
                  <a:srgbClr val="FF0000"/>
                </a:solidFill>
                <a:latin typeface="微软雅黑" panose="020B0503020204020204" charset="-122"/>
                <a:ea typeface="微软雅黑" panose="020B0503020204020204" charset="-122"/>
              </a:rPr>
              <a:t>本科就业渠道很窄</a:t>
            </a:r>
            <a:endParaRPr lang="zh-CN" altLang="en-US" sz="1700" b="0" i="0" dirty="0">
              <a:solidFill>
                <a:srgbClr val="FF0000"/>
              </a:solidFill>
              <a:latin typeface="微软雅黑" panose="020B0503020204020204" charset="-122"/>
              <a:ea typeface="微软雅黑" panose="020B0503020204020204" charset="-122"/>
            </a:endParaRPr>
          </a:p>
          <a:p>
            <a:pPr marL="0" algn="l">
              <a:lnSpc>
                <a:spcPct val="130000"/>
              </a:lnSpc>
              <a:buFont typeface="Wingdings" panose="05000000000000000000"/>
              <a:buChar char="l"/>
            </a:pPr>
            <a:r>
              <a:rPr lang="zh-CN" altLang="en-US" sz="1700" b="0" i="0" dirty="0">
                <a:solidFill>
                  <a:srgbClr val="000000"/>
                </a:solidFill>
                <a:latin typeface="微软雅黑" panose="020B0503020204020204" charset="-122"/>
                <a:ea typeface="微软雅黑" panose="020B0503020204020204" charset="-122"/>
              </a:rPr>
              <a:t>没那么快有money上的回报， </a:t>
            </a:r>
            <a:r>
              <a:rPr lang="zh-CN" altLang="en-US" sz="1700" b="0" i="0" dirty="0">
                <a:solidFill>
                  <a:srgbClr val="FF0000"/>
                </a:solidFill>
                <a:latin typeface="微软雅黑" panose="020B0503020204020204" charset="-122"/>
                <a:ea typeface="微软雅黑" panose="020B0503020204020204" charset="-122"/>
              </a:rPr>
              <a:t>钱不钱的无所谓</a:t>
            </a:r>
            <a:r>
              <a:rPr lang="zh-CN" altLang="en-US" sz="1700" b="0" i="0" dirty="0">
                <a:solidFill>
                  <a:srgbClr val="000000"/>
                </a:solidFill>
                <a:latin typeface="微软雅黑" panose="020B0503020204020204" charset="-122"/>
                <a:ea typeface="微软雅黑" panose="020B0503020204020204" charset="-122"/>
              </a:rPr>
              <a:t>，家里不需要你那么快出来挣钱养自己</a:t>
            </a:r>
            <a:endParaRPr lang="zh-CN" altLang="en-US" sz="1700" b="0" i="0" dirty="0">
              <a:solidFill>
                <a:srgbClr val="000000"/>
              </a:solidFill>
              <a:latin typeface="微软雅黑" panose="020B0503020204020204" charset="-122"/>
              <a:ea typeface="微软雅黑" panose="020B0503020204020204" charset="-122"/>
            </a:endParaRPr>
          </a:p>
        </p:txBody>
      </p:sp>
      <p:sp>
        <p:nvSpPr>
          <p:cNvPr id="10" name="形状2"/>
          <p:cNvSpPr txBox="1"/>
          <p:nvPr/>
        </p:nvSpPr>
        <p:spPr>
          <a:xfrm>
            <a:off x="761238" y="2512304"/>
            <a:ext cx="11087488" cy="19050"/>
          </a:xfrm>
          <a:prstGeom prst="line">
            <a:avLst/>
          </a:prstGeom>
          <a:solidFill>
            <a:srgbClr val="5C81CC"/>
          </a:solidFill>
          <a:ln w="19050">
            <a:solidFill>
              <a:srgbClr val="000000"/>
            </a:solidFill>
            <a:prstDash val="solid"/>
          </a:ln>
        </p:spPr>
        <p:txBody>
          <a:bodyPr wrap="square" rtlCol="0" anchor="ctr"/>
          <a:lstStyle/>
          <a:p>
            <a:pPr marL="0" algn="ctr"/>
          </a:p>
        </p:txBody>
      </p:sp>
      <p:sp>
        <p:nvSpPr>
          <p:cNvPr id="11" name="形状3"/>
          <p:cNvSpPr txBox="1"/>
          <p:nvPr/>
        </p:nvSpPr>
        <p:spPr>
          <a:xfrm>
            <a:off x="761009" y="4641380"/>
            <a:ext cx="11087488" cy="19050"/>
          </a:xfrm>
          <a:prstGeom prst="line">
            <a:avLst/>
          </a:prstGeom>
          <a:solidFill>
            <a:srgbClr val="5C81CC"/>
          </a:solidFill>
          <a:ln w="19050">
            <a:solidFill>
              <a:srgbClr val="000000"/>
            </a:solidFill>
            <a:prstDash val="solid"/>
          </a:ln>
        </p:spPr>
        <p:txBody>
          <a:bodyPr wrap="square" rtlCol="0" anchor="ctr"/>
          <a:lstStyle/>
          <a:p>
            <a:pPr marL="0"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8"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4774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r>
              <a:rPr lang="zh-CN" altLang="en-US" sz="2200" b="0" i="0" dirty="0">
                <a:solidFill>
                  <a:srgbClr val="FFFFFF"/>
                </a:solidFill>
                <a:latin typeface="微软雅黑" panose="020B0503020204020204" charset="-122"/>
                <a:ea typeface="微软雅黑" panose="020B0503020204020204" charset="-122"/>
              </a:rPr>
              <a:t>+</a:t>
            </a:r>
            <a:endParaRPr lang="zh-CN" altLang="en-US" sz="2200" b="0" i="0" dirty="0">
              <a:solidFill>
                <a:srgbClr val="FFFFFF"/>
              </a:solidFill>
              <a:latin typeface="微软雅黑" panose="020B0503020204020204" charset="-122"/>
              <a:ea typeface="微软雅黑" panose="020B0503020204020204" charset="-122"/>
            </a:endParaRP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4524404" y="369351"/>
            <a:ext cx="5931535" cy="579839"/>
            <a:chOff x="0" y="0"/>
            <a:chExt cx="5931535" cy="579839"/>
          </a:xfrm>
        </p:grpSpPr>
        <p:sp>
          <p:nvSpPr>
            <p:cNvPr id="6" name="形状2"/>
            <p:cNvSpPr txBox="1"/>
            <p:nvPr/>
          </p:nvSpPr>
          <p:spPr>
            <a:xfrm>
              <a:off x="3810" y="49530"/>
              <a:ext cx="5741035" cy="460375"/>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6"/>
            <p:cNvSpPr txBox="1"/>
            <p:nvPr/>
          </p:nvSpPr>
          <p:spPr>
            <a:xfrm>
              <a:off x="0" y="0"/>
              <a:ext cx="5931535"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路径一：强基计划</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8" name="文本1"/>
          <p:cNvSpPr txBox="1"/>
          <p:nvPr/>
        </p:nvSpPr>
        <p:spPr>
          <a:xfrm>
            <a:off x="1046274" y="1390059"/>
            <a:ext cx="4254500" cy="500062"/>
          </a:xfrm>
          <a:prstGeom prst="rect">
            <a:avLst/>
          </a:prstGeom>
          <a:noFill/>
        </p:spPr>
        <p:txBody>
          <a:bodyPr wrap="square" rtlCol="0" anchor="t"/>
          <a:lstStyle/>
          <a:p>
            <a:pPr marL="0" algn="l"/>
            <a:r>
              <a:rPr lang="zh-CN" altLang="en-US" sz="2000" b="0" i="0" dirty="0">
                <a:solidFill>
                  <a:srgbClr val="000000"/>
                </a:solidFill>
                <a:latin typeface="方正粗黑宋简体" panose="02000000000000000000" charset="-122"/>
                <a:ea typeface="方正粗黑宋简体" panose="02000000000000000000" charset="-122"/>
              </a:rPr>
              <a:t>低年级的学生该如何备考强基计划？</a:t>
            </a:r>
            <a:endParaRPr lang="zh-CN" altLang="en-US" sz="2000" b="0" i="0" dirty="0">
              <a:solidFill>
                <a:srgbClr val="000000"/>
              </a:solidFill>
              <a:latin typeface="方正粗黑宋简体" panose="02000000000000000000" charset="-122"/>
              <a:ea typeface="方正粗黑宋简体" panose="02000000000000000000" charset="-122"/>
            </a:endParaRPr>
          </a:p>
        </p:txBody>
      </p:sp>
      <p:pic>
        <p:nvPicPr>
          <p:cNvPr id="9" name="表格1"/>
          <p:cNvPicPr>
            <a:picLocks noChangeAspect="1"/>
          </p:cNvPicPr>
          <p:nvPr/>
        </p:nvPicPr>
        <p:blipFill>
          <a:blip r:embed="rId3"/>
          <a:stretch>
            <a:fillRect/>
          </a:stretch>
        </p:blipFill>
        <p:spPr>
          <a:xfrm>
            <a:off x="529590" y="2331085"/>
            <a:ext cx="11209020" cy="3019425"/>
          </a:xfrm>
          <a:prstGeom prst="rect">
            <a:avLst/>
          </a:prstGeom>
        </p:spPr>
      </p:pic>
      <p:sp>
        <p:nvSpPr>
          <p:cNvPr id="10" name="文本2"/>
          <p:cNvSpPr txBox="1"/>
          <p:nvPr/>
        </p:nvSpPr>
        <p:spPr>
          <a:xfrm>
            <a:off x="810260" y="2955290"/>
            <a:ext cx="2066925" cy="2272665"/>
          </a:xfrm>
          <a:prstGeom prst="rect">
            <a:avLst/>
          </a:prstGeom>
          <a:noFill/>
        </p:spPr>
        <p:txBody>
          <a:bodyPr wrap="square" rtlCol="0" anchor="t"/>
          <a:lstStyle/>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①高考成绩优秀（至少一本分数线</a:t>
            </a:r>
            <a:r>
              <a:rPr lang="en-US" altLang="zh-CN" sz="1800" b="0" i="0" dirty="0">
                <a:solidFill>
                  <a:srgbClr val="000000"/>
                </a:solidFill>
                <a:latin typeface="微软雅黑" panose="020B0503020204020204" charset="-122"/>
                <a:ea typeface="微软雅黑" panose="020B0503020204020204" charset="-122"/>
              </a:rPr>
              <a:t>449</a:t>
            </a:r>
            <a:r>
              <a:rPr lang="zh-CN" altLang="en-US" dirty="0">
                <a:solidFill>
                  <a:srgbClr val="000000"/>
                </a:solidFill>
                <a:latin typeface="微软雅黑" panose="020B0503020204020204" charset="-122"/>
                <a:ea typeface="微软雅黑" panose="020B0503020204020204" charset="-122"/>
                <a:sym typeface="+mn-ea"/>
              </a:rPr>
              <a:t>物</a:t>
            </a:r>
            <a:r>
              <a:rPr lang="zh-CN" altLang="en-US" sz="1800" b="0" i="0" dirty="0">
                <a:solidFill>
                  <a:srgbClr val="000000"/>
                </a:solidFill>
                <a:latin typeface="微软雅黑" panose="020B0503020204020204" charset="-122"/>
                <a:ea typeface="微软雅黑" panose="020B0503020204020204" charset="-122"/>
              </a:rPr>
              <a:t>\4</a:t>
            </a:r>
            <a:r>
              <a:rPr lang="en-US" altLang="zh-CN" sz="1800" b="0" i="0" dirty="0">
                <a:solidFill>
                  <a:srgbClr val="000000"/>
                </a:solidFill>
                <a:latin typeface="微软雅黑" panose="020B0503020204020204" charset="-122"/>
                <a:ea typeface="微软雅黑" panose="020B0503020204020204" charset="-122"/>
              </a:rPr>
              <a:t>31</a:t>
            </a:r>
            <a:r>
              <a:rPr lang="zh-CN" altLang="en-US" dirty="0">
                <a:solidFill>
                  <a:srgbClr val="000000"/>
                </a:solidFill>
                <a:latin typeface="微软雅黑" panose="020B0503020204020204" charset="-122"/>
                <a:ea typeface="微软雅黑" panose="020B0503020204020204" charset="-122"/>
                <a:sym typeface="+mn-ea"/>
              </a:rPr>
              <a:t>历</a:t>
            </a:r>
            <a:r>
              <a:rPr lang="zh-CN" altLang="en-US" sz="1800" b="0" i="0" dirty="0">
                <a:solidFill>
                  <a:srgbClr val="000000"/>
                </a:solidFill>
                <a:latin typeface="微软雅黑" panose="020B0503020204020204" charset="-122"/>
                <a:ea typeface="微软雅黑" panose="020B0503020204020204" charset="-122"/>
              </a:rPr>
              <a:t>）</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②曾在五大学科竞赛中拿到全国一二等奖</a:t>
            </a:r>
            <a:endParaRPr lang="zh-CN" altLang="en-US" sz="1800" b="0" i="0" dirty="0">
              <a:solidFill>
                <a:srgbClr val="000000"/>
              </a:solidFill>
              <a:latin typeface="微软雅黑" panose="020B0503020204020204" charset="-122"/>
              <a:ea typeface="微软雅黑" panose="020B0503020204020204" charset="-122"/>
            </a:endParaRPr>
          </a:p>
          <a:p>
            <a:pPr marL="0" algn="l"/>
          </a:p>
        </p:txBody>
      </p:sp>
      <p:sp>
        <p:nvSpPr>
          <p:cNvPr id="11" name="文本3"/>
          <p:cNvSpPr txBox="1"/>
          <p:nvPr/>
        </p:nvSpPr>
        <p:spPr>
          <a:xfrm>
            <a:off x="2901172" y="2884989"/>
            <a:ext cx="1804956" cy="1759435"/>
          </a:xfrm>
          <a:prstGeom prst="rect">
            <a:avLst/>
          </a:prstGeom>
          <a:noFill/>
        </p:spPr>
        <p:txBody>
          <a:bodyPr wrap="square" rtlCol="0" anchor="t"/>
          <a:lstStyle/>
          <a:p>
            <a:pPr marL="0" algn="l"/>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高考成绩占85%</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院校自测占15%</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综合成绩录取</a:t>
            </a:r>
            <a:endParaRPr lang="zh-CN" altLang="en-US" sz="1800" b="0" i="0" dirty="0">
              <a:solidFill>
                <a:srgbClr val="000000"/>
              </a:solidFill>
              <a:latin typeface="微软雅黑" panose="020B0503020204020204" charset="-122"/>
              <a:ea typeface="微软雅黑" panose="020B0503020204020204" charset="-122"/>
            </a:endParaRPr>
          </a:p>
        </p:txBody>
      </p:sp>
      <p:sp>
        <p:nvSpPr>
          <p:cNvPr id="12" name="文本4"/>
          <p:cNvSpPr txBox="1"/>
          <p:nvPr/>
        </p:nvSpPr>
        <p:spPr>
          <a:xfrm>
            <a:off x="4730315" y="3218120"/>
            <a:ext cx="2590800" cy="1759435"/>
          </a:xfrm>
          <a:prstGeom prst="rect">
            <a:avLst/>
          </a:prstGeom>
          <a:noFill/>
        </p:spPr>
        <p:txBody>
          <a:bodyPr wrap="square" rtlCol="0" anchor="t"/>
          <a:lstStyle/>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①想要以低分上名校</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②对基础学科感兴趣</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③全科成绩优秀</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④有五大学科竞赛获奖</a:t>
            </a:r>
            <a:endParaRPr lang="zh-CN" altLang="en-US" sz="1800" b="0" i="0" dirty="0">
              <a:solidFill>
                <a:srgbClr val="000000"/>
              </a:solidFill>
              <a:latin typeface="微软雅黑" panose="020B0503020204020204" charset="-122"/>
              <a:ea typeface="微软雅黑" panose="020B0503020204020204" charset="-122"/>
            </a:endParaRPr>
          </a:p>
        </p:txBody>
      </p:sp>
      <p:sp>
        <p:nvSpPr>
          <p:cNvPr id="13" name="文本5"/>
          <p:cNvSpPr txBox="1"/>
          <p:nvPr/>
        </p:nvSpPr>
        <p:spPr>
          <a:xfrm>
            <a:off x="7719228" y="3078566"/>
            <a:ext cx="4076700" cy="2038598"/>
          </a:xfrm>
          <a:prstGeom prst="rect">
            <a:avLst/>
          </a:prstGeom>
          <a:noFill/>
        </p:spPr>
        <p:txBody>
          <a:bodyPr wrap="square" rtlCol="0" anchor="t"/>
          <a:lstStyle/>
          <a:p>
            <a:pPr marL="0" algn="l">
              <a:lnSpc>
                <a:spcPct val="140000"/>
              </a:lnSpc>
            </a:pPr>
            <a:r>
              <a:rPr lang="zh-CN" altLang="en-US" sz="1800" b="0" i="0" dirty="0">
                <a:solidFill>
                  <a:srgbClr val="1A5CB3"/>
                </a:solidFill>
                <a:latin typeface="微软雅黑" panose="020B0503020204020204" charset="-122"/>
                <a:ea typeface="微软雅黑" panose="020B0503020204020204" charset="-122"/>
              </a:rPr>
              <a:t>①</a:t>
            </a:r>
            <a:r>
              <a:rPr lang="zh-CN" altLang="en-US" sz="1800" b="0" i="0" dirty="0">
                <a:solidFill>
                  <a:srgbClr val="1A5CB3"/>
                </a:solidFill>
                <a:latin typeface="方正粗黑宋简体" panose="02000000000000000000" charset="-122"/>
                <a:ea typeface="方正粗黑宋简体" panose="02000000000000000000" charset="-122"/>
              </a:rPr>
              <a:t>注重高考成绩，不偏科，全面提升</a:t>
            </a:r>
            <a:endParaRPr lang="zh-CN" altLang="en-US" sz="1800" b="0" i="0" dirty="0">
              <a:solidFill>
                <a:srgbClr val="1A5CB3"/>
              </a:solidFill>
              <a:latin typeface="方正粗黑宋简体" panose="02000000000000000000" charset="-122"/>
              <a:ea typeface="方正粗黑宋简体" panose="02000000000000000000" charset="-122"/>
            </a:endParaRPr>
          </a:p>
          <a:p>
            <a:pPr marL="0" algn="l">
              <a:lnSpc>
                <a:spcPct val="140000"/>
              </a:lnSpc>
            </a:pPr>
            <a:r>
              <a:rPr lang="zh-CN" altLang="en-US" sz="1800" b="0" i="0" dirty="0">
                <a:solidFill>
                  <a:srgbClr val="1A5CB3"/>
                </a:solidFill>
                <a:latin typeface="方正粗黑宋简体" panose="02000000000000000000" charset="-122"/>
                <a:ea typeface="方正粗黑宋简体" panose="02000000000000000000" charset="-122"/>
              </a:rPr>
              <a:t>②合理分配时间，补充竞赛知识</a:t>
            </a:r>
            <a:endParaRPr lang="zh-CN" altLang="en-US" sz="1800" b="0" i="0" dirty="0">
              <a:solidFill>
                <a:srgbClr val="1A5CB3"/>
              </a:solidFill>
              <a:latin typeface="方正粗黑宋简体" panose="02000000000000000000" charset="-122"/>
              <a:ea typeface="方正粗黑宋简体" panose="02000000000000000000" charset="-122"/>
            </a:endParaRPr>
          </a:p>
          <a:p>
            <a:pPr marL="0" algn="l">
              <a:lnSpc>
                <a:spcPct val="140000"/>
              </a:lnSpc>
            </a:pPr>
            <a:r>
              <a:rPr lang="zh-CN" altLang="en-US" sz="1800" b="0" i="0" dirty="0">
                <a:solidFill>
                  <a:srgbClr val="1A5CB3"/>
                </a:solidFill>
                <a:latin typeface="方正粗黑宋简体" panose="02000000000000000000" charset="-122"/>
                <a:ea typeface="方正粗黑宋简体" panose="02000000000000000000" charset="-122"/>
              </a:rPr>
              <a:t>③尽早规划，培养学科兴趣</a:t>
            </a:r>
            <a:endParaRPr lang="zh-CN" altLang="en-US" sz="1800" b="0" i="0" dirty="0">
              <a:solidFill>
                <a:srgbClr val="1A5CB3"/>
              </a:solidFill>
              <a:latin typeface="方正粗黑宋简体" panose="02000000000000000000" charset="-122"/>
              <a:ea typeface="方正粗黑宋简体" panose="02000000000000000000" charset="-122"/>
            </a:endParaRPr>
          </a:p>
          <a:p>
            <a:pPr marL="0" algn="l">
              <a:lnSpc>
                <a:spcPct val="140000"/>
              </a:lnSpc>
            </a:pPr>
            <a:r>
              <a:rPr lang="zh-CN" altLang="en-US" sz="1800" b="0" i="0" dirty="0">
                <a:solidFill>
                  <a:srgbClr val="1A5CB3"/>
                </a:solidFill>
                <a:latin typeface="方正粗黑宋简体" panose="02000000000000000000" charset="-122"/>
                <a:ea typeface="方正粗黑宋简体" panose="02000000000000000000" charset="-122"/>
              </a:rPr>
              <a:t>④关注时事热点，强化交流技巧</a:t>
            </a:r>
            <a:endParaRPr lang="zh-CN" altLang="en-US" sz="1800" b="0" i="0" dirty="0">
              <a:solidFill>
                <a:srgbClr val="1A5CB3"/>
              </a:solidFill>
              <a:latin typeface="方正粗黑宋简体" panose="02000000000000000000" charset="-122"/>
              <a:ea typeface="方正粗黑宋简体" panose="02000000000000000000" charset="-122"/>
            </a:endParaRPr>
          </a:p>
          <a:p>
            <a:pPr marL="0" algn="l">
              <a:lnSpc>
                <a:spcPct val="140000"/>
              </a:lnSpc>
            </a:pPr>
            <a:r>
              <a:rPr lang="zh-CN" altLang="en-US" sz="1800" b="0" i="0" dirty="0">
                <a:solidFill>
                  <a:srgbClr val="1A5CB3"/>
                </a:solidFill>
                <a:latin typeface="方正粗黑宋简体" panose="02000000000000000000" charset="-122"/>
                <a:ea typeface="方正粗黑宋简体" panose="02000000000000000000" charset="-122"/>
              </a:rPr>
              <a:t>⑤尽早培养自己的生涯规划与学业规划</a:t>
            </a:r>
            <a:endParaRPr lang="zh-CN" altLang="en-US" sz="1800" b="0" i="0" dirty="0">
              <a:solidFill>
                <a:srgbClr val="1A5CB3"/>
              </a:solidFill>
              <a:latin typeface="方正粗黑宋简体" panose="02000000000000000000" charset="-122"/>
              <a:ea typeface="方正粗黑宋简体" panose="020000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3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3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3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animBg="1"/>
      <p:bldP spid="11"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4774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pic>
        <p:nvPicPr>
          <p:cNvPr id="5" name="图片3"/>
          <p:cNvPicPr>
            <a:picLocks noChangeAspect="1"/>
          </p:cNvPicPr>
          <p:nvPr/>
        </p:nvPicPr>
        <p:blipFill>
          <a:blip r:embed="rId3"/>
          <a:srcRect b="7980"/>
          <a:stretch>
            <a:fillRect/>
          </a:stretch>
        </p:blipFill>
        <p:spPr>
          <a:xfrm>
            <a:off x="6598285" y="2084070"/>
            <a:ext cx="5688965" cy="4773930"/>
          </a:xfrm>
          <a:prstGeom prst="rect">
            <a:avLst/>
          </a:prstGeom>
        </p:spPr>
      </p:pic>
      <p:grpSp>
        <p:nvGrpSpPr>
          <p:cNvPr id="6" name="组合1"/>
          <p:cNvGrpSpPr/>
          <p:nvPr/>
        </p:nvGrpSpPr>
        <p:grpSpPr>
          <a:xfrm>
            <a:off x="4586147" y="317468"/>
            <a:ext cx="2461461" cy="579839"/>
            <a:chOff x="0" y="0"/>
            <a:chExt cx="2461461" cy="579839"/>
          </a:xfrm>
        </p:grpSpPr>
        <p:sp>
          <p:nvSpPr>
            <p:cNvPr id="7" name="形状2"/>
            <p:cNvSpPr txBox="1"/>
            <p:nvPr/>
          </p:nvSpPr>
          <p:spPr>
            <a:xfrm>
              <a:off x="0" y="49530"/>
              <a:ext cx="1841357" cy="460373"/>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8" name="文本2"/>
            <p:cNvSpPr txBox="1"/>
            <p:nvPr/>
          </p:nvSpPr>
          <p:spPr>
            <a:xfrm>
              <a:off x="16079" y="0"/>
              <a:ext cx="2445382"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路径二：保送生</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9" name="文本1"/>
          <p:cNvSpPr txBox="1"/>
          <p:nvPr/>
        </p:nvSpPr>
        <p:spPr>
          <a:xfrm>
            <a:off x="779780" y="897255"/>
            <a:ext cx="6268085" cy="6427470"/>
          </a:xfrm>
          <a:prstGeom prst="rect">
            <a:avLst/>
          </a:prstGeom>
          <a:noFill/>
        </p:spPr>
        <p:txBody>
          <a:bodyPr wrap="square" rtlCol="0" anchor="t"/>
          <a:lstStyle/>
          <a:p>
            <a:pPr marL="0" algn="l">
              <a:lnSpc>
                <a:spcPct val="170000"/>
              </a:lnSpc>
            </a:pPr>
            <a:r>
              <a:rPr lang="zh-CN" altLang="en-US" sz="5700" b="0" i="0" dirty="0">
                <a:solidFill>
                  <a:srgbClr val="000000"/>
                </a:solidFill>
                <a:latin typeface="方正粗黑宋简体" panose="02000000000000000000" charset="-122"/>
                <a:ea typeface="方正粗黑宋简体" panose="02000000000000000000" charset="-122"/>
              </a:rPr>
              <a:t>保</a:t>
            </a:r>
            <a:r>
              <a:rPr lang="zh-CN" altLang="en-US" sz="1800" b="0" i="0" dirty="0">
                <a:solidFill>
                  <a:srgbClr val="000000"/>
                </a:solidFill>
                <a:latin typeface="方正粗黑宋简体" panose="02000000000000000000" charset="-122"/>
                <a:ea typeface="方正粗黑宋简体" panose="02000000000000000000" charset="-122"/>
              </a:rPr>
              <a:t>送生，即无须参加高考（有的省规定保送生可自愿参加高考，但不再参加统一录取），经学校推荐，即可进入大学就读的学生。全国中学生奥赛全国决赛一等奖获得者并被遴选为国际奥赛国家队集训的应届高中毕业生、省级优秀学生（</a:t>
            </a:r>
            <a:r>
              <a:rPr lang="en-US" altLang="zh-CN" sz="1800" b="0" i="0" dirty="0">
                <a:solidFill>
                  <a:srgbClr val="000000"/>
                </a:solidFill>
                <a:latin typeface="方正粗黑宋简体" panose="02000000000000000000" charset="-122"/>
                <a:ea typeface="方正粗黑宋简体" panose="02000000000000000000" charset="-122"/>
              </a:rPr>
              <a:t>2020</a:t>
            </a:r>
            <a:r>
              <a:rPr lang="zh-CN" altLang="en-US" sz="1800" b="0" i="0" dirty="0">
                <a:solidFill>
                  <a:srgbClr val="000000"/>
                </a:solidFill>
                <a:latin typeface="方正粗黑宋简体" panose="02000000000000000000" charset="-122"/>
                <a:ea typeface="方正粗黑宋简体" panose="02000000000000000000" charset="-122"/>
              </a:rPr>
              <a:t>年起取消）、优秀退役运动员、公安英烈子女以及外国语学校的学生都是保送的对象。符合上述保送条件的学生经中学推荐，并通过大学测试合格后，即可进入大学就读。</a:t>
            </a:r>
            <a:endParaRPr lang="zh-CN" altLang="en-US" sz="1800" b="0" i="0" dirty="0">
              <a:solidFill>
                <a:srgbClr val="000000"/>
              </a:solidFill>
              <a:latin typeface="方正粗黑宋简体" panose="02000000000000000000" charset="-122"/>
              <a:ea typeface="方正粗黑宋简体" panose="02000000000000000000" charset="-122"/>
            </a:endParaRPr>
          </a:p>
          <a:p>
            <a:pPr marL="0" algn="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r>
              <a:rPr lang="zh-CN" altLang="en-US" sz="2200" b="0" i="0" dirty="0">
                <a:solidFill>
                  <a:srgbClr val="FFFFFF"/>
                </a:solidFill>
                <a:latin typeface="微软雅黑" panose="020B0503020204020204" charset="-122"/>
                <a:ea typeface="微软雅黑" panose="020B0503020204020204" charset="-122"/>
              </a:rPr>
              <a:t>+</a:t>
            </a:r>
            <a:endParaRPr lang="zh-CN" altLang="en-US" sz="2200" b="0" i="0" dirty="0">
              <a:solidFill>
                <a:srgbClr val="FFFFFF"/>
              </a:solidFill>
              <a:latin typeface="微软雅黑" panose="020B0503020204020204" charset="-122"/>
              <a:ea typeface="微软雅黑" panose="020B0503020204020204" charset="-122"/>
            </a:endParaRP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4524404" y="369351"/>
            <a:ext cx="5931535" cy="579839"/>
            <a:chOff x="0" y="0"/>
            <a:chExt cx="5931535" cy="579839"/>
          </a:xfrm>
        </p:grpSpPr>
        <p:sp>
          <p:nvSpPr>
            <p:cNvPr id="6" name="形状2"/>
            <p:cNvSpPr txBox="1"/>
            <p:nvPr/>
          </p:nvSpPr>
          <p:spPr>
            <a:xfrm>
              <a:off x="3810" y="49530"/>
              <a:ext cx="5741035" cy="460375"/>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5"/>
            <p:cNvSpPr txBox="1"/>
            <p:nvPr/>
          </p:nvSpPr>
          <p:spPr>
            <a:xfrm>
              <a:off x="0" y="0"/>
              <a:ext cx="5931535"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路径二：保送生</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8" name="文本1"/>
          <p:cNvSpPr txBox="1"/>
          <p:nvPr/>
        </p:nvSpPr>
        <p:spPr>
          <a:xfrm>
            <a:off x="1046274" y="1390059"/>
            <a:ext cx="3746500" cy="500062"/>
          </a:xfrm>
          <a:prstGeom prst="rect">
            <a:avLst/>
          </a:prstGeom>
          <a:noFill/>
        </p:spPr>
        <p:txBody>
          <a:bodyPr wrap="square" rtlCol="0" anchor="t"/>
          <a:lstStyle/>
          <a:p>
            <a:pPr marL="0" algn="l"/>
            <a:r>
              <a:rPr lang="zh-CN" altLang="en-US" sz="2000" b="0" i="0" dirty="0">
                <a:solidFill>
                  <a:srgbClr val="000000"/>
                </a:solidFill>
                <a:latin typeface="方正粗黑宋简体" panose="02000000000000000000" charset="-122"/>
                <a:ea typeface="方正粗黑宋简体" panose="02000000000000000000" charset="-122"/>
              </a:rPr>
              <a:t>低年级的学生该如何准备保送？</a:t>
            </a:r>
            <a:endParaRPr lang="zh-CN" altLang="en-US" sz="2000" b="0" i="0" dirty="0">
              <a:solidFill>
                <a:srgbClr val="000000"/>
              </a:solidFill>
              <a:latin typeface="方正粗黑宋简体" panose="02000000000000000000" charset="-122"/>
              <a:ea typeface="方正粗黑宋简体" panose="02000000000000000000" charset="-122"/>
            </a:endParaRPr>
          </a:p>
        </p:txBody>
      </p:sp>
      <p:pic>
        <p:nvPicPr>
          <p:cNvPr id="9" name="表格1"/>
          <p:cNvPicPr>
            <a:picLocks noChangeAspect="1"/>
          </p:cNvPicPr>
          <p:nvPr/>
        </p:nvPicPr>
        <p:blipFill>
          <a:blip r:embed="rId3"/>
          <a:stretch>
            <a:fillRect/>
          </a:stretch>
        </p:blipFill>
        <p:spPr>
          <a:xfrm>
            <a:off x="606876" y="2331320"/>
            <a:ext cx="10991850" cy="3554849"/>
          </a:xfrm>
          <a:prstGeom prst="rect">
            <a:avLst/>
          </a:prstGeom>
        </p:spPr>
      </p:pic>
      <p:sp>
        <p:nvSpPr>
          <p:cNvPr id="10" name="文本2"/>
          <p:cNvSpPr txBox="1"/>
          <p:nvPr/>
        </p:nvSpPr>
        <p:spPr>
          <a:xfrm>
            <a:off x="606790" y="3195740"/>
            <a:ext cx="2105025" cy="2302542"/>
          </a:xfrm>
          <a:prstGeom prst="rect">
            <a:avLst/>
          </a:prstGeom>
          <a:noFill/>
        </p:spPr>
        <p:txBody>
          <a:bodyPr wrap="square" rtlCol="0" anchor="t"/>
          <a:lstStyle/>
          <a:p>
            <a:pPr marL="0" algn="l"/>
            <a:r>
              <a:rPr lang="zh-CN" altLang="en-US" sz="1800" b="0" i="0" dirty="0">
                <a:solidFill>
                  <a:srgbClr val="000000"/>
                </a:solidFill>
                <a:latin typeface="微软雅黑" panose="020B0503020204020204" charset="-122"/>
                <a:ea typeface="微软雅黑" panose="020B0503020204020204" charset="-122"/>
              </a:rPr>
              <a:t>①中学生奥林匹克竞赛国家队集训成员</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②部分外国语中学推荐优秀学生</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③公安英烈子女</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④优秀运动员</a:t>
            </a:r>
            <a:endParaRPr lang="zh-CN" altLang="en-US" sz="1800" b="0" i="0" dirty="0">
              <a:solidFill>
                <a:srgbClr val="000000"/>
              </a:solidFill>
              <a:latin typeface="微软雅黑" panose="020B0503020204020204" charset="-122"/>
              <a:ea typeface="微软雅黑" panose="020B0503020204020204" charset="-122"/>
            </a:endParaRPr>
          </a:p>
        </p:txBody>
      </p:sp>
      <p:sp>
        <p:nvSpPr>
          <p:cNvPr id="11" name="文本3"/>
          <p:cNvSpPr txBox="1"/>
          <p:nvPr/>
        </p:nvSpPr>
        <p:spPr>
          <a:xfrm>
            <a:off x="2634072" y="3458775"/>
            <a:ext cx="2080622" cy="1759435"/>
          </a:xfrm>
          <a:prstGeom prst="rect">
            <a:avLst/>
          </a:prstGeom>
          <a:noFill/>
        </p:spPr>
        <p:txBody>
          <a:bodyPr wrap="square" rtlCol="0" anchor="t"/>
          <a:lstStyle/>
          <a:p>
            <a:pPr marL="0" algn="l"/>
            <a:r>
              <a:rPr lang="zh-CN" altLang="en-US" sz="1800" b="0" i="0" dirty="0">
                <a:solidFill>
                  <a:srgbClr val="000000"/>
                </a:solidFill>
                <a:latin typeface="微软雅黑" panose="020B0503020204020204" charset="-122"/>
                <a:ea typeface="微软雅黑" panose="020B0503020204020204" charset="-122"/>
              </a:rPr>
              <a:t>①考生提报送申请</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②审核考核</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③高校公示</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④办理录取手续</a:t>
            </a:r>
            <a:endParaRPr lang="zh-CN" altLang="en-US" sz="1800" b="0" i="0" dirty="0">
              <a:solidFill>
                <a:srgbClr val="000000"/>
              </a:solidFill>
              <a:latin typeface="微软雅黑" panose="020B0503020204020204" charset="-122"/>
              <a:ea typeface="微软雅黑" panose="020B0503020204020204" charset="-122"/>
            </a:endParaRPr>
          </a:p>
        </p:txBody>
      </p:sp>
      <p:sp>
        <p:nvSpPr>
          <p:cNvPr id="12" name="文本4"/>
          <p:cNvSpPr txBox="1"/>
          <p:nvPr/>
        </p:nvSpPr>
        <p:spPr>
          <a:xfrm>
            <a:off x="4598918" y="2954484"/>
            <a:ext cx="2287397" cy="2543903"/>
          </a:xfrm>
          <a:prstGeom prst="rect">
            <a:avLst/>
          </a:prstGeom>
          <a:noFill/>
        </p:spPr>
        <p:txBody>
          <a:bodyPr wrap="square" rtlCol="0" anchor="t"/>
          <a:lstStyle/>
          <a:p>
            <a:pPr marL="0" algn="l"/>
          </a:p>
          <a:p>
            <a:pPr marL="0" algn="l"/>
            <a:r>
              <a:rPr lang="zh-CN" altLang="en-US" sz="1800" b="0" i="0" dirty="0">
                <a:solidFill>
                  <a:srgbClr val="000000"/>
                </a:solidFill>
                <a:latin typeface="微软雅黑" panose="020B0503020204020204" charset="-122"/>
                <a:ea typeface="微软雅黑" panose="020B0503020204020204" charset="-122"/>
              </a:rPr>
              <a:t>16所外国语学校推荐</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5大学科竞赛</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优秀运动员</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公安英烈子女</a:t>
            </a:r>
            <a:endParaRPr lang="zh-CN" altLang="en-US" sz="1800" b="0" i="0" dirty="0">
              <a:solidFill>
                <a:srgbClr val="000000"/>
              </a:solidFill>
              <a:latin typeface="微软雅黑" panose="020B0503020204020204" charset="-122"/>
              <a:ea typeface="微软雅黑" panose="020B0503020204020204" charset="-122"/>
            </a:endParaRPr>
          </a:p>
          <a:p>
            <a:pPr marL="0" algn="l"/>
          </a:p>
        </p:txBody>
      </p:sp>
      <p:pic>
        <p:nvPicPr>
          <p:cNvPr id="13" name="图片3"/>
          <p:cNvPicPr>
            <a:picLocks noChangeAspect="1"/>
          </p:cNvPicPr>
          <p:nvPr/>
        </p:nvPicPr>
        <p:blipFill>
          <a:blip r:embed="rId4"/>
          <a:stretch>
            <a:fillRect/>
          </a:stretch>
        </p:blipFill>
        <p:spPr>
          <a:xfrm>
            <a:off x="6185973" y="-562"/>
            <a:ext cx="5929332" cy="6857695"/>
          </a:xfrm>
          <a:prstGeom prst="rect">
            <a:avLst/>
          </a:prstGeom>
        </p:spPr>
      </p:pic>
      <p:pic>
        <p:nvPicPr>
          <p:cNvPr id="14" name="图片4"/>
          <p:cNvPicPr>
            <a:picLocks noChangeAspect="1"/>
          </p:cNvPicPr>
          <p:nvPr/>
        </p:nvPicPr>
        <p:blipFill>
          <a:blip r:embed="rId5"/>
          <a:stretch>
            <a:fillRect/>
          </a:stretch>
        </p:blipFill>
        <p:spPr>
          <a:xfrm>
            <a:off x="4662488" y="2408606"/>
            <a:ext cx="7516416" cy="3632092"/>
          </a:xfrm>
          <a:prstGeom prst="rect">
            <a:avLst/>
          </a:prstGeom>
          <a:ln w="28575">
            <a:solidFill>
              <a:srgbClr val="000000"/>
            </a:solidFill>
            <a:prstDash val="solid"/>
          </a:ln>
        </p:spPr>
      </p:pic>
      <p:pic>
        <p:nvPicPr>
          <p:cNvPr id="15" name="图片5"/>
          <p:cNvPicPr>
            <a:picLocks noChangeAspect="1"/>
          </p:cNvPicPr>
          <p:nvPr/>
        </p:nvPicPr>
        <p:blipFill>
          <a:blip r:embed="rId6"/>
          <a:stretch>
            <a:fillRect/>
          </a:stretch>
        </p:blipFill>
        <p:spPr>
          <a:xfrm>
            <a:off x="4627445" y="2406644"/>
            <a:ext cx="7586358" cy="3635369"/>
          </a:xfrm>
          <a:prstGeom prst="rect">
            <a:avLst/>
          </a:prstGeom>
          <a:ln w="28575">
            <a:solidFill>
              <a:srgbClr val="000000"/>
            </a:solidFill>
            <a:prstDash val="solid"/>
          </a:ln>
        </p:spPr>
      </p:pic>
      <p:pic>
        <p:nvPicPr>
          <p:cNvPr id="17" name="图片 16"/>
          <p:cNvPicPr/>
          <p:nvPr/>
        </p:nvPicPr>
        <p:blipFill>
          <a:blip r:embed="rId7"/>
          <a:stretch>
            <a:fillRect/>
          </a:stretch>
        </p:blipFill>
        <p:spPr>
          <a:xfrm>
            <a:off x="4596765" y="1510030"/>
            <a:ext cx="7518400" cy="45307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3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3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set>
                                      <p:cBhvr>
                                        <p:cTn id="26" dur="1" fill="hold">
                                          <p:stCondLst>
                                            <p:cond delay="300"/>
                                          </p:stCondLst>
                                        </p:cTn>
                                        <p:tgtEl>
                                          <p:spTgt spid="13"/>
                                        </p:tgtEl>
                                        <p:attrNameLst>
                                          <p:attrName>style.visibility</p:attrName>
                                        </p:attrNameLst>
                                      </p:cBhvr>
                                      <p:to>
                                        <p:strVal val="hidden"/>
                                      </p:to>
                                    </p:set>
                                    <p:animEffect transition="out" filter="fade">
                                      <p:cBhvr>
                                        <p:cTn id="27" dur="3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set>
                                      <p:cBhvr>
                                        <p:cTn id="36" dur="1" fill="hold">
                                          <p:stCondLst>
                                            <p:cond delay="300"/>
                                          </p:stCondLst>
                                        </p:cTn>
                                        <p:tgtEl>
                                          <p:spTgt spid="14"/>
                                        </p:tgtEl>
                                        <p:attrNameLst>
                                          <p:attrName>style.visibility</p:attrName>
                                        </p:attrNameLst>
                                      </p:cBhvr>
                                      <p:to>
                                        <p:strVal val="hidden"/>
                                      </p:to>
                                    </p:set>
                                    <p:animEffect transition="out" filter="fade">
                                      <p:cBhvr>
                                        <p:cTn id="37" dur="3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3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set>
                                      <p:cBhvr>
                                        <p:cTn id="46" dur="1" fill="hold">
                                          <p:stCondLst>
                                            <p:cond delay="300"/>
                                          </p:stCondLst>
                                        </p:cTn>
                                        <p:tgtEl>
                                          <p:spTgt spid="15"/>
                                        </p:tgtEl>
                                        <p:attrNameLst>
                                          <p:attrName>style.visibility</p:attrName>
                                        </p:attrNameLst>
                                      </p:cBhvr>
                                      <p:to>
                                        <p:strVal val="hidden"/>
                                      </p:to>
                                    </p:set>
                                    <p:animEffect transition="out" filter="fade">
                                      <p:cBhvr>
                                        <p:cTn id="47" dur="3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3" grpId="1" animBg="1"/>
      <p:bldP spid="14" grpId="0" animBg="1"/>
      <p:bldP spid="14" grpId="1" animBg="1"/>
      <p:bldP spid="15" grpId="0" animBg="1"/>
      <p:bldP spid="15"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sp>
        <p:nvSpPr>
          <p:cNvPr id="4" name="形状2"/>
          <p:cNvSpPr txBox="1"/>
          <p:nvPr/>
        </p:nvSpPr>
        <p:spPr>
          <a:xfrm>
            <a:off x="224819" y="2297278"/>
            <a:ext cx="5231498" cy="19050"/>
          </a:xfrm>
          <a:prstGeom prst="line">
            <a:avLst/>
          </a:prstGeom>
          <a:solidFill>
            <a:srgbClr val="5C81CC"/>
          </a:solidFill>
          <a:ln w="57150">
            <a:solidFill>
              <a:srgbClr val="FFD1D1"/>
            </a:solidFill>
            <a:prstDash val="solid"/>
          </a:ln>
        </p:spPr>
        <p:txBody>
          <a:bodyPr wrap="square" rtlCol="0" anchor="ctr"/>
          <a:lstStyle/>
          <a:p>
            <a:pPr marL="0" algn="ctr"/>
          </a:p>
        </p:txBody>
      </p:sp>
      <p:pic>
        <p:nvPicPr>
          <p:cNvPr id="5" name="图片2"/>
          <p:cNvPicPr>
            <a:picLocks noChangeAspect="1"/>
          </p:cNvPicPr>
          <p:nvPr/>
        </p:nvPicPr>
        <p:blipFill>
          <a:blip r:embed="rId2"/>
          <a:srcRect r="2795"/>
          <a:stretch>
            <a:fillRect/>
          </a:stretch>
        </p:blipFill>
        <p:spPr>
          <a:xfrm>
            <a:off x="5387092" y="381"/>
            <a:ext cx="6805203" cy="6857438"/>
          </a:xfrm>
          <a:prstGeom prst="rect">
            <a:avLst/>
          </a:prstGeom>
        </p:spPr>
      </p:pic>
      <p:sp>
        <p:nvSpPr>
          <p:cNvPr id="6" name="文本1"/>
          <p:cNvSpPr txBox="1"/>
          <p:nvPr/>
        </p:nvSpPr>
        <p:spPr>
          <a:xfrm>
            <a:off x="224685" y="2737040"/>
            <a:ext cx="4800600" cy="1879321"/>
          </a:xfrm>
          <a:prstGeom prst="rect">
            <a:avLst/>
          </a:prstGeom>
          <a:noFill/>
        </p:spPr>
        <p:txBody>
          <a:bodyPr wrap="square" rtlCol="0" anchor="t"/>
          <a:lstStyle/>
          <a:p>
            <a:pPr marL="0" algn="l">
              <a:lnSpc>
                <a:spcPct val="150000"/>
              </a:lnSpc>
            </a:pPr>
            <a:r>
              <a:rPr lang="zh-CN" altLang="en-US" sz="1800" b="0" i="0" dirty="0">
                <a:solidFill>
                  <a:srgbClr val="000000"/>
                </a:solidFill>
                <a:latin typeface="微软雅黑" panose="020B0503020204020204" charset="-122"/>
                <a:ea typeface="微软雅黑" panose="020B0503020204020204" charset="-122"/>
                <a:cs typeface="微软雅黑" panose="020B0503020204020204" charset="-122"/>
              </a:rPr>
              <a:t>重点高校招收</a:t>
            </a:r>
            <a:r>
              <a:rPr lang="zh-CN" altLang="en-US" sz="1800" b="1" i="0" dirty="0">
                <a:solidFill>
                  <a:srgbClr val="FF0000"/>
                </a:solidFill>
                <a:latin typeface="微软雅黑" panose="020B0503020204020204" charset="-122"/>
                <a:ea typeface="微软雅黑" panose="020B0503020204020204" charset="-122"/>
                <a:cs typeface="微软雅黑" panose="020B0503020204020204" charset="-122"/>
              </a:rPr>
              <a:t>农村和贫困地区</a:t>
            </a:r>
            <a:r>
              <a:rPr lang="zh-CN" altLang="en-US" sz="1800" b="0" i="0" dirty="0">
                <a:solidFill>
                  <a:srgbClr val="000000"/>
                </a:solidFill>
                <a:latin typeface="微软雅黑" panose="020B0503020204020204" charset="-122"/>
                <a:ea typeface="微软雅黑" panose="020B0503020204020204" charset="-122"/>
                <a:cs typeface="微软雅黑" panose="020B0503020204020204" charset="-122"/>
              </a:rPr>
              <a:t>学生计划统称为“专项计划”，具体包括国家专项计划、地方专项计划、高校专项计划</a:t>
            </a:r>
            <a:r>
              <a:rPr lang="zh-CN" altLang="en-US" sz="1800" b="0" i="0" dirty="0">
                <a:solidFill>
                  <a:srgbClr val="000000"/>
                </a:solidFill>
                <a:latin typeface="微软雅黑" panose="020B0503020204020204" charset="-122"/>
                <a:ea typeface="微软雅黑" panose="020B0503020204020204" charset="-122"/>
              </a:rPr>
              <a:t>。</a:t>
            </a:r>
            <a:endParaRPr lang="zh-CN" altLang="en-US" sz="1800" b="0" i="0" dirty="0">
              <a:solidFill>
                <a:srgbClr val="000000"/>
              </a:solidFill>
              <a:latin typeface="&amp;quot"/>
              <a:ea typeface="&amp;quot"/>
            </a:endParaRPr>
          </a:p>
        </p:txBody>
      </p:sp>
      <p:sp>
        <p:nvSpPr>
          <p:cNvPr id="7" name="文本2"/>
          <p:cNvSpPr txBox="1"/>
          <p:nvPr/>
        </p:nvSpPr>
        <p:spPr>
          <a:xfrm>
            <a:off x="224542" y="1390240"/>
            <a:ext cx="3429000" cy="1059435"/>
          </a:xfrm>
          <a:prstGeom prst="rect">
            <a:avLst/>
          </a:prstGeom>
          <a:noFill/>
        </p:spPr>
        <p:txBody>
          <a:bodyPr wrap="square" rtlCol="0" anchor="t"/>
          <a:lstStyle/>
          <a:p>
            <a:pPr marL="0" algn="l"/>
            <a:r>
              <a:rPr lang="zh-CN" altLang="en-US" sz="3500" b="1" i="0" dirty="0">
                <a:solidFill>
                  <a:srgbClr val="0052FF"/>
                </a:solidFill>
                <a:latin typeface="微软雅黑" panose="020B0503020204020204" charset="-122"/>
                <a:ea typeface="微软雅黑" panose="020B0503020204020204" charset="-122"/>
              </a:rPr>
              <a:t>三大专项计</a:t>
            </a:r>
            <a:r>
              <a:rPr lang="zh-CN" altLang="en-US" sz="3500" b="1" i="0" dirty="0">
                <a:solidFill>
                  <a:srgbClr val="0052FF"/>
                </a:solidFill>
                <a:latin typeface="微软雅黑" panose="020B0503020204020204" charset="-122"/>
                <a:ea typeface="微软雅黑" panose="020B0503020204020204" charset="-122"/>
              </a:rPr>
              <a:t>划</a:t>
            </a:r>
            <a:endParaRPr lang="zh-CN" altLang="en-US" sz="3500" b="1" i="0" dirty="0">
              <a:solidFill>
                <a:srgbClr val="0052FF"/>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5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9554" y="48"/>
            <a:ext cx="12201554" cy="685805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sp>
        <p:nvSpPr>
          <p:cNvPr id="5" name="文本1"/>
          <p:cNvSpPr txBox="1"/>
          <p:nvPr/>
        </p:nvSpPr>
        <p:spPr>
          <a:xfrm>
            <a:off x="1893951" y="422399"/>
            <a:ext cx="9321184" cy="546481"/>
          </a:xfrm>
          <a:prstGeom prst="rect">
            <a:avLst/>
          </a:prstGeom>
          <a:noFill/>
        </p:spPr>
        <p:txBody>
          <a:bodyPr wrap="square" rtlCol="0" anchor="t"/>
          <a:lstStyle/>
          <a:p>
            <a:pPr marL="0" algn="l"/>
            <a:r>
              <a:rPr lang="zh-CN" altLang="en-US" sz="2000" b="0" i="0" dirty="0">
                <a:solidFill>
                  <a:srgbClr val="222222"/>
                </a:solidFill>
                <a:latin typeface="方正粗黑宋简体" panose="02000000000000000000" charset="-122"/>
                <a:ea typeface="方正粗黑宋简体" panose="02000000000000000000" charset="-122"/>
              </a:rPr>
              <a:t>福建省202</a:t>
            </a:r>
            <a:r>
              <a:rPr lang="en-US" altLang="zh-CN" sz="2000" b="0" i="0" dirty="0">
                <a:solidFill>
                  <a:srgbClr val="222222"/>
                </a:solidFill>
                <a:latin typeface="方正粗黑宋简体" panose="02000000000000000000" charset="-122"/>
                <a:ea typeface="方正粗黑宋简体" panose="02000000000000000000" charset="-122"/>
              </a:rPr>
              <a:t>4</a:t>
            </a:r>
            <a:r>
              <a:rPr lang="zh-CN" altLang="en-US" sz="2000" b="0" i="0" dirty="0">
                <a:solidFill>
                  <a:srgbClr val="222222"/>
                </a:solidFill>
                <a:latin typeface="方正粗黑宋简体" panose="02000000000000000000" charset="-122"/>
                <a:ea typeface="方正粗黑宋简体" panose="02000000000000000000" charset="-122"/>
              </a:rPr>
              <a:t>年、</a:t>
            </a:r>
            <a:r>
              <a:rPr lang="en-US" altLang="zh-CN" sz="2000" b="0" i="0" dirty="0">
                <a:solidFill>
                  <a:srgbClr val="222222"/>
                </a:solidFill>
                <a:latin typeface="方正粗黑宋简体" panose="02000000000000000000" charset="-122"/>
                <a:ea typeface="方正粗黑宋简体" panose="02000000000000000000" charset="-122"/>
              </a:rPr>
              <a:t>2023</a:t>
            </a:r>
            <a:r>
              <a:rPr lang="zh-CN" altLang="en-US" sz="2000" b="0" i="0" dirty="0">
                <a:solidFill>
                  <a:srgbClr val="222222"/>
                </a:solidFill>
                <a:latin typeface="方正粗黑宋简体" panose="02000000000000000000" charset="-122"/>
                <a:ea typeface="方正粗黑宋简体" panose="02000000000000000000" charset="-122"/>
              </a:rPr>
              <a:t>年普通高校招生录取</a:t>
            </a:r>
            <a:r>
              <a:rPr lang="zh-CN" altLang="en-US" sz="2000" b="1" i="0" dirty="0">
                <a:solidFill>
                  <a:srgbClr val="FF0000"/>
                </a:solidFill>
                <a:latin typeface="方正粗黑宋简体" panose="02000000000000000000" charset="-122"/>
                <a:ea typeface="方正粗黑宋简体" panose="02000000000000000000" charset="-122"/>
              </a:rPr>
              <a:t>体育类、艺术类</a:t>
            </a:r>
            <a:r>
              <a:rPr lang="zh-CN" altLang="en-US" sz="2000" b="0" i="0" dirty="0">
                <a:solidFill>
                  <a:srgbClr val="222222"/>
                </a:solidFill>
                <a:latin typeface="方正粗黑宋简体" panose="02000000000000000000" charset="-122"/>
                <a:ea typeface="方正粗黑宋简体" panose="02000000000000000000" charset="-122"/>
              </a:rPr>
              <a:t>最低投档控制分数线</a:t>
            </a:r>
            <a:endParaRPr lang="zh-CN" altLang="en-US" sz="2000" b="0" i="0" dirty="0">
              <a:solidFill>
                <a:srgbClr val="222222"/>
              </a:solidFill>
              <a:latin typeface="方正粗黑宋简体" panose="02000000000000000000" charset="-122"/>
              <a:ea typeface="方正粗黑宋简体" panose="02000000000000000000" charset="-122"/>
            </a:endParaRPr>
          </a:p>
        </p:txBody>
      </p:sp>
      <p:pic>
        <p:nvPicPr>
          <p:cNvPr id="11" name="图片 10"/>
          <p:cNvPicPr>
            <a:picLocks noChangeAspect="1"/>
          </p:cNvPicPr>
          <p:nvPr/>
        </p:nvPicPr>
        <p:blipFill>
          <a:blip r:embed="rId3"/>
          <a:srcRect t="4921" b="4090"/>
          <a:stretch>
            <a:fillRect/>
          </a:stretch>
        </p:blipFill>
        <p:spPr>
          <a:xfrm>
            <a:off x="6394450" y="925195"/>
            <a:ext cx="4924425" cy="5494655"/>
          </a:xfrm>
          <a:prstGeom prst="rect">
            <a:avLst/>
          </a:prstGeom>
        </p:spPr>
      </p:pic>
      <p:pic>
        <p:nvPicPr>
          <p:cNvPr id="6" name="图片 5"/>
          <p:cNvPicPr/>
          <p:nvPr/>
        </p:nvPicPr>
        <p:blipFill>
          <a:blip r:embed="rId4"/>
          <a:stretch>
            <a:fillRect/>
          </a:stretch>
        </p:blipFill>
        <p:spPr>
          <a:xfrm>
            <a:off x="1574165" y="929005"/>
            <a:ext cx="4074160" cy="549084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4462301" y="537153"/>
            <a:ext cx="3855082" cy="579839"/>
            <a:chOff x="0" y="0"/>
            <a:chExt cx="3855082" cy="579839"/>
          </a:xfrm>
        </p:grpSpPr>
        <p:sp>
          <p:nvSpPr>
            <p:cNvPr id="6" name="形状2"/>
            <p:cNvSpPr txBox="1"/>
            <p:nvPr/>
          </p:nvSpPr>
          <p:spPr>
            <a:xfrm>
              <a:off x="1977" y="37208"/>
              <a:ext cx="3756200" cy="345840"/>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3"/>
            <p:cNvSpPr txBox="1"/>
            <p:nvPr/>
          </p:nvSpPr>
          <p:spPr>
            <a:xfrm>
              <a:off x="0" y="0"/>
              <a:ext cx="3855082"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途径一：艺术类</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8" name="文本1"/>
          <p:cNvSpPr txBox="1"/>
          <p:nvPr/>
        </p:nvSpPr>
        <p:spPr>
          <a:xfrm>
            <a:off x="755126" y="1390825"/>
            <a:ext cx="4962525" cy="2544083"/>
          </a:xfrm>
          <a:prstGeom prst="rect">
            <a:avLst/>
          </a:prstGeom>
          <a:noFill/>
        </p:spPr>
        <p:txBody>
          <a:bodyPr wrap="square" rtlCol="0" anchor="t"/>
          <a:lstStyle/>
          <a:p>
            <a:pPr marL="0" algn="l">
              <a:lnSpc>
                <a:spcPct val="140000"/>
              </a:lnSpc>
            </a:pPr>
            <a:r>
              <a:rPr lang="zh-CN" altLang="en-US" sz="1800" b="1" i="0" dirty="0">
                <a:solidFill>
                  <a:srgbClr val="1A5CB3"/>
                </a:solidFill>
                <a:latin typeface="方正粗黑宋简体" panose="02000000000000000000" charset="-122"/>
                <a:ea typeface="方正粗黑宋简体" panose="02000000000000000000" charset="-122"/>
              </a:rPr>
              <a:t>艺术类专业招生</a:t>
            </a:r>
            <a:r>
              <a:rPr lang="zh-CN" altLang="en-US" sz="1800" b="0" i="0" dirty="0">
                <a:solidFill>
                  <a:srgbClr val="292929"/>
                </a:solidFill>
                <a:latin typeface="微软雅黑 Light" panose="020B0502040204020203" charset="-122"/>
                <a:ea typeface="微软雅黑 Light" panose="020B0502040204020203" charset="-122"/>
              </a:rPr>
              <a:t>（艺考统招）主要指高校艺术类专业经过省级招生机构组织的专业测试和(或)学校的专业测试，</a:t>
            </a:r>
            <a:r>
              <a:rPr lang="zh-CN" altLang="en-US" sz="1800" b="1" i="0" dirty="0">
                <a:solidFill>
                  <a:srgbClr val="292929"/>
                </a:solidFill>
                <a:latin typeface="微软雅黑 Light" panose="020B0502040204020203" charset="-122"/>
                <a:ea typeface="微软雅黑 Light" panose="020B0502040204020203" charset="-122"/>
              </a:rPr>
              <a:t>结合高考成绩</a:t>
            </a:r>
            <a:r>
              <a:rPr lang="zh-CN" altLang="en-US" sz="1800" b="0" i="0" dirty="0">
                <a:solidFill>
                  <a:srgbClr val="292929"/>
                </a:solidFill>
                <a:latin typeface="微软雅黑 Light" panose="020B0502040204020203" charset="-122"/>
                <a:ea typeface="微软雅黑 Light" panose="020B0502040204020203" charset="-122"/>
              </a:rPr>
              <a:t>择优为艺术类专业选拔人才的一种招生方式。也分为提前批、本科批、专科批。</a:t>
            </a:r>
            <a:endParaRPr lang="zh-CN" altLang="en-US" sz="1800" b="0" i="0" dirty="0">
              <a:solidFill>
                <a:srgbClr val="292929"/>
              </a:solidFill>
              <a:latin typeface="微软雅黑 Light" panose="020B0502040204020203" charset="-122"/>
              <a:ea typeface="微软雅黑 Light" panose="020B0502040204020203" charset="-122"/>
            </a:endParaRPr>
          </a:p>
          <a:p>
            <a:pPr marL="0" algn="l">
              <a:lnSpc>
                <a:spcPct val="140000"/>
              </a:lnSpc>
            </a:pPr>
          </a:p>
        </p:txBody>
      </p:sp>
      <p:sp>
        <p:nvSpPr>
          <p:cNvPr id="9" name="文本2"/>
          <p:cNvSpPr txBox="1"/>
          <p:nvPr/>
        </p:nvSpPr>
        <p:spPr>
          <a:xfrm>
            <a:off x="6364176" y="1416539"/>
            <a:ext cx="4981575" cy="2151849"/>
          </a:xfrm>
          <a:prstGeom prst="rect">
            <a:avLst/>
          </a:prstGeom>
          <a:noFill/>
        </p:spPr>
        <p:txBody>
          <a:bodyPr wrap="square" rtlCol="0" anchor="t"/>
          <a:lstStyle/>
          <a:p>
            <a:pPr marL="0" algn="l">
              <a:lnSpc>
                <a:spcPct val="160000"/>
              </a:lnSpc>
            </a:pPr>
            <a:r>
              <a:rPr lang="zh-CN" altLang="en-US" sz="1800" b="1" i="0" dirty="0">
                <a:solidFill>
                  <a:srgbClr val="1A5CB3"/>
                </a:solidFill>
                <a:latin typeface="方正粗黑宋简体" panose="02000000000000000000" charset="-122"/>
                <a:ea typeface="方正粗黑宋简体" panose="02000000000000000000" charset="-122"/>
              </a:rPr>
              <a:t>高水平艺术团招生</a:t>
            </a:r>
            <a:r>
              <a:rPr lang="zh-CN" altLang="en-US" sz="1800" b="0" i="0" dirty="0">
                <a:solidFill>
                  <a:srgbClr val="222222"/>
                </a:solidFill>
                <a:latin typeface="微软雅黑 Light" panose="020B0502040204020203" charset="-122"/>
                <a:ea typeface="微软雅黑 Light" panose="020B0502040204020203" charset="-122"/>
              </a:rPr>
              <a:t>是指部分高校为活跃校园文化、丰富校园生活而招收具有艺术特长的考生。</a:t>
            </a:r>
            <a:r>
              <a:rPr lang="zh-CN" altLang="en-US" sz="1800" b="0" i="0" dirty="0">
                <a:solidFill>
                  <a:srgbClr val="FF0000"/>
                </a:solidFill>
                <a:latin typeface="微软雅黑 Light" panose="020B0502040204020203" charset="-122"/>
                <a:ea typeface="微软雅黑 Light" panose="020B0502040204020203" charset="-122"/>
              </a:rPr>
              <a:t>2</a:t>
            </a:r>
            <a:r>
              <a:rPr lang="zh-CN" altLang="en-US" sz="1800" b="1" i="0" dirty="0">
                <a:solidFill>
                  <a:srgbClr val="FF0000"/>
                </a:solidFill>
                <a:latin typeface="微软雅黑 Light" panose="020B0502040204020203" charset="-122"/>
                <a:ea typeface="微软雅黑 Light" panose="020B0502040204020203" charset="-122"/>
              </a:rPr>
              <a:t>024年起，高校高水平艺术团不再从高校招生环节选拔，由相关高校从在校生中遴选培养。</a:t>
            </a:r>
            <a:endParaRPr lang="zh-CN" altLang="en-US" sz="1800" b="1" i="0" dirty="0">
              <a:solidFill>
                <a:srgbClr val="FF0000"/>
              </a:solidFill>
              <a:latin typeface="微软雅黑 Light" panose="020B0502040204020203" charset="-122"/>
              <a:ea typeface="微软雅黑 Light" panose="020B0502040204020203" charset="-122"/>
            </a:endParaRPr>
          </a:p>
        </p:txBody>
      </p:sp>
      <p:pic>
        <p:nvPicPr>
          <p:cNvPr id="10" name="图片3"/>
          <p:cNvPicPr>
            <a:picLocks noChangeAspect="1"/>
          </p:cNvPicPr>
          <p:nvPr/>
        </p:nvPicPr>
        <p:blipFill>
          <a:blip r:embed="rId3"/>
          <a:stretch>
            <a:fillRect/>
          </a:stretch>
        </p:blipFill>
        <p:spPr>
          <a:xfrm>
            <a:off x="919731" y="3428829"/>
            <a:ext cx="4248150" cy="2323509"/>
          </a:xfrm>
          <a:prstGeom prst="rect">
            <a:avLst/>
          </a:prstGeom>
        </p:spPr>
      </p:pic>
      <p:pic>
        <p:nvPicPr>
          <p:cNvPr id="11" name="图片4"/>
          <p:cNvPicPr>
            <a:picLocks noChangeAspect="1"/>
          </p:cNvPicPr>
          <p:nvPr/>
        </p:nvPicPr>
        <p:blipFill>
          <a:blip r:embed="rId4"/>
          <a:stretch>
            <a:fillRect/>
          </a:stretch>
        </p:blipFill>
        <p:spPr>
          <a:xfrm>
            <a:off x="6439186" y="3428838"/>
            <a:ext cx="4533900" cy="23237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bldLvl="0" animBg="1"/>
      <p:bldP spid="9" grpId="0" animBg="1"/>
      <p:bldP spid="11"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5098447" y="173069"/>
            <a:ext cx="3449650" cy="735318"/>
            <a:chOff x="0" y="0"/>
            <a:chExt cx="3449650" cy="735318"/>
          </a:xfrm>
        </p:grpSpPr>
        <p:sp>
          <p:nvSpPr>
            <p:cNvPr id="6" name="形状2"/>
            <p:cNvSpPr txBox="1"/>
            <p:nvPr/>
          </p:nvSpPr>
          <p:spPr>
            <a:xfrm>
              <a:off x="3810" y="49530"/>
              <a:ext cx="2268550" cy="609398"/>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7"/>
            <p:cNvSpPr txBox="1"/>
            <p:nvPr/>
          </p:nvSpPr>
          <p:spPr>
            <a:xfrm>
              <a:off x="0" y="0"/>
              <a:ext cx="3449650" cy="735318"/>
            </a:xfrm>
            <a:prstGeom prst="rect">
              <a:avLst/>
            </a:prstGeom>
            <a:noFill/>
          </p:spPr>
          <p:txBody>
            <a:bodyPr wrap="square" rtlCol="0" anchor="ctr"/>
            <a:lstStyle/>
            <a:p>
              <a:pPr marL="0" algn="l"/>
              <a:r>
                <a:rPr lang="zh-CN" altLang="en-US" sz="2800" b="0" i="0" dirty="0">
                  <a:solidFill>
                    <a:srgbClr val="484B5C"/>
                  </a:solidFill>
                  <a:latin typeface="方正粗黑宋简体" panose="02000000000000000000" charset="-122"/>
                  <a:ea typeface="方正粗黑宋简体" panose="02000000000000000000" charset="-122"/>
                </a:rPr>
                <a:t>途径二：体育类</a:t>
              </a:r>
              <a:endParaRPr lang="zh-CN" altLang="en-US" sz="2800" b="0" i="0" dirty="0">
                <a:solidFill>
                  <a:srgbClr val="484B5C"/>
                </a:solidFill>
                <a:latin typeface="方正粗黑宋简体" panose="02000000000000000000" charset="-122"/>
                <a:ea typeface="方正粗黑宋简体" panose="02000000000000000000" charset="-122"/>
              </a:endParaRPr>
            </a:p>
          </p:txBody>
        </p:sp>
      </p:grpSp>
      <p:pic>
        <p:nvPicPr>
          <p:cNvPr id="8" name="图片3"/>
          <p:cNvPicPr>
            <a:picLocks noChangeAspect="1"/>
          </p:cNvPicPr>
          <p:nvPr/>
        </p:nvPicPr>
        <p:blipFill>
          <a:blip r:embed="rId3"/>
          <a:srcRect t="15084"/>
          <a:stretch>
            <a:fillRect/>
          </a:stretch>
        </p:blipFill>
        <p:spPr>
          <a:xfrm>
            <a:off x="-19" y="513321"/>
            <a:ext cx="11748821" cy="5830519"/>
          </a:xfrm>
          <a:prstGeom prst="rect">
            <a:avLst/>
          </a:prstGeom>
        </p:spPr>
      </p:pic>
      <p:sp>
        <p:nvSpPr>
          <p:cNvPr id="9" name="文本1"/>
          <p:cNvSpPr txBox="1"/>
          <p:nvPr/>
        </p:nvSpPr>
        <p:spPr>
          <a:xfrm>
            <a:off x="1236488" y="1242355"/>
            <a:ext cx="20193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体育专业招生</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0" name="文本2"/>
          <p:cNvSpPr txBox="1"/>
          <p:nvPr/>
        </p:nvSpPr>
        <p:spPr>
          <a:xfrm>
            <a:off x="5308759" y="1242203"/>
            <a:ext cx="14097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体育单招</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1" name="文本3"/>
          <p:cNvSpPr txBox="1"/>
          <p:nvPr/>
        </p:nvSpPr>
        <p:spPr>
          <a:xfrm>
            <a:off x="9099785" y="1242193"/>
            <a:ext cx="20193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高水平运动员</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2" name="文本4"/>
          <p:cNvSpPr txBox="1"/>
          <p:nvPr/>
        </p:nvSpPr>
        <p:spPr>
          <a:xfrm>
            <a:off x="4554712" y="4832013"/>
            <a:ext cx="3267075" cy="1304925"/>
          </a:xfrm>
          <a:prstGeom prst="rect">
            <a:avLst/>
          </a:prstGeom>
          <a:noFill/>
        </p:spPr>
        <p:txBody>
          <a:bodyPr wrap="square" rtlCol="0" anchor="t"/>
          <a:lstStyle/>
          <a:p>
            <a:pPr marL="0" algn="l"/>
            <a:r>
              <a:rPr lang="zh-CN" altLang="en-US" sz="1800" b="0" i="0" dirty="0">
                <a:solidFill>
                  <a:srgbClr val="292929"/>
                </a:solidFill>
                <a:latin typeface="方正粗黑宋简体" panose="02000000000000000000" charset="-122"/>
                <a:ea typeface="方正粗黑宋简体" panose="02000000000000000000" charset="-122"/>
              </a:rPr>
              <a:t>体育单招是指普通高等学校</a:t>
            </a:r>
            <a:r>
              <a:rPr lang="zh-CN" altLang="en-US" sz="1800" b="0" i="0" dirty="0">
                <a:solidFill>
                  <a:srgbClr val="C00000"/>
                </a:solidFill>
                <a:latin typeface="方正粗黑宋简体" panose="02000000000000000000" charset="-122"/>
                <a:ea typeface="方正粗黑宋简体" panose="02000000000000000000" charset="-122"/>
              </a:rPr>
              <a:t>运动训练、武术与民族传统体育</a:t>
            </a:r>
            <a:r>
              <a:rPr lang="zh-CN" altLang="en-US" sz="1800" b="0" i="0" dirty="0">
                <a:solidFill>
                  <a:srgbClr val="292929"/>
                </a:solidFill>
                <a:latin typeface="方正粗黑宋简体" panose="02000000000000000000" charset="-122"/>
                <a:ea typeface="方正粗黑宋简体" panose="02000000000000000000" charset="-122"/>
              </a:rPr>
              <a:t>专业招生考试。单招考试学生必须是国家二级以上运动员。</a:t>
            </a:r>
            <a:endParaRPr lang="zh-CN" altLang="en-US" sz="1800" b="0" i="0" dirty="0">
              <a:solidFill>
                <a:srgbClr val="292929"/>
              </a:solidFill>
              <a:latin typeface="方正粗黑宋简体" panose="02000000000000000000" charset="-122"/>
              <a:ea typeface="方正粗黑宋简体" panose="02000000000000000000" charset="-122"/>
            </a:endParaRPr>
          </a:p>
        </p:txBody>
      </p:sp>
      <p:sp>
        <p:nvSpPr>
          <p:cNvPr id="13" name="文本5"/>
          <p:cNvSpPr txBox="1"/>
          <p:nvPr/>
        </p:nvSpPr>
        <p:spPr>
          <a:xfrm>
            <a:off x="8494919" y="4893412"/>
            <a:ext cx="3433762" cy="1181100"/>
          </a:xfrm>
          <a:prstGeom prst="rect">
            <a:avLst/>
          </a:prstGeom>
          <a:noFill/>
        </p:spPr>
        <p:txBody>
          <a:bodyPr wrap="square" rtlCol="0" anchor="t"/>
          <a:lstStyle/>
          <a:p>
            <a:pPr marL="0" algn="l"/>
            <a:r>
              <a:rPr lang="zh-CN" altLang="en-US" sz="1600" b="0" i="0" dirty="0">
                <a:solidFill>
                  <a:srgbClr val="292929"/>
                </a:solidFill>
                <a:latin typeface="方正粗黑宋简体" panose="02000000000000000000" charset="-122"/>
                <a:ea typeface="方正粗黑宋简体" panose="02000000000000000000" charset="-122"/>
              </a:rPr>
              <a:t>2024年起，获得国家一级运动员可报考。</a:t>
            </a:r>
            <a:endParaRPr lang="zh-CN" altLang="en-US" sz="1600" b="0" i="0" dirty="0">
              <a:solidFill>
                <a:srgbClr val="292929"/>
              </a:solidFill>
              <a:latin typeface="方正粗黑宋简体" panose="02000000000000000000" charset="-122"/>
              <a:ea typeface="方正粗黑宋简体" panose="02000000000000000000" charset="-122"/>
            </a:endParaRPr>
          </a:p>
          <a:p>
            <a:pPr marL="0" algn="l"/>
            <a:r>
              <a:rPr lang="zh-CN" altLang="en-US" sz="1600" b="0" i="0" dirty="0">
                <a:solidFill>
                  <a:srgbClr val="292929"/>
                </a:solidFill>
                <a:latin typeface="方正粗黑宋简体" panose="02000000000000000000" charset="-122"/>
                <a:ea typeface="方正粗黑宋简体" panose="02000000000000000000" charset="-122"/>
              </a:rPr>
              <a:t>2027年起，国家一级运动员、近三年内全国体育比赛前八名者方可以报考。</a:t>
            </a:r>
            <a:endParaRPr lang="zh-CN" altLang="en-US" sz="1600" b="0" i="0" dirty="0">
              <a:solidFill>
                <a:srgbClr val="292929"/>
              </a:solidFill>
              <a:latin typeface="方正粗黑宋简体" panose="02000000000000000000" charset="-122"/>
              <a:ea typeface="方正粗黑宋简体" panose="02000000000000000000" charset="-122"/>
            </a:endParaRPr>
          </a:p>
        </p:txBody>
      </p:sp>
      <p:sp>
        <p:nvSpPr>
          <p:cNvPr id="14" name="文本6"/>
          <p:cNvSpPr txBox="1"/>
          <p:nvPr/>
        </p:nvSpPr>
        <p:spPr>
          <a:xfrm>
            <a:off x="1427216" y="5242522"/>
            <a:ext cx="1343025" cy="484568"/>
          </a:xfrm>
          <a:prstGeom prst="rect">
            <a:avLst/>
          </a:prstGeom>
          <a:noFill/>
        </p:spPr>
        <p:txBody>
          <a:bodyPr wrap="square" rtlCol="0" anchor="t"/>
          <a:lstStyle/>
          <a:p>
            <a:pPr marL="0" algn="l"/>
            <a:r>
              <a:rPr lang="zh-CN" altLang="en-US" sz="1900" b="1" i="0" dirty="0">
                <a:solidFill>
                  <a:srgbClr val="000000"/>
                </a:solidFill>
                <a:latin typeface="方正粗黑宋简体" panose="02000000000000000000" charset="-122"/>
                <a:ea typeface="方正粗黑宋简体" panose="02000000000000000000" charset="-122"/>
              </a:rPr>
              <a:t>统一招考</a:t>
            </a:r>
            <a:endParaRPr lang="zh-CN" altLang="en-US" sz="1900" b="1" i="0" dirty="0">
              <a:solidFill>
                <a:srgbClr val="000000"/>
              </a:solidFill>
              <a:latin typeface="方正粗黑宋简体" panose="02000000000000000000" charset="-122"/>
              <a:ea typeface="方正粗黑宋简体" panose="020000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r>
              <a:rPr lang="zh-CN" altLang="en-US" sz="2200" b="0" i="0" dirty="0">
                <a:solidFill>
                  <a:srgbClr val="FFFFFF"/>
                </a:solidFill>
                <a:latin typeface="微软雅黑" panose="020B0503020204020204" charset="-122"/>
                <a:ea typeface="微软雅黑" panose="020B0503020204020204" charset="-122"/>
              </a:rPr>
              <a:t>+</a:t>
            </a:r>
            <a:endParaRPr lang="zh-CN" altLang="en-US" sz="2200" b="0" i="0" dirty="0">
              <a:solidFill>
                <a:srgbClr val="FFFFFF"/>
              </a:solidFill>
              <a:latin typeface="微软雅黑" panose="020B0503020204020204" charset="-122"/>
              <a:ea typeface="微软雅黑" panose="020B0503020204020204" charset="-122"/>
            </a:endParaRP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5069148" y="317468"/>
            <a:ext cx="2597782" cy="579839"/>
            <a:chOff x="0" y="0"/>
            <a:chExt cx="2597782" cy="579839"/>
          </a:xfrm>
        </p:grpSpPr>
        <p:sp>
          <p:nvSpPr>
            <p:cNvPr id="6" name="形状2"/>
            <p:cNvSpPr txBox="1"/>
            <p:nvPr/>
          </p:nvSpPr>
          <p:spPr>
            <a:xfrm>
              <a:off x="1668" y="49529"/>
              <a:ext cx="2514350" cy="460368"/>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2"/>
            <p:cNvSpPr txBox="1"/>
            <p:nvPr/>
          </p:nvSpPr>
          <p:spPr>
            <a:xfrm>
              <a:off x="0" y="0"/>
              <a:ext cx="2597782"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路径三：艺</a:t>
              </a:r>
              <a:r>
                <a:rPr lang="zh-CN" altLang="en-US" sz="2400" dirty="0">
                  <a:solidFill>
                    <a:srgbClr val="000000"/>
                  </a:solidFill>
                  <a:latin typeface="方正粗黑宋简体" panose="02000000000000000000" charset="-122"/>
                  <a:ea typeface="方正粗黑宋简体" panose="02000000000000000000" charset="-122"/>
                  <a:sym typeface="+mn-ea"/>
                </a:rPr>
                <a:t>体</a:t>
              </a:r>
              <a:r>
                <a:rPr lang="zh-CN" altLang="en-US" sz="2400" b="0" i="0" dirty="0">
                  <a:solidFill>
                    <a:srgbClr val="000000"/>
                  </a:solidFill>
                  <a:latin typeface="方正粗黑宋简体" panose="02000000000000000000" charset="-122"/>
                  <a:ea typeface="方正粗黑宋简体" panose="02000000000000000000" charset="-122"/>
                </a:rPr>
                <a:t>生</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8" name="文本1"/>
          <p:cNvSpPr txBox="1"/>
          <p:nvPr/>
        </p:nvSpPr>
        <p:spPr>
          <a:xfrm>
            <a:off x="899274" y="1035539"/>
            <a:ext cx="4000500" cy="500062"/>
          </a:xfrm>
          <a:prstGeom prst="rect">
            <a:avLst/>
          </a:prstGeom>
          <a:noFill/>
        </p:spPr>
        <p:txBody>
          <a:bodyPr wrap="square" rtlCol="0" anchor="t"/>
          <a:lstStyle/>
          <a:p>
            <a:pPr marL="0" algn="l"/>
            <a:r>
              <a:rPr lang="zh-CN" altLang="en-US" sz="2000" b="0" i="0" dirty="0">
                <a:solidFill>
                  <a:srgbClr val="000000"/>
                </a:solidFill>
                <a:latin typeface="方正粗黑宋简体" panose="02000000000000000000" charset="-122"/>
                <a:ea typeface="方正粗黑宋简体" panose="02000000000000000000" charset="-122"/>
              </a:rPr>
              <a:t>低年级的学生该如何准备体艺考？</a:t>
            </a:r>
            <a:endParaRPr lang="zh-CN" altLang="en-US" sz="2000" b="0" i="0" dirty="0">
              <a:solidFill>
                <a:srgbClr val="000000"/>
              </a:solidFill>
              <a:latin typeface="方正粗黑宋简体" panose="02000000000000000000" charset="-122"/>
              <a:ea typeface="方正粗黑宋简体" panose="02000000000000000000" charset="-122"/>
            </a:endParaRPr>
          </a:p>
        </p:txBody>
      </p:sp>
      <p:pic>
        <p:nvPicPr>
          <p:cNvPr id="9" name="表格1"/>
          <p:cNvPicPr>
            <a:picLocks noChangeAspect="1"/>
          </p:cNvPicPr>
          <p:nvPr/>
        </p:nvPicPr>
        <p:blipFill>
          <a:blip r:embed="rId3"/>
          <a:stretch>
            <a:fillRect/>
          </a:stretch>
        </p:blipFill>
        <p:spPr>
          <a:xfrm>
            <a:off x="531066" y="1535592"/>
            <a:ext cx="10991850" cy="4429855"/>
          </a:xfrm>
          <a:prstGeom prst="rect">
            <a:avLst/>
          </a:prstGeom>
        </p:spPr>
      </p:pic>
      <p:pic>
        <p:nvPicPr>
          <p:cNvPr id="10" name="图片3"/>
          <p:cNvPicPr>
            <a:picLocks noChangeAspect="1"/>
          </p:cNvPicPr>
          <p:nvPr/>
        </p:nvPicPr>
        <p:blipFill>
          <a:blip r:embed="rId4"/>
          <a:stretch>
            <a:fillRect/>
          </a:stretch>
        </p:blipFill>
        <p:spPr>
          <a:xfrm>
            <a:off x="661613" y="3409645"/>
            <a:ext cx="1864452" cy="962025"/>
          </a:xfrm>
          <a:prstGeom prst="rect">
            <a:avLst/>
          </a:prstGeom>
        </p:spPr>
      </p:pic>
      <p:pic>
        <p:nvPicPr>
          <p:cNvPr id="11" name="图片4"/>
          <p:cNvPicPr>
            <a:picLocks noChangeAspect="1"/>
          </p:cNvPicPr>
          <p:nvPr/>
        </p:nvPicPr>
        <p:blipFill>
          <a:blip r:embed="rId5"/>
          <a:stretch>
            <a:fillRect/>
          </a:stretch>
        </p:blipFill>
        <p:spPr>
          <a:xfrm>
            <a:off x="2629005" y="2432647"/>
            <a:ext cx="1864433" cy="3222803"/>
          </a:xfrm>
          <a:prstGeom prst="rect">
            <a:avLst/>
          </a:prstGeom>
        </p:spPr>
      </p:pic>
      <p:pic>
        <p:nvPicPr>
          <p:cNvPr id="12" name="图片5"/>
          <p:cNvPicPr>
            <a:picLocks noChangeAspect="1"/>
          </p:cNvPicPr>
          <p:nvPr/>
        </p:nvPicPr>
        <p:blipFill>
          <a:blip r:embed="rId6"/>
          <a:srcRect t="1165"/>
          <a:stretch>
            <a:fillRect/>
          </a:stretch>
        </p:blipFill>
        <p:spPr>
          <a:xfrm>
            <a:off x="4596384" y="2233193"/>
            <a:ext cx="2752725" cy="3621872"/>
          </a:xfrm>
          <a:prstGeom prst="rect">
            <a:avLst/>
          </a:prstGeom>
        </p:spPr>
      </p:pic>
      <p:pic>
        <p:nvPicPr>
          <p:cNvPr id="13" name="图片6"/>
          <p:cNvPicPr>
            <a:picLocks noChangeAspect="1"/>
          </p:cNvPicPr>
          <p:nvPr/>
        </p:nvPicPr>
        <p:blipFill>
          <a:blip r:embed="rId7"/>
          <a:stretch>
            <a:fillRect/>
          </a:stretch>
        </p:blipFill>
        <p:spPr>
          <a:xfrm>
            <a:off x="7433615" y="2687364"/>
            <a:ext cx="3936511" cy="2533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3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animBg="1"/>
      <p:bldP spid="12"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5870781" y="0"/>
            <a:ext cx="6321676" cy="6858000"/>
          </a:xfrm>
          <a:prstGeom prst="rect">
            <a:avLst/>
          </a:prstGeom>
        </p:spPr>
      </p:pic>
      <p:sp>
        <p:nvSpPr>
          <p:cNvPr id="4" name="文本1"/>
          <p:cNvSpPr txBox="1"/>
          <p:nvPr/>
        </p:nvSpPr>
        <p:spPr>
          <a:xfrm>
            <a:off x="756907" y="1359081"/>
            <a:ext cx="4914900" cy="3852624"/>
          </a:xfrm>
          <a:prstGeom prst="rect">
            <a:avLst/>
          </a:prstGeom>
          <a:noFill/>
        </p:spPr>
        <p:txBody>
          <a:bodyPr wrap="square" rtlCol="0" anchor="t"/>
          <a:lstStyle/>
          <a:p>
            <a:pPr marL="0" algn="l">
              <a:lnSpc>
                <a:spcPct val="120000"/>
              </a:lnSpc>
            </a:pPr>
            <a:r>
              <a:rPr lang="zh-CN" altLang="en-US" sz="2600" b="0" i="0" dirty="0">
                <a:solidFill>
                  <a:schemeClr val="tx1"/>
                </a:solidFill>
                <a:latin typeface="方正粗黑宋简体" panose="02000000000000000000" charset="-122"/>
                <a:ea typeface="方正粗黑宋简体" panose="02000000000000000000" charset="-122"/>
              </a:rPr>
              <a:t>体艺绝不是某些同学眼中的“捷径”，想要考上一所心仪的好大学，任何考试类型都需要自身脚踏实地的努力，坚定不移的意志，长远发展的眼光，任何只顾利益及眼前的选择都可能成为你一生的遗憾。</a:t>
            </a:r>
            <a:endParaRPr lang="zh-CN" altLang="en-US" sz="2600" b="0" i="0" dirty="0">
              <a:solidFill>
                <a:schemeClr val="tx1"/>
              </a:solidFill>
              <a:latin typeface="方正粗黑宋简体" panose="02000000000000000000" charset="-122"/>
              <a:ea typeface="方正粗黑宋简体" panose="020000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210" y="69152"/>
            <a:ext cx="12191943" cy="6858114"/>
          </a:xfrm>
          <a:prstGeom prst="rect">
            <a:avLst/>
          </a:prstGeom>
        </p:spPr>
      </p:pic>
      <p:sp>
        <p:nvSpPr>
          <p:cNvPr id="3" name="文本1"/>
          <p:cNvSpPr txBox="1"/>
          <p:nvPr/>
        </p:nvSpPr>
        <p:spPr>
          <a:xfrm>
            <a:off x="3943350" y="2614295"/>
            <a:ext cx="6021705" cy="1769110"/>
          </a:xfrm>
          <a:prstGeom prst="rect">
            <a:avLst/>
          </a:prstGeom>
          <a:noFill/>
        </p:spPr>
        <p:txBody>
          <a:bodyPr wrap="square" rtlCol="0" anchor="t"/>
          <a:lstStyle/>
          <a:p>
            <a:pPr marL="0" algn="l"/>
            <a:r>
              <a:rPr lang="zh-CN" altLang="en-US" sz="4400" b="0" i="0" dirty="0">
                <a:solidFill>
                  <a:srgbClr val="FFFFFF"/>
                </a:solidFill>
                <a:latin typeface="方正粗黑宋简体" panose="02000000000000000000" charset="-122"/>
                <a:ea typeface="方正粗黑宋简体" panose="02000000000000000000" charset="-122"/>
              </a:rPr>
              <a:t>假如我身体素质极佳                                  </a:t>
            </a:r>
            <a:endParaRPr lang="zh-CN" altLang="en-US" sz="4400" b="0" i="0" dirty="0">
              <a:solidFill>
                <a:srgbClr val="FFFFFF"/>
              </a:solidFill>
              <a:latin typeface="方正粗黑宋简体" panose="02000000000000000000" charset="-122"/>
              <a:ea typeface="方正粗黑宋简体" panose="02000000000000000000" charset="-122"/>
            </a:endParaRPr>
          </a:p>
          <a:p>
            <a:pPr marL="0" algn="l"/>
            <a:r>
              <a:rPr lang="zh-CN" altLang="en-US" sz="4400" b="0" i="0" dirty="0">
                <a:solidFill>
                  <a:srgbClr val="FFFFFF"/>
                </a:solidFill>
                <a:latin typeface="方正粗黑宋简体" panose="02000000000000000000" charset="-122"/>
                <a:ea typeface="方正粗黑宋简体" panose="02000000000000000000" charset="-122"/>
              </a:rPr>
              <a:t>思想觉悟极高</a:t>
            </a:r>
            <a:endParaRPr lang="zh-CN" altLang="en-US" sz="4400" b="0" i="0" dirty="0">
              <a:solidFill>
                <a:srgbClr val="FFFFFF"/>
              </a:solidFill>
              <a:latin typeface="方正粗黑宋简体" panose="02000000000000000000" charset="-122"/>
              <a:ea typeface="方正粗黑宋简体" panose="020000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algn="ctr"/>
          </a:p>
        </p:txBody>
      </p:sp>
      <p:grpSp>
        <p:nvGrpSpPr>
          <p:cNvPr id="5" name="组合1"/>
          <p:cNvGrpSpPr/>
          <p:nvPr/>
        </p:nvGrpSpPr>
        <p:grpSpPr>
          <a:xfrm>
            <a:off x="3950218" y="213169"/>
            <a:ext cx="4689319" cy="665541"/>
            <a:chOff x="0" y="0"/>
            <a:chExt cx="4689319" cy="665541"/>
          </a:xfrm>
        </p:grpSpPr>
        <p:sp>
          <p:nvSpPr>
            <p:cNvPr id="6" name="形状2"/>
            <p:cNvSpPr txBox="1"/>
            <p:nvPr/>
          </p:nvSpPr>
          <p:spPr>
            <a:xfrm>
              <a:off x="0" y="205168"/>
              <a:ext cx="3987615" cy="460373"/>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3"/>
            <p:cNvSpPr txBox="1"/>
            <p:nvPr/>
          </p:nvSpPr>
          <p:spPr>
            <a:xfrm>
              <a:off x="133073" y="0"/>
              <a:ext cx="4556246"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军校类、公安类招考</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10" name="文本1"/>
          <p:cNvSpPr txBox="1"/>
          <p:nvPr/>
        </p:nvSpPr>
        <p:spPr>
          <a:xfrm>
            <a:off x="778510" y="5553075"/>
            <a:ext cx="5105400" cy="375285"/>
          </a:xfrm>
          <a:prstGeom prst="rect">
            <a:avLst/>
          </a:prstGeom>
          <a:noFill/>
        </p:spPr>
        <p:txBody>
          <a:bodyPr wrap="square" rtlCol="0" anchor="t"/>
          <a:lstStyle/>
          <a:p>
            <a:r>
              <a:rPr lang="en-US" sz="2400" b="0" i="0" dirty="0">
                <a:solidFill>
                  <a:srgbClr val="222222"/>
                </a:solidFill>
                <a:latin typeface="方正粗黑宋简体" panose="02000000000000000000" charset="-122"/>
                <a:ea typeface="方正粗黑宋简体" panose="02000000000000000000" charset="-122"/>
              </a:rPr>
              <a:t>2024</a:t>
            </a:r>
            <a:r>
              <a:rPr lang="zh-CN" altLang="en-US" sz="2400" b="0" i="0" dirty="0">
                <a:solidFill>
                  <a:srgbClr val="222222"/>
                </a:solidFill>
                <a:latin typeface="方正粗黑宋简体" panose="02000000000000000000" charset="-122"/>
                <a:ea typeface="方正粗黑宋简体" panose="02000000000000000000" charset="-122"/>
              </a:rPr>
              <a:t>年军校类在闽招生情况一览表</a:t>
            </a:r>
            <a:endParaRPr lang="zh-CN" altLang="en-US" sz="2400" b="0" i="0" dirty="0">
              <a:solidFill>
                <a:srgbClr val="222222"/>
              </a:solidFill>
              <a:latin typeface="方正粗黑宋简体" panose="02000000000000000000" charset="-122"/>
              <a:ea typeface="方正粗黑宋简体" panose="02000000000000000000" charset="-122"/>
            </a:endParaRPr>
          </a:p>
        </p:txBody>
      </p:sp>
      <p:pic>
        <p:nvPicPr>
          <p:cNvPr id="9" name="图片 8"/>
          <p:cNvPicPr>
            <a:picLocks noChangeAspect="1"/>
          </p:cNvPicPr>
          <p:nvPr/>
        </p:nvPicPr>
        <p:blipFill>
          <a:blip r:embed="rId2"/>
          <a:stretch>
            <a:fillRect/>
          </a:stretch>
        </p:blipFill>
        <p:spPr>
          <a:xfrm>
            <a:off x="90170" y="1096010"/>
            <a:ext cx="5843270" cy="4321810"/>
          </a:xfrm>
          <a:prstGeom prst="rect">
            <a:avLst/>
          </a:prstGeom>
        </p:spPr>
      </p:pic>
      <p:pic>
        <p:nvPicPr>
          <p:cNvPr id="4" name="图片 3"/>
          <p:cNvPicPr/>
          <p:nvPr/>
        </p:nvPicPr>
        <p:blipFill>
          <a:blip r:embed="rId3"/>
          <a:stretch>
            <a:fillRect/>
          </a:stretch>
        </p:blipFill>
        <p:spPr>
          <a:xfrm>
            <a:off x="6099810" y="1332865"/>
            <a:ext cx="5723255" cy="3833495"/>
          </a:xfrm>
          <a:prstGeom prst="rect">
            <a:avLst/>
          </a:prstGeom>
        </p:spPr>
      </p:pic>
      <p:sp>
        <p:nvSpPr>
          <p:cNvPr id="8" name="文本1"/>
          <p:cNvSpPr txBox="1"/>
          <p:nvPr/>
        </p:nvSpPr>
        <p:spPr>
          <a:xfrm>
            <a:off x="6409055" y="5620385"/>
            <a:ext cx="5105400" cy="375285"/>
          </a:xfrm>
          <a:prstGeom prst="rect">
            <a:avLst/>
          </a:prstGeom>
          <a:noFill/>
        </p:spPr>
        <p:txBody>
          <a:bodyPr wrap="square" rtlCol="0" anchor="t"/>
          <a:p>
            <a:r>
              <a:rPr lang="en-US" sz="2400" b="0" i="0" dirty="0">
                <a:solidFill>
                  <a:srgbClr val="222222"/>
                </a:solidFill>
                <a:latin typeface="方正粗黑宋简体" panose="02000000000000000000" charset="-122"/>
                <a:ea typeface="方正粗黑宋简体" panose="02000000000000000000" charset="-122"/>
              </a:rPr>
              <a:t>2024</a:t>
            </a:r>
            <a:r>
              <a:rPr lang="zh-CN" altLang="en-US" sz="2400" b="0" i="0" dirty="0">
                <a:solidFill>
                  <a:srgbClr val="222222"/>
                </a:solidFill>
                <a:latin typeface="方正粗黑宋简体" panose="02000000000000000000" charset="-122"/>
                <a:ea typeface="方正粗黑宋简体" panose="02000000000000000000" charset="-122"/>
              </a:rPr>
              <a:t>年公安类在闽招生情况一览表</a:t>
            </a:r>
            <a:endParaRPr lang="zh-CN" altLang="en-US" sz="2400" b="0" i="0" dirty="0">
              <a:solidFill>
                <a:srgbClr val="222222"/>
              </a:solidFill>
              <a:latin typeface="方正粗黑宋简体" panose="02000000000000000000" charset="-122"/>
              <a:ea typeface="方正粗黑宋简体" panose="020000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9083" y="90878"/>
            <a:ext cx="1189917" cy="1020701"/>
          </a:xfrm>
          <a:prstGeom prst="rect">
            <a:avLst/>
          </a:prstGeom>
        </p:spPr>
      </p:pic>
      <p:grpSp>
        <p:nvGrpSpPr>
          <p:cNvPr id="5" name="组合1"/>
          <p:cNvGrpSpPr/>
          <p:nvPr/>
        </p:nvGrpSpPr>
        <p:grpSpPr>
          <a:xfrm>
            <a:off x="1755134" y="269138"/>
            <a:ext cx="9319098" cy="665544"/>
            <a:chOff x="0" y="0"/>
            <a:chExt cx="9319098" cy="665544"/>
          </a:xfrm>
        </p:grpSpPr>
        <p:sp>
          <p:nvSpPr>
            <p:cNvPr id="6" name="形状2"/>
            <p:cNvSpPr txBox="1"/>
            <p:nvPr/>
          </p:nvSpPr>
          <p:spPr>
            <a:xfrm>
              <a:off x="0" y="205169"/>
              <a:ext cx="7236460" cy="460375"/>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1"/>
            <p:cNvSpPr txBox="1"/>
            <p:nvPr/>
          </p:nvSpPr>
          <p:spPr>
            <a:xfrm>
              <a:off x="272891" y="0"/>
              <a:ext cx="9046207"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         航海类、飞行类（</a:t>
              </a:r>
              <a:r>
                <a:rPr lang="zh-CN" altLang="en-US" sz="2400" dirty="0">
                  <a:solidFill>
                    <a:srgbClr val="000000"/>
                  </a:solidFill>
                  <a:latin typeface="方正粗黑宋简体" panose="02000000000000000000" charset="-122"/>
                  <a:ea typeface="方正粗黑宋简体" panose="02000000000000000000" charset="-122"/>
                  <a:sym typeface="+mn-ea"/>
                </a:rPr>
                <a:t>空军、</a:t>
              </a:r>
              <a:r>
                <a:rPr lang="zh-CN" altLang="en-US" sz="2400" dirty="0">
                  <a:solidFill>
                    <a:srgbClr val="000000"/>
                  </a:solidFill>
                  <a:latin typeface="方正粗黑宋简体" panose="02000000000000000000" charset="-122"/>
                  <a:ea typeface="方正粗黑宋简体" panose="02000000000000000000" charset="-122"/>
                  <a:sym typeface="+mn-ea"/>
                </a:rPr>
                <a:t>海军、</a:t>
              </a:r>
              <a:r>
                <a:rPr lang="zh-CN" altLang="en-US" sz="2400" dirty="0">
                  <a:solidFill>
                    <a:srgbClr val="000000"/>
                  </a:solidFill>
                  <a:latin typeface="方正粗黑宋简体" panose="02000000000000000000" charset="-122"/>
                  <a:ea typeface="方正粗黑宋简体" panose="02000000000000000000" charset="-122"/>
                  <a:sym typeface="+mn-ea"/>
                </a:rPr>
                <a:t>民航三项招飞</a:t>
              </a:r>
              <a:r>
                <a:rPr lang="zh-CN" altLang="en-US" sz="2400" b="0" i="0" dirty="0">
                  <a:solidFill>
                    <a:srgbClr val="000000"/>
                  </a:solidFill>
                  <a:latin typeface="方正粗黑宋简体" panose="02000000000000000000" charset="-122"/>
                  <a:ea typeface="方正粗黑宋简体" panose="02000000000000000000" charset="-122"/>
                </a:rPr>
                <a:t>）</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pic>
        <p:nvPicPr>
          <p:cNvPr id="8" name="图片 7"/>
          <p:cNvPicPr>
            <a:picLocks noChangeAspect="1"/>
          </p:cNvPicPr>
          <p:nvPr/>
        </p:nvPicPr>
        <p:blipFill>
          <a:blip r:embed="rId3"/>
          <a:stretch>
            <a:fillRect/>
          </a:stretch>
        </p:blipFill>
        <p:spPr>
          <a:xfrm>
            <a:off x="0" y="1177290"/>
            <a:ext cx="6256020" cy="1744980"/>
          </a:xfrm>
          <a:prstGeom prst="rect">
            <a:avLst/>
          </a:prstGeom>
        </p:spPr>
      </p:pic>
      <p:pic>
        <p:nvPicPr>
          <p:cNvPr id="10" name="图片 9"/>
          <p:cNvPicPr>
            <a:picLocks noChangeAspect="1"/>
          </p:cNvPicPr>
          <p:nvPr/>
        </p:nvPicPr>
        <p:blipFill>
          <a:blip r:embed="rId4"/>
          <a:stretch>
            <a:fillRect/>
          </a:stretch>
        </p:blipFill>
        <p:spPr>
          <a:xfrm>
            <a:off x="0" y="2922270"/>
            <a:ext cx="6019800" cy="1325880"/>
          </a:xfrm>
          <a:prstGeom prst="rect">
            <a:avLst/>
          </a:prstGeom>
        </p:spPr>
      </p:pic>
      <p:pic>
        <p:nvPicPr>
          <p:cNvPr id="11" name="图片 10"/>
          <p:cNvPicPr>
            <a:picLocks noChangeAspect="1"/>
          </p:cNvPicPr>
          <p:nvPr/>
        </p:nvPicPr>
        <p:blipFill>
          <a:blip r:embed="rId5"/>
          <a:stretch>
            <a:fillRect/>
          </a:stretch>
        </p:blipFill>
        <p:spPr>
          <a:xfrm>
            <a:off x="6019800" y="1268730"/>
            <a:ext cx="6050280" cy="40690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grpSp>
        <p:nvGrpSpPr>
          <p:cNvPr id="4" name="组合1"/>
          <p:cNvGrpSpPr/>
          <p:nvPr/>
        </p:nvGrpSpPr>
        <p:grpSpPr>
          <a:xfrm>
            <a:off x="2723569" y="163878"/>
            <a:ext cx="9319098" cy="665543"/>
            <a:chOff x="0" y="0"/>
            <a:chExt cx="9319098" cy="665543"/>
          </a:xfrm>
        </p:grpSpPr>
        <p:sp>
          <p:nvSpPr>
            <p:cNvPr id="5" name="形状2"/>
            <p:cNvSpPr txBox="1"/>
            <p:nvPr/>
          </p:nvSpPr>
          <p:spPr>
            <a:xfrm>
              <a:off x="0" y="205168"/>
              <a:ext cx="7236460" cy="460375"/>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6" name="文本1"/>
            <p:cNvSpPr txBox="1"/>
            <p:nvPr/>
          </p:nvSpPr>
          <p:spPr>
            <a:xfrm>
              <a:off x="272891" y="0"/>
              <a:ext cx="9046207"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航海类、飞行类（</a:t>
              </a:r>
              <a:r>
                <a:rPr lang="zh-CN" altLang="en-US" sz="2400" dirty="0">
                  <a:solidFill>
                    <a:srgbClr val="000000"/>
                  </a:solidFill>
                  <a:latin typeface="方正粗黑宋简体" panose="02000000000000000000" charset="-122"/>
                  <a:ea typeface="方正粗黑宋简体" panose="02000000000000000000" charset="-122"/>
                  <a:sym typeface="+mn-ea"/>
                </a:rPr>
                <a:t>空军、</a:t>
              </a:r>
              <a:r>
                <a:rPr lang="zh-CN" altLang="en-US" sz="2400" dirty="0">
                  <a:solidFill>
                    <a:srgbClr val="000000"/>
                  </a:solidFill>
                  <a:latin typeface="方正粗黑宋简体" panose="02000000000000000000" charset="-122"/>
                  <a:ea typeface="方正粗黑宋简体" panose="02000000000000000000" charset="-122"/>
                  <a:sym typeface="+mn-ea"/>
                </a:rPr>
                <a:t>海军、</a:t>
              </a:r>
              <a:r>
                <a:rPr lang="zh-CN" altLang="en-US" sz="2400" dirty="0">
                  <a:solidFill>
                    <a:srgbClr val="000000"/>
                  </a:solidFill>
                  <a:latin typeface="方正粗黑宋简体" panose="02000000000000000000" charset="-122"/>
                  <a:ea typeface="方正粗黑宋简体" panose="02000000000000000000" charset="-122"/>
                  <a:sym typeface="+mn-ea"/>
                </a:rPr>
                <a:t>民航三项招飞</a:t>
              </a:r>
              <a:r>
                <a:rPr lang="zh-CN" altLang="en-US" sz="2400" b="0" i="0" dirty="0">
                  <a:solidFill>
                    <a:srgbClr val="000000"/>
                  </a:solidFill>
                  <a:latin typeface="方正粗黑宋简体" panose="02000000000000000000" charset="-122"/>
                  <a:ea typeface="方正粗黑宋简体" panose="02000000000000000000" charset="-122"/>
                </a:rPr>
                <a:t>）</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pic>
        <p:nvPicPr>
          <p:cNvPr id="8" name="图片2"/>
          <p:cNvPicPr>
            <a:picLocks noChangeAspect="1"/>
          </p:cNvPicPr>
          <p:nvPr/>
        </p:nvPicPr>
        <p:blipFill>
          <a:blip r:embed="rId2"/>
          <a:stretch>
            <a:fillRect/>
          </a:stretch>
        </p:blipFill>
        <p:spPr>
          <a:xfrm rot="4613640">
            <a:off x="127378" y="63779"/>
            <a:ext cx="1189917" cy="1020701"/>
          </a:xfrm>
          <a:prstGeom prst="rect">
            <a:avLst/>
          </a:prstGeom>
        </p:spPr>
      </p:pic>
      <p:pic>
        <p:nvPicPr>
          <p:cNvPr id="9" name="图片 8"/>
          <p:cNvPicPr>
            <a:picLocks noChangeAspect="1"/>
          </p:cNvPicPr>
          <p:nvPr/>
        </p:nvPicPr>
        <p:blipFill>
          <a:blip r:embed="rId3"/>
          <a:stretch>
            <a:fillRect/>
          </a:stretch>
        </p:blipFill>
        <p:spPr>
          <a:xfrm>
            <a:off x="-62865" y="1149985"/>
            <a:ext cx="6248400" cy="1684020"/>
          </a:xfrm>
          <a:prstGeom prst="rect">
            <a:avLst/>
          </a:prstGeom>
        </p:spPr>
      </p:pic>
      <p:pic>
        <p:nvPicPr>
          <p:cNvPr id="10" name="图片 9"/>
          <p:cNvPicPr>
            <a:picLocks noChangeAspect="1"/>
          </p:cNvPicPr>
          <p:nvPr/>
        </p:nvPicPr>
        <p:blipFill>
          <a:blip r:embed="rId4"/>
          <a:stretch>
            <a:fillRect/>
          </a:stretch>
        </p:blipFill>
        <p:spPr>
          <a:xfrm>
            <a:off x="-62865" y="2834005"/>
            <a:ext cx="6065520" cy="1592580"/>
          </a:xfrm>
          <a:prstGeom prst="rect">
            <a:avLst/>
          </a:prstGeom>
        </p:spPr>
      </p:pic>
      <p:pic>
        <p:nvPicPr>
          <p:cNvPr id="11" name="图片 10"/>
          <p:cNvPicPr>
            <a:picLocks noChangeAspect="1"/>
          </p:cNvPicPr>
          <p:nvPr/>
        </p:nvPicPr>
        <p:blipFill>
          <a:blip r:embed="rId5"/>
          <a:stretch>
            <a:fillRect/>
          </a:stretch>
        </p:blipFill>
        <p:spPr>
          <a:xfrm>
            <a:off x="6103620" y="1691005"/>
            <a:ext cx="6088380" cy="27355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1556252" y="141227"/>
            <a:ext cx="8583177" cy="786597"/>
            <a:chOff x="0" y="0"/>
            <a:chExt cx="8583177" cy="786597"/>
          </a:xfrm>
        </p:grpSpPr>
        <p:sp>
          <p:nvSpPr>
            <p:cNvPr id="6" name="形状2"/>
            <p:cNvSpPr txBox="1"/>
            <p:nvPr/>
          </p:nvSpPr>
          <p:spPr>
            <a:xfrm>
              <a:off x="0" y="326222"/>
              <a:ext cx="7236460" cy="460375"/>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1"/>
            <p:cNvSpPr txBox="1"/>
            <p:nvPr/>
          </p:nvSpPr>
          <p:spPr>
            <a:xfrm>
              <a:off x="1422920" y="0"/>
              <a:ext cx="7160257"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航海类、飞行类（空军、</a:t>
              </a:r>
              <a:r>
                <a:rPr lang="zh-CN" altLang="en-US" sz="2400" dirty="0">
                  <a:solidFill>
                    <a:srgbClr val="000000"/>
                  </a:solidFill>
                  <a:latin typeface="方正粗黑宋简体" panose="02000000000000000000" charset="-122"/>
                  <a:ea typeface="方正粗黑宋简体" panose="02000000000000000000" charset="-122"/>
                  <a:sym typeface="+mn-ea"/>
                </a:rPr>
                <a:t>海军、</a:t>
              </a:r>
              <a:r>
                <a:rPr lang="zh-CN" altLang="en-US" sz="2400" b="0" i="0" dirty="0">
                  <a:solidFill>
                    <a:srgbClr val="000000"/>
                  </a:solidFill>
                  <a:latin typeface="方正粗黑宋简体" panose="02000000000000000000" charset="-122"/>
                  <a:ea typeface="方正粗黑宋简体" panose="02000000000000000000" charset="-122"/>
                </a:rPr>
                <a:t>民航三项招飞）</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pic>
        <p:nvPicPr>
          <p:cNvPr id="9" name="图片 8"/>
          <p:cNvPicPr>
            <a:picLocks noChangeAspect="1"/>
          </p:cNvPicPr>
          <p:nvPr/>
        </p:nvPicPr>
        <p:blipFill>
          <a:blip r:embed="rId3"/>
          <a:stretch>
            <a:fillRect/>
          </a:stretch>
        </p:blipFill>
        <p:spPr>
          <a:xfrm>
            <a:off x="-92075" y="1390650"/>
            <a:ext cx="6332220" cy="1630680"/>
          </a:xfrm>
          <a:prstGeom prst="rect">
            <a:avLst/>
          </a:prstGeom>
        </p:spPr>
      </p:pic>
      <p:pic>
        <p:nvPicPr>
          <p:cNvPr id="10" name="图片 9"/>
          <p:cNvPicPr>
            <a:picLocks noChangeAspect="1"/>
          </p:cNvPicPr>
          <p:nvPr/>
        </p:nvPicPr>
        <p:blipFill>
          <a:blip r:embed="rId4"/>
          <a:stretch>
            <a:fillRect/>
          </a:stretch>
        </p:blipFill>
        <p:spPr>
          <a:xfrm>
            <a:off x="0" y="3021330"/>
            <a:ext cx="6035040" cy="1996440"/>
          </a:xfrm>
          <a:prstGeom prst="rect">
            <a:avLst/>
          </a:prstGeom>
        </p:spPr>
      </p:pic>
      <p:pic>
        <p:nvPicPr>
          <p:cNvPr id="12" name="图片 11"/>
          <p:cNvPicPr>
            <a:picLocks noChangeAspect="1"/>
          </p:cNvPicPr>
          <p:nvPr/>
        </p:nvPicPr>
        <p:blipFill>
          <a:blip r:embed="rId5"/>
          <a:stretch>
            <a:fillRect/>
          </a:stretch>
        </p:blipFill>
        <p:spPr>
          <a:xfrm>
            <a:off x="6164580" y="1499235"/>
            <a:ext cx="6027420" cy="32537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r>
              <a:rPr lang="zh-CN" altLang="en-US" sz="2200" b="0" i="0" dirty="0">
                <a:solidFill>
                  <a:srgbClr val="FFFFFF"/>
                </a:solidFill>
                <a:latin typeface="微软雅黑" panose="020B0503020204020204" charset="-122"/>
                <a:ea typeface="微软雅黑" panose="020B0503020204020204" charset="-122"/>
              </a:rPr>
              <a:t>+</a:t>
            </a:r>
            <a:endParaRPr lang="zh-CN" altLang="en-US" sz="2200" b="0" i="0" dirty="0">
              <a:solidFill>
                <a:srgbClr val="FFFFFF"/>
              </a:solidFill>
              <a:latin typeface="微软雅黑" panose="020B0503020204020204" charset="-122"/>
              <a:ea typeface="微软雅黑" panose="020B0503020204020204" charset="-122"/>
            </a:endParaRP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1859655" y="1199877"/>
            <a:ext cx="9941557" cy="579839"/>
            <a:chOff x="0" y="0"/>
            <a:chExt cx="9941557" cy="579839"/>
          </a:xfrm>
        </p:grpSpPr>
        <p:sp>
          <p:nvSpPr>
            <p:cNvPr id="6" name="形状2"/>
            <p:cNvSpPr txBox="1"/>
            <p:nvPr/>
          </p:nvSpPr>
          <p:spPr>
            <a:xfrm>
              <a:off x="3370546" y="40880"/>
              <a:ext cx="2514350" cy="460368"/>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2"/>
            <p:cNvSpPr txBox="1"/>
            <p:nvPr/>
          </p:nvSpPr>
          <p:spPr>
            <a:xfrm>
              <a:off x="0" y="0"/>
              <a:ext cx="9941557"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路径四：军校类、公安类、航海类、飞行类（</a:t>
              </a:r>
              <a:r>
                <a:rPr lang="zh-CN" altLang="en-US" sz="2400" dirty="0">
                  <a:solidFill>
                    <a:srgbClr val="000000"/>
                  </a:solidFill>
                  <a:latin typeface="方正粗黑宋简体" panose="02000000000000000000" charset="-122"/>
                  <a:ea typeface="方正粗黑宋简体" panose="02000000000000000000" charset="-122"/>
                  <a:sym typeface="+mn-ea"/>
                </a:rPr>
                <a:t>空军、</a:t>
              </a:r>
              <a:r>
                <a:rPr lang="zh-CN" altLang="en-US" sz="2400" dirty="0">
                  <a:solidFill>
                    <a:srgbClr val="000000"/>
                  </a:solidFill>
                  <a:latin typeface="方正粗黑宋简体" panose="02000000000000000000" charset="-122"/>
                  <a:ea typeface="方正粗黑宋简体" panose="02000000000000000000" charset="-122"/>
                  <a:sym typeface="+mn-ea"/>
                </a:rPr>
                <a:t>海军、</a:t>
              </a:r>
              <a:r>
                <a:rPr lang="zh-CN" altLang="en-US" sz="2400" dirty="0">
                  <a:solidFill>
                    <a:srgbClr val="000000"/>
                  </a:solidFill>
                  <a:latin typeface="方正粗黑宋简体" panose="02000000000000000000" charset="-122"/>
                  <a:ea typeface="方正粗黑宋简体" panose="02000000000000000000" charset="-122"/>
                  <a:sym typeface="+mn-ea"/>
                </a:rPr>
                <a:t>民航三项招飞</a:t>
              </a:r>
              <a:r>
                <a:rPr lang="zh-CN" altLang="en-US" sz="2400" b="0" i="0" dirty="0">
                  <a:solidFill>
                    <a:srgbClr val="000000"/>
                  </a:solidFill>
                  <a:latin typeface="方正粗黑宋简体" panose="02000000000000000000" charset="-122"/>
                  <a:ea typeface="方正粗黑宋简体" panose="02000000000000000000" charset="-122"/>
                </a:rPr>
                <a:t>）</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pic>
        <p:nvPicPr>
          <p:cNvPr id="9" name="表格1"/>
          <p:cNvPicPr>
            <a:picLocks noChangeAspect="1"/>
          </p:cNvPicPr>
          <p:nvPr/>
        </p:nvPicPr>
        <p:blipFill>
          <a:blip r:embed="rId3"/>
          <a:stretch>
            <a:fillRect/>
          </a:stretch>
        </p:blipFill>
        <p:spPr>
          <a:xfrm>
            <a:off x="600551" y="2261921"/>
            <a:ext cx="10991850" cy="3222974"/>
          </a:xfrm>
          <a:prstGeom prst="rect">
            <a:avLst/>
          </a:prstGeom>
        </p:spPr>
      </p:pic>
      <p:pic>
        <p:nvPicPr>
          <p:cNvPr id="10" name="图片3"/>
          <p:cNvPicPr>
            <a:picLocks noChangeAspect="1"/>
          </p:cNvPicPr>
          <p:nvPr/>
        </p:nvPicPr>
        <p:blipFill>
          <a:blip r:embed="rId4"/>
          <a:stretch>
            <a:fillRect/>
          </a:stretch>
        </p:blipFill>
        <p:spPr>
          <a:xfrm>
            <a:off x="908399" y="3634616"/>
            <a:ext cx="1409700" cy="478441"/>
          </a:xfrm>
          <a:prstGeom prst="rect">
            <a:avLst/>
          </a:prstGeom>
        </p:spPr>
      </p:pic>
      <p:pic>
        <p:nvPicPr>
          <p:cNvPr id="11" name="图片4"/>
          <p:cNvPicPr>
            <a:picLocks noChangeAspect="1"/>
          </p:cNvPicPr>
          <p:nvPr/>
        </p:nvPicPr>
        <p:blipFill>
          <a:blip r:embed="rId5"/>
          <a:stretch>
            <a:fillRect/>
          </a:stretch>
        </p:blipFill>
        <p:spPr>
          <a:xfrm>
            <a:off x="2942911" y="3328606"/>
            <a:ext cx="1263853" cy="1480509"/>
          </a:xfrm>
          <a:prstGeom prst="rect">
            <a:avLst/>
          </a:prstGeom>
        </p:spPr>
      </p:pic>
      <p:pic>
        <p:nvPicPr>
          <p:cNvPr id="12" name="图片5"/>
          <p:cNvPicPr>
            <a:picLocks noChangeAspect="1"/>
          </p:cNvPicPr>
          <p:nvPr/>
        </p:nvPicPr>
        <p:blipFill>
          <a:blip r:embed="rId6"/>
          <a:stretch>
            <a:fillRect/>
          </a:stretch>
        </p:blipFill>
        <p:spPr>
          <a:xfrm>
            <a:off x="4788246" y="3092768"/>
            <a:ext cx="2615851" cy="2314575"/>
          </a:xfrm>
          <a:prstGeom prst="rect">
            <a:avLst/>
          </a:prstGeom>
        </p:spPr>
      </p:pic>
      <p:pic>
        <p:nvPicPr>
          <p:cNvPr id="13" name="图片6"/>
          <p:cNvPicPr>
            <a:picLocks noChangeAspect="1"/>
          </p:cNvPicPr>
          <p:nvPr/>
        </p:nvPicPr>
        <p:blipFill>
          <a:blip r:embed="rId7"/>
          <a:srcRect l="902"/>
          <a:stretch>
            <a:fillRect/>
          </a:stretch>
        </p:blipFill>
        <p:spPr>
          <a:xfrm>
            <a:off x="7596816" y="3501323"/>
            <a:ext cx="3905050" cy="13078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3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2"/>
          <a:stretch>
            <a:fillRect/>
          </a:stretch>
        </p:blipFill>
        <p:spPr>
          <a:xfrm>
            <a:off x="3251264" y="699087"/>
            <a:ext cx="7153275" cy="56673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sp>
        <p:nvSpPr>
          <p:cNvPr id="5" name="文本1"/>
          <p:cNvSpPr txBox="1"/>
          <p:nvPr/>
        </p:nvSpPr>
        <p:spPr>
          <a:xfrm>
            <a:off x="4078262" y="405394"/>
            <a:ext cx="4845682"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路径五：民族班 预科班 </a:t>
            </a:r>
            <a:endParaRPr lang="zh-CN" altLang="en-US" sz="2400" b="0" i="0" dirty="0">
              <a:solidFill>
                <a:srgbClr val="000000"/>
              </a:solidFill>
              <a:latin typeface="方正粗黑宋简体" panose="02000000000000000000" charset="-122"/>
              <a:ea typeface="方正粗黑宋简体" panose="02000000000000000000" charset="-122"/>
            </a:endParaRPr>
          </a:p>
        </p:txBody>
      </p:sp>
      <p:pic>
        <p:nvPicPr>
          <p:cNvPr id="6" name="表格1"/>
          <p:cNvPicPr>
            <a:picLocks noChangeAspect="1"/>
          </p:cNvPicPr>
          <p:nvPr/>
        </p:nvPicPr>
        <p:blipFill>
          <a:blip r:embed="rId3"/>
          <a:stretch>
            <a:fillRect/>
          </a:stretch>
        </p:blipFill>
        <p:spPr>
          <a:xfrm>
            <a:off x="243392" y="1178490"/>
            <a:ext cx="11482388" cy="520729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591" y="-1000"/>
            <a:ext cx="12191428" cy="6859000"/>
          </a:xfrm>
          <a:prstGeom prst="rect">
            <a:avLst/>
          </a:prstGeom>
        </p:spPr>
      </p:pic>
      <p:pic>
        <p:nvPicPr>
          <p:cNvPr id="3" name="图片2"/>
          <p:cNvPicPr>
            <a:picLocks noChangeAspect="1"/>
          </p:cNvPicPr>
          <p:nvPr/>
        </p:nvPicPr>
        <p:blipFill>
          <a:blip r:embed="rId2"/>
          <a:stretch>
            <a:fillRect/>
          </a:stretch>
        </p:blipFill>
        <p:spPr>
          <a:xfrm>
            <a:off x="591" y="-1000"/>
            <a:ext cx="12190828" cy="6859000"/>
          </a:xfrm>
          <a:prstGeom prst="rect">
            <a:avLst/>
          </a:prstGeom>
        </p:spPr>
      </p:pic>
      <p:pic>
        <p:nvPicPr>
          <p:cNvPr id="4" name="图片3"/>
          <p:cNvPicPr>
            <a:picLocks noChangeAspect="1"/>
          </p:cNvPicPr>
          <p:nvPr/>
        </p:nvPicPr>
        <p:blipFill>
          <a:blip r:embed="rId3"/>
          <a:stretch>
            <a:fillRect/>
          </a:stretch>
        </p:blipFill>
        <p:spPr>
          <a:xfrm rot="18456000">
            <a:off x="8655758" y="4884639"/>
            <a:ext cx="1400175" cy="685800"/>
          </a:xfrm>
          <a:prstGeom prst="rect">
            <a:avLst/>
          </a:prstGeom>
        </p:spPr>
      </p:pic>
      <p:pic>
        <p:nvPicPr>
          <p:cNvPr id="5" name="图片4"/>
          <p:cNvPicPr>
            <a:picLocks noChangeAspect="1"/>
          </p:cNvPicPr>
          <p:nvPr/>
        </p:nvPicPr>
        <p:blipFill>
          <a:blip r:embed="rId4"/>
          <a:stretch>
            <a:fillRect/>
          </a:stretch>
        </p:blipFill>
        <p:spPr>
          <a:xfrm>
            <a:off x="3032169" y="857250"/>
            <a:ext cx="6127661" cy="5143500"/>
          </a:xfrm>
          <a:prstGeom prst="rect">
            <a:avLst/>
          </a:prstGeom>
        </p:spPr>
      </p:pic>
      <p:pic>
        <p:nvPicPr>
          <p:cNvPr id="6" name="图片5"/>
          <p:cNvPicPr>
            <a:picLocks noChangeAspect="1"/>
          </p:cNvPicPr>
          <p:nvPr/>
        </p:nvPicPr>
        <p:blipFill>
          <a:blip r:embed="rId5"/>
          <a:stretch>
            <a:fillRect/>
          </a:stretch>
        </p:blipFill>
        <p:spPr>
          <a:xfrm>
            <a:off x="1523657" y="2220030"/>
            <a:ext cx="9144000" cy="2504408"/>
          </a:xfrm>
          <a:prstGeom prst="rect">
            <a:avLst/>
          </a:prstGeom>
        </p:spPr>
      </p:pic>
      <p:pic>
        <p:nvPicPr>
          <p:cNvPr id="7" name="图片6"/>
          <p:cNvPicPr>
            <a:picLocks noChangeAspect="1"/>
          </p:cNvPicPr>
          <p:nvPr/>
        </p:nvPicPr>
        <p:blipFill>
          <a:blip r:embed="rId3"/>
          <a:stretch>
            <a:fillRect/>
          </a:stretch>
        </p:blipFill>
        <p:spPr>
          <a:xfrm rot="7308000">
            <a:off x="1473384" y="1326242"/>
            <a:ext cx="669026" cy="35418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4140879" y="152"/>
            <a:ext cx="11719817" cy="6917341"/>
          </a:xfrm>
          <a:prstGeom prst="rect">
            <a:avLst/>
          </a:prstGeom>
        </p:spPr>
      </p:pic>
      <p:pic>
        <p:nvPicPr>
          <p:cNvPr id="3" name="图片2"/>
          <p:cNvPicPr>
            <a:picLocks noChangeAspect="1"/>
          </p:cNvPicPr>
          <p:nvPr/>
        </p:nvPicPr>
        <p:blipFill>
          <a:blip r:embed="rId2"/>
          <a:stretch>
            <a:fillRect/>
          </a:stretch>
        </p:blipFill>
        <p:spPr>
          <a:xfrm>
            <a:off x="-562" y="1938271"/>
            <a:ext cx="6572250" cy="3310042"/>
          </a:xfrm>
          <a:prstGeom prst="rect">
            <a:avLst/>
          </a:prstGeom>
        </p:spPr>
      </p:pic>
      <p:pic>
        <p:nvPicPr>
          <p:cNvPr id="4" name="图片3"/>
          <p:cNvPicPr>
            <a:picLocks noChangeAspect="1"/>
          </p:cNvPicPr>
          <p:nvPr/>
        </p:nvPicPr>
        <p:blipFill>
          <a:blip r:embed="rId3"/>
          <a:stretch>
            <a:fillRect/>
          </a:stretch>
        </p:blipFill>
        <p:spPr>
          <a:xfrm>
            <a:off x="1011203" y="4717104"/>
            <a:ext cx="4324350" cy="381000"/>
          </a:xfrm>
          <a:prstGeom prst="rect">
            <a:avLst/>
          </a:prstGeom>
        </p:spPr>
      </p:pic>
      <p:sp>
        <p:nvSpPr>
          <p:cNvPr id="5" name="文本1"/>
          <p:cNvSpPr txBox="1"/>
          <p:nvPr/>
        </p:nvSpPr>
        <p:spPr>
          <a:xfrm>
            <a:off x="188062" y="2213943"/>
            <a:ext cx="6486525" cy="2265362"/>
          </a:xfrm>
          <a:prstGeom prst="rect">
            <a:avLst/>
          </a:prstGeom>
          <a:noFill/>
        </p:spPr>
        <p:txBody>
          <a:bodyPr wrap="square" rtlCol="0" anchor="t"/>
          <a:lstStyle/>
          <a:p>
            <a:pPr marL="0" algn="l"/>
            <a:r>
              <a:rPr lang="zh-CN" altLang="en-US" sz="4400" b="0" i="0" dirty="0">
                <a:solidFill>
                  <a:srgbClr val="FFFFFF"/>
                </a:solidFill>
                <a:latin typeface="方正粗黑宋简体" panose="02000000000000000000" charset="-122"/>
                <a:ea typeface="方正粗黑宋简体" panose="02000000000000000000" charset="-122"/>
              </a:rPr>
              <a:t>统</a:t>
            </a:r>
            <a:r>
              <a:rPr lang="zh-CN" altLang="en-US" b="0" i="0" dirty="0">
                <a:solidFill>
                  <a:srgbClr val="FFFFFF"/>
                </a:solidFill>
                <a:latin typeface="微软雅黑" panose="020B0503020204020204" charset="-122"/>
                <a:ea typeface="微软雅黑" panose="020B0503020204020204" charset="-122"/>
              </a:rPr>
              <a:t>一高考，全称“普通高等学校招生全国统一考试”，简称高考，是目前高中学生升入大学的主要通道。统一高考一直是社会关注度最高、参加人数最多的考试。统一高考成绩，也是国内所有大学都认可的一种招生录取参考依据。统一高考的时间为每年的6月7日和8日。使用的试卷包括全国I 卷、全国II卷和部分省市教育考试院自主命题试卷。未来使用全国卷的省份会越来越多。</a:t>
            </a:r>
            <a:endParaRPr lang="zh-CN" altLang="en-US" b="0" i="0" dirty="0">
              <a:solidFill>
                <a:srgbClr val="FFFFFF"/>
              </a:solidFill>
              <a:latin typeface="微软雅黑" panose="020B0503020204020204" charset="-122"/>
              <a:ea typeface="微软雅黑" panose="020B0503020204020204" charset="-122"/>
            </a:endParaRPr>
          </a:p>
        </p:txBody>
      </p:sp>
      <p:sp>
        <p:nvSpPr>
          <p:cNvPr id="6" name="文本2"/>
          <p:cNvSpPr txBox="1"/>
          <p:nvPr/>
        </p:nvSpPr>
        <p:spPr>
          <a:xfrm>
            <a:off x="8551545" y="1740535"/>
            <a:ext cx="2742565" cy="2976880"/>
          </a:xfrm>
          <a:prstGeom prst="rect">
            <a:avLst/>
          </a:prstGeom>
          <a:noFill/>
        </p:spPr>
        <p:txBody>
          <a:bodyPr wrap="square" rtlCol="0" anchor="t"/>
          <a:lstStyle/>
          <a:p>
            <a:pPr marL="0" algn="l"/>
            <a:r>
              <a:rPr lang="zh-CN" altLang="en-US" sz="3600" b="0" i="0" dirty="0">
                <a:solidFill>
                  <a:schemeClr val="tx1"/>
                </a:solidFill>
                <a:latin typeface="宋体" panose="02010600030101010101" pitchFamily="2" charset="-122"/>
                <a:ea typeface="宋体" panose="02010600030101010101" pitchFamily="2" charset="-122"/>
                <a:cs typeface="宋体" panose="02010600030101010101" pitchFamily="2" charset="-122"/>
              </a:rPr>
              <a:t>3+1+2</a:t>
            </a:r>
            <a:endParaRPr lang="zh-CN" altLang="en-US" sz="3600" b="0" i="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algn="l"/>
            <a:endParaRPr>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algn="l"/>
            <a:endParaRPr>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algn="l"/>
            <a:r>
              <a:rPr lang="zh-CN" altLang="en-US" sz="3600" b="0" i="0" dirty="0">
                <a:solidFill>
                  <a:schemeClr val="tx1"/>
                </a:solidFill>
                <a:latin typeface="宋体" panose="02010600030101010101" pitchFamily="2" charset="-122"/>
                <a:ea typeface="宋体" panose="02010600030101010101" pitchFamily="2" charset="-122"/>
                <a:cs typeface="宋体" panose="02010600030101010101" pitchFamily="2" charset="-122"/>
              </a:rPr>
              <a:t>高考</a:t>
            </a:r>
            <a:endParaRPr lang="zh-CN" altLang="en-US" sz="3600" b="0" i="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p:nvPr/>
        </p:nvPicPr>
        <p:blipFill>
          <a:blip r:embed="rId1"/>
          <a:stretch>
            <a:fillRect/>
          </a:stretch>
        </p:blipFill>
        <p:spPr>
          <a:xfrm>
            <a:off x="2491105" y="0"/>
            <a:ext cx="6735445" cy="67214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591" y="-1000"/>
            <a:ext cx="12191428" cy="6859000"/>
          </a:xfrm>
          <a:prstGeom prst="rect">
            <a:avLst/>
          </a:prstGeom>
        </p:spPr>
      </p:pic>
      <p:pic>
        <p:nvPicPr>
          <p:cNvPr id="3" name="图片2"/>
          <p:cNvPicPr>
            <a:picLocks noChangeAspect="1"/>
          </p:cNvPicPr>
          <p:nvPr/>
        </p:nvPicPr>
        <p:blipFill>
          <a:blip r:embed="rId2"/>
          <a:stretch>
            <a:fillRect/>
          </a:stretch>
        </p:blipFill>
        <p:spPr>
          <a:xfrm>
            <a:off x="4723924" y="-600"/>
            <a:ext cx="7467790" cy="6858667"/>
          </a:xfrm>
          <a:prstGeom prst="rect">
            <a:avLst/>
          </a:prstGeom>
        </p:spPr>
      </p:pic>
      <p:sp>
        <p:nvSpPr>
          <p:cNvPr id="4" name="文本1"/>
          <p:cNvSpPr txBox="1"/>
          <p:nvPr/>
        </p:nvSpPr>
        <p:spPr>
          <a:xfrm>
            <a:off x="6619199" y="2772585"/>
            <a:ext cx="5343525" cy="1862074"/>
          </a:xfrm>
          <a:prstGeom prst="rect">
            <a:avLst/>
          </a:prstGeom>
          <a:noFill/>
        </p:spPr>
        <p:txBody>
          <a:bodyPr wrap="square" rtlCol="0" anchor="t"/>
          <a:lstStyle/>
          <a:p>
            <a:pPr marL="0" algn="l"/>
            <a:r>
              <a:rPr lang="zh-CN" altLang="en-US" sz="2700" b="0" i="0" dirty="0">
                <a:solidFill>
                  <a:srgbClr val="545457"/>
                </a:solidFill>
                <a:latin typeface="方正粗黑宋简体" panose="02000000000000000000" charset="-122"/>
                <a:ea typeface="方正粗黑宋简体" panose="02000000000000000000" charset="-122"/>
              </a:rPr>
              <a:t>无论你决定走何种途径升学，都要知道学习没有捷径，唯一的方法只有自律和勤奋。加油吧！少年!</a:t>
            </a:r>
            <a:endParaRPr lang="zh-CN" altLang="en-US" sz="2700" b="0" i="0" dirty="0">
              <a:solidFill>
                <a:srgbClr val="545457"/>
              </a:solidFill>
              <a:latin typeface="方正粗黑宋简体" panose="02000000000000000000" charset="-122"/>
              <a:ea typeface="方正粗黑宋简体" panose="02000000000000000000" charset="-122"/>
            </a:endParaRPr>
          </a:p>
          <a:p>
            <a:pPr marL="0" algn="l"/>
          </a:p>
        </p:txBody>
      </p:sp>
    </p:spTree>
  </p:cSld>
  <p:clrMapOvr>
    <a:masterClrMapping/>
  </p:clrMapOvr>
</p:sld>
</file>

<file path=ppt/tags/tag1.xml><?xml version="1.0" encoding="utf-8"?>
<p:tagLst xmlns:p="http://schemas.openxmlformats.org/presentationml/2006/main">
  <p:tag name="commondata" val="eyJoZGlkIjoiNjRiYmI3MTQ5ZWUyYTMxZTkyNGRmOTExMTY4NGEwODk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2045</Words>
  <Application>WPS 演示</Application>
  <PresentationFormat>宽屏</PresentationFormat>
  <Paragraphs>167</Paragraphs>
  <Slides>28</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28</vt:i4>
      </vt:variant>
    </vt:vector>
  </HeadingPairs>
  <TitlesOfParts>
    <vt:vector size="43" baseType="lpstr">
      <vt:lpstr>Arial</vt:lpstr>
      <vt:lpstr>宋体</vt:lpstr>
      <vt:lpstr>Wingdings</vt:lpstr>
      <vt:lpstr>方正粗黑宋简体</vt:lpstr>
      <vt:lpstr>爱奇艺黑体 Black</vt:lpstr>
      <vt:lpstr>黑体</vt:lpstr>
      <vt:lpstr>微软雅黑</vt:lpstr>
      <vt:lpstr>Wingdings</vt:lpstr>
      <vt:lpstr>&amp;quot</vt:lpstr>
      <vt:lpstr>Segoe Print</vt:lpstr>
      <vt:lpstr>等线</vt:lpstr>
      <vt:lpstr>Arial Unicode MS</vt:lpstr>
      <vt:lpstr>Calibri</vt:lpstr>
      <vt:lpstr>微软雅黑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上大学的N种途径</dc:title>
  <dc:creator>K7</dc:creator>
  <cp:lastModifiedBy>yA0</cp:lastModifiedBy>
  <cp:revision>12</cp:revision>
  <dcterms:created xsi:type="dcterms:W3CDTF">2024-04-15T13:01:00Z</dcterms:created>
  <dcterms:modified xsi:type="dcterms:W3CDTF">2026-03-10T03:20:47Z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licationName">
    <vt:lpwstr>EasiNote5</vt:lpwstr>
  </property>
  <property fmtid="{D5CDD505-2E9C-101B-9397-08002B2CF9AE}" pid="3" name="ApplicationVersion">
    <vt:lpwstr>5.2.4.6953</vt:lpwstr>
  </property>
  <property fmtid="{D5CDD505-2E9C-101B-9397-08002B2CF9AE}" pid="4" name="EasiNoteCoursewareInfo">
    <vt:lpwstr>e5a6aa59-176a-43b1-847e-648f3cc74010:6</vt:lpwstr>
  </property>
  <property fmtid="{D5CDD505-2E9C-101B-9397-08002B2CF9AE}" pid="5" name="EasiNoteDocumentName">
    <vt:lpwstr>上大学的N种途径</vt:lpwstr>
  </property>
  <property fmtid="{D5CDD505-2E9C-101B-9397-08002B2CF9AE}" pid="6" name="EasiNoteAuthor">
    <vt:lpwstr>d6490b0c12e94c4a869198426c588b95</vt:lpwstr>
  </property>
  <property fmtid="{D5CDD505-2E9C-101B-9397-08002B2CF9AE}" pid="7" name="EasiNoteUpstreamCoursewareInfo_0">
    <vt:lpwstr>9c55e2e5-d89c-4bd4-8da8-6752b40a2801</vt:lpwstr>
  </property>
  <property fmtid="{D5CDD505-2E9C-101B-9397-08002B2CF9AE}" pid="8" name="EasiNoteUpstreamCoursewareInfo_1">
    <vt:lpwstr>65c0c643-9bd7-405a-97a4-558f7bc9a980</vt:lpwstr>
  </property>
  <property fmtid="{D5CDD505-2E9C-101B-9397-08002B2CF9AE}" pid="9" name="EasiNoteUpstreamCoursewareInfo_2">
    <vt:lpwstr>e5a6aa59-176a-43b1-847e-648f3cc74010</vt:lpwstr>
  </property>
  <property fmtid="{D5CDD505-2E9C-101B-9397-08002B2CF9AE}" pid="10" name="ICV">
    <vt:lpwstr>B12B4CC24E6840BABBE7E6D7F89F7ABA_13</vt:lpwstr>
  </property>
  <property fmtid="{D5CDD505-2E9C-101B-9397-08002B2CF9AE}" pid="11" name="KSOProductBuildVer">
    <vt:lpwstr>2052-12.1.0.25225</vt:lpwstr>
  </property>
</Properties>
</file>
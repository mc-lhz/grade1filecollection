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85" r:id="rId4"/>
    <p:sldId id="286" r:id="rId5"/>
    <p:sldId id="287" r:id="rId6"/>
    <p:sldId id="323" r:id="rId7"/>
    <p:sldId id="346" r:id="rId8"/>
    <p:sldId id="259" r:id="rId9"/>
    <p:sldId id="262" r:id="rId10"/>
    <p:sldId id="263" r:id="rId11"/>
    <p:sldId id="264" r:id="rId12"/>
    <p:sldId id="311" r:id="rId13"/>
    <p:sldId id="313" r:id="rId14"/>
    <p:sldId id="272" r:id="rId15"/>
    <p:sldId id="273" r:id="rId16"/>
    <p:sldId id="366" r:id="rId17"/>
    <p:sldId id="314" r:id="rId18"/>
    <p:sldId id="266" r:id="rId19"/>
    <p:sldId id="267" r:id="rId20"/>
    <p:sldId id="268" r:id="rId21"/>
    <p:sldId id="310" r:id="rId22"/>
    <p:sldId id="365" r:id="rId23"/>
    <p:sldId id="269" r:id="rId24"/>
    <p:sldId id="324" r:id="rId25"/>
    <p:sldId id="325" r:id="rId26"/>
    <p:sldId id="270" r:id="rId27"/>
  </p:sldIdLst>
  <p:sldSz cx="13004800" cy="9753600"/>
  <p:notesSz cx="6858000" cy="9144000"/>
  <p:custDataLst>
    <p:tags r:id="rId3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1pPr>
    <a:lvl2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2pPr>
    <a:lvl3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3pPr>
    <a:lvl4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4pPr>
    <a:lvl5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5pPr>
    <a:lvl6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6pPr>
    <a:lvl7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7pPr>
    <a:lvl8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8pPr>
    <a:lvl9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-1722" y="-114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4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</p:spPr>
        <p:txBody>
          <a:bodyPr anchor="b"/>
          <a:lstStyle>
            <a:lvl1pPr>
              <a:defRPr cap="all" spc="232">
                <a:solidFill>
                  <a:srgbClr val="EBEBEB"/>
                </a:solidFill>
                <a:effectLst>
                  <a:outerShdw blurRad="25400" dist="25400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C8C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像"/>
          <p:cNvSpPr>
            <a:spLocks noGrp="1"/>
          </p:cNvSpPr>
          <p:nvPr>
            <p:ph type="pic" sz="half" idx="13"/>
          </p:nvPr>
        </p:nvSpPr>
        <p:spPr>
          <a:xfrm>
            <a:off x="1854200" y="1441449"/>
            <a:ext cx="9612313" cy="48895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2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</p:spPr>
        <p:txBody>
          <a:bodyPr anchor="b"/>
          <a:lstStyle>
            <a:lvl1pPr>
              <a:defRPr cap="all" spc="232">
                <a:solidFill>
                  <a:srgbClr val="EBEBEB"/>
                </a:solidFill>
                <a:effectLst>
                  <a:outerShdw blurRad="25400" dist="25400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</a:lstStyle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C8C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</p:spPr>
        <p:txBody>
          <a:bodyPr/>
          <a:lstStyle>
            <a:lvl1pPr>
              <a:defRPr cap="all" spc="232">
                <a:solidFill>
                  <a:srgbClr val="EBEBEB"/>
                </a:solidFill>
                <a:effectLst>
                  <a:outerShdw blurRad="25400" dist="25400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</a:lstStyle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C8C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像"/>
          <p:cNvSpPr>
            <a:spLocks noGrp="1"/>
          </p:cNvSpPr>
          <p:nvPr>
            <p:ph type="pic" sz="half" idx="13"/>
          </p:nvPr>
        </p:nvSpPr>
        <p:spPr>
          <a:xfrm>
            <a:off x="6743700" y="1193800"/>
            <a:ext cx="5257800" cy="736092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3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/>
            </a:lvl1pPr>
            <a:lvl2pPr marL="0" indent="0" algn="ctr">
              <a:spcBef>
                <a:spcPts val="0"/>
              </a:spcBef>
              <a:buSzTx/>
              <a:buNone/>
              <a:defRPr sz="3600"/>
            </a:lvl2pPr>
            <a:lvl3pPr marL="0" indent="0" algn="ctr">
              <a:spcBef>
                <a:spcPts val="0"/>
              </a:spcBef>
              <a:buSzTx/>
              <a:buNone/>
              <a:defRPr sz="3600"/>
            </a:lvl3pPr>
            <a:lvl4pPr marL="0" indent="0" algn="ctr">
              <a:spcBef>
                <a:spcPts val="0"/>
              </a:spcBef>
              <a:buSzTx/>
              <a:buNone/>
              <a:defRPr sz="3600"/>
            </a:lvl4pPr>
            <a:lvl5pPr marL="0" indent="0" algn="ctr">
              <a:spcBef>
                <a:spcPts val="0"/>
              </a:spcBef>
              <a:buSzTx/>
              <a:buNone/>
              <a:defRPr sz="3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说明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idx="13"/>
          </p:nvPr>
        </p:nvSpPr>
        <p:spPr>
          <a:xfrm>
            <a:off x="1016000" y="1219200"/>
            <a:ext cx="10985500" cy="5588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2 联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图像"/>
          <p:cNvSpPr>
            <a:spLocks noGrp="1"/>
          </p:cNvSpPr>
          <p:nvPr>
            <p:ph type="pic" sz="half" idx="13"/>
          </p:nvPr>
        </p:nvSpPr>
        <p:spPr>
          <a:xfrm>
            <a:off x="1015999" y="1176019"/>
            <a:ext cx="5261430" cy="73660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93" name="图像"/>
          <p:cNvSpPr>
            <a:spLocks noGrp="1"/>
          </p:cNvSpPr>
          <p:nvPr>
            <p:ph type="pic" sz="half" idx="14"/>
          </p:nvPr>
        </p:nvSpPr>
        <p:spPr>
          <a:xfrm>
            <a:off x="6743700" y="1181100"/>
            <a:ext cx="5257800" cy="736092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图像"/>
          <p:cNvSpPr>
            <a:spLocks noGrp="1"/>
          </p:cNvSpPr>
          <p:nvPr>
            <p:ph type="pic" sz="quarter" idx="13"/>
          </p:nvPr>
        </p:nvSpPr>
        <p:spPr>
          <a:xfrm>
            <a:off x="6743700" y="5207000"/>
            <a:ext cx="5257800" cy="34544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2" name="图像"/>
          <p:cNvSpPr>
            <a:spLocks noGrp="1"/>
          </p:cNvSpPr>
          <p:nvPr>
            <p:ph type="pic" sz="quarter" idx="14"/>
          </p:nvPr>
        </p:nvSpPr>
        <p:spPr>
          <a:xfrm>
            <a:off x="6743700" y="1282700"/>
            <a:ext cx="5257800" cy="3429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3" name="图像"/>
          <p:cNvSpPr>
            <a:spLocks noGrp="1"/>
          </p:cNvSpPr>
          <p:nvPr>
            <p:ph type="pic" sz="half" idx="15"/>
          </p:nvPr>
        </p:nvSpPr>
        <p:spPr>
          <a:xfrm>
            <a:off x="1011464" y="1277619"/>
            <a:ext cx="5270501" cy="7378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在此键入引文。”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1270000" y="3841750"/>
            <a:ext cx="10464800" cy="8509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200"/>
            </a:lvl1pPr>
          </a:lstStyle>
          <a:p>
            <a:r>
              <a:t>“在此键入引文。”</a:t>
            </a:r>
          </a:p>
        </p:txBody>
      </p:sp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图像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324599" y="9118599"/>
            <a:ext cx="342901" cy="355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rgbClr val="434343"/>
                </a:solidFill>
                <a:effectLst>
                  <a:outerShdw blurRad="25400" dist="23648" dir="16200000" rotWithShape="0">
                    <a:srgbClr val="000000">
                      <a:alpha val="20689"/>
                    </a:srgbClr>
                  </a:outerShdw>
                </a:effectLst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9pPr>
    </p:titleStyle>
    <p:bodyStyle>
      <a:lvl1pPr marL="4191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1pPr>
      <a:lvl2pPr marL="8382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2pPr>
      <a:lvl3pPr marL="12573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3pPr>
      <a:lvl4pPr marL="16764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4pPr>
      <a:lvl5pPr marL="20955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5pPr>
      <a:lvl6pPr marL="25146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6pPr>
      <a:lvl7pPr marL="29337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7pPr>
      <a:lvl8pPr marL="33528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8pPr>
      <a:lvl9pPr marL="37719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3.jpeg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tags" Target="../tags/tag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生涯规划唤醒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000" spc="319"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smtClean="0"/>
              <a:t>生涯唤醒</a:t>
            </a:r>
            <a:endParaRPr dirty="0"/>
          </a:p>
        </p:txBody>
      </p:sp>
      <p:sp>
        <p:nvSpPr>
          <p:cNvPr id="138" name="王晗炜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王晗炜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sz="half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为什么生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sz="half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为什么死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占位符 4" descr="微信图片_20200910142247"/>
          <p:cNvPicPr>
            <a:picLocks noChangeAspect="1"/>
          </p:cNvPicPr>
          <p:nvPr>
            <p:ph type="pic" sz="half" idx="1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52525" y="594995"/>
            <a:ext cx="11121390" cy="66452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sz="half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为什么学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占位符 4" descr="微信图片_20220902095841"/>
          <p:cNvPicPr>
            <a:picLocks noChangeAspect="1"/>
          </p:cNvPicPr>
          <p:nvPr>
            <p:ph type="pic" sz="half" idx="13"/>
          </p:nvPr>
        </p:nvPicPr>
        <p:blipFill>
          <a:blip r:embed="rId1"/>
          <a:stretch>
            <a:fillRect/>
          </a:stretch>
        </p:blipFill>
        <p:spPr>
          <a:xfrm>
            <a:off x="597535" y="340360"/>
            <a:ext cx="6096000" cy="4572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微信图片_202209020958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00" y="3868420"/>
            <a:ext cx="6096000" cy="5581650"/>
          </a:xfrm>
          <a:prstGeom prst="rect">
            <a:avLst/>
          </a:prstGeom>
        </p:spPr>
      </p:pic>
      <p:pic>
        <p:nvPicPr>
          <p:cNvPr id="2" name="图片 1" descr="16c37b036e36c63072e207ab5afecb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0" y="4949190"/>
            <a:ext cx="4338955" cy="43389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第二部分 生涯唤醒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第</a:t>
            </a:r>
            <a:r>
              <a:rPr lang="zh-CN">
                <a:ea typeface="宋体" panose="02010600030101010101" pitchFamily="2" charset="-122"/>
              </a:rPr>
              <a:t>一</a:t>
            </a:r>
            <a:r>
              <a:t>部分 生涯唤醒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生涯（career），英文原意为两轮马车，可以引申为个人一生的道路或发展途径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defTabSz="608965">
              <a:lnSpc>
                <a:spcPct val="130000"/>
              </a:lnSpc>
              <a:defRPr sz="4000" b="1">
                <a:solidFill>
                  <a:schemeClr val="accent6">
                    <a:satOff val="-5121"/>
                    <a:lumOff val="-28102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楷体" panose="02010609060101010101" charset="-122"/>
              </a:defRPr>
            </a:pPr>
            <a:r>
              <a:t>生涯（career），英文原意为两轮马车，可以引申为个人一生的道路或发展途径。</a:t>
            </a:r>
          </a:p>
        </p:txBody>
      </p:sp>
      <p:sp>
        <p:nvSpPr>
          <p:cNvPr id="166" name="正文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grpSp>
        <p:nvGrpSpPr>
          <p:cNvPr id="169" name="图片 6"/>
          <p:cNvGrpSpPr/>
          <p:nvPr/>
        </p:nvGrpSpPr>
        <p:grpSpPr>
          <a:xfrm rot="1503252">
            <a:off x="6709336" y="2528319"/>
            <a:ext cx="4954209" cy="4046081"/>
            <a:chOff x="0" y="0"/>
            <a:chExt cx="4954207" cy="4046079"/>
          </a:xfrm>
        </p:grpSpPr>
        <p:pic>
          <p:nvPicPr>
            <p:cNvPr id="168" name="图片 6" descr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5899" y="139700"/>
              <a:ext cx="4522409" cy="348728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67" name="图片 6" descr="图片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1"/>
              <a:ext cx="4954209" cy="4046081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什么是生涯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什么是生涯</a:t>
            </a:r>
          </a:p>
        </p:txBody>
      </p:sp>
      <p:sp>
        <p:nvSpPr>
          <p:cNvPr id="172" name="一、生涯唤醒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608965">
              <a:lnSpc>
                <a:spcPct val="130000"/>
              </a:lnSpc>
              <a:spcBef>
                <a:spcPts val="0"/>
              </a:spcBef>
              <a:buSzTx/>
              <a:buNone/>
              <a:defRPr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楷体" panose="02010609060101010101" charset="-122"/>
              </a:defRPr>
            </a:pPr>
            <a:r>
              <a:t>一、生涯唤醒</a:t>
            </a:r>
          </a:p>
          <a:p>
            <a:pPr marL="0" indent="0" defTabSz="608965">
              <a:lnSpc>
                <a:spcPct val="130000"/>
              </a:lnSpc>
              <a:spcBef>
                <a:spcPts val="0"/>
              </a:spcBef>
              <a:buSzTx/>
              <a:buNone/>
              <a:defRPr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楷体" panose="02010609060101010101" charset="-122"/>
              </a:defRPr>
            </a:pPr>
            <a:r>
              <a:t>二、内部探索（性格、兴趣、能力、价值观）</a:t>
            </a:r>
          </a:p>
          <a:p>
            <a:pPr marL="0" indent="0" defTabSz="608965">
              <a:lnSpc>
                <a:spcPct val="130000"/>
              </a:lnSpc>
              <a:spcBef>
                <a:spcPts val="0"/>
              </a:spcBef>
              <a:buSzTx/>
              <a:buNone/>
              <a:defRPr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楷体" panose="02010609060101010101" charset="-122"/>
              </a:defRPr>
            </a:pPr>
            <a:r>
              <a:t>三、外部探索（职业、社会、家庭、政策资源）</a:t>
            </a:r>
          </a:p>
          <a:p>
            <a:pPr marL="0" indent="0" defTabSz="608965">
              <a:lnSpc>
                <a:spcPct val="130000"/>
              </a:lnSpc>
              <a:spcBef>
                <a:spcPts val="0"/>
              </a:spcBef>
              <a:buSzTx/>
              <a:buNone/>
              <a:defRPr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楷体" panose="02010609060101010101" charset="-122"/>
              </a:defRPr>
            </a:pPr>
            <a:r>
              <a:t>四、高考指导（生涯测试、政策解读、选科指导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什么是生涯规划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什么是生涯规划</a:t>
            </a:r>
          </a:p>
        </p:txBody>
      </p:sp>
      <p:grpSp>
        <p:nvGrpSpPr>
          <p:cNvPr id="177" name="图片 2"/>
          <p:cNvGrpSpPr/>
          <p:nvPr/>
        </p:nvGrpSpPr>
        <p:grpSpPr>
          <a:xfrm>
            <a:off x="2321457" y="1646856"/>
            <a:ext cx="8098258" cy="5308935"/>
            <a:chOff x="0" y="0"/>
            <a:chExt cx="8098256" cy="5308933"/>
          </a:xfrm>
        </p:grpSpPr>
        <p:pic>
          <p:nvPicPr>
            <p:cNvPr id="176" name="图片 2" descr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700" y="139700"/>
              <a:ext cx="7818857" cy="500413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75" name="图片 2" descr="图片 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098257" cy="5308934"/>
            </a:xfrm>
            <a:prstGeom prst="rect">
              <a:avLst/>
            </a:prstGeom>
            <a:effectLst/>
          </p:spPr>
        </p:pic>
      </p:grpSp>
      <p:sp>
        <p:nvSpPr>
          <p:cNvPr id="178" name="如何进行生涯规划"/>
          <p:cNvSpPr txBox="1"/>
          <p:nvPr/>
        </p:nvSpPr>
        <p:spPr>
          <a:xfrm>
            <a:off x="4486819" y="723899"/>
            <a:ext cx="37675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如何进行生涯规划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sz="half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生涯选择的目的</a:t>
            </a:r>
            <a:r>
              <a:rPr lang="zh-CN" altLang="en-US"/>
              <a:t>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sz="half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生涯选择的多样</a:t>
            </a:r>
            <a:r>
              <a:rPr lang="zh-CN" altLang="en-US"/>
              <a:t>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half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C:\Users\ADMINI~1\AppData\Local\Temp\WeChat Files\ba66f191a6567e616b4b481ca3738cc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59590" y="2590784"/>
            <a:ext cx="3450391" cy="6819914"/>
          </a:xfrm>
          <a:prstGeom prst="rect">
            <a:avLst/>
          </a:prstGeom>
          <a:noFill/>
        </p:spPr>
      </p:pic>
      <p:pic>
        <p:nvPicPr>
          <p:cNvPr id="1027" name="Picture 3" descr="C:\Users\ADMINI~1\AppData\Local\Temp\WeChat Files\9cdd5c21e5eb310e62511350d139c4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4814" y="876272"/>
            <a:ext cx="3429024" cy="7052270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 descr="C:\Users\ADMINI~1\AppData\Local\Temp\WeChat Files\7c2114226b9d48140df448043f7a2f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501872" y="590520"/>
            <a:ext cx="7762890" cy="4670891"/>
          </a:xfrm>
          <a:prstGeom prst="rect">
            <a:avLst/>
          </a:prstGeom>
          <a:noFill/>
        </p:spPr>
      </p:pic>
      <p:pic>
        <p:nvPicPr>
          <p:cNvPr id="5" name="图片占位符 4" descr="2934349b033b5bb5e92acf8325829c30b700bcac"/>
          <p:cNvPicPr>
            <a:picLocks noChangeAspect="1"/>
          </p:cNvPicPr>
          <p:nvPr>
            <p:ph type="pic" sz="half" idx="13"/>
          </p:nvPr>
        </p:nvPicPr>
        <p:blipFill>
          <a:blip r:embed="rId2"/>
          <a:stretch>
            <a:fillRect/>
          </a:stretch>
        </p:blipFill>
        <p:spPr>
          <a:xfrm>
            <a:off x="4270375" y="5380990"/>
            <a:ext cx="3314700" cy="330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占位符 4" descr="SF6-EWC2025-Xiaohai-wife-02"/>
          <p:cNvPicPr>
            <a:picLocks noChangeAspect="1"/>
          </p:cNvPicPr>
          <p:nvPr>
            <p:ph type="pic" sz="half" idx="13"/>
          </p:nvPr>
        </p:nvPicPr>
        <p:blipFill>
          <a:blip r:embed="rId1"/>
          <a:stretch>
            <a:fillRect/>
          </a:stretch>
        </p:blipFill>
        <p:spPr>
          <a:xfrm>
            <a:off x="814070" y="6101080"/>
            <a:ext cx="5257800" cy="350393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9" name="图片 8" descr="3bf9f8cf-bf95-49e8-a21c-37336a06886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240" y="52705"/>
            <a:ext cx="9743440" cy="58464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sz="half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生涯选择的</a:t>
            </a:r>
            <a:r>
              <a:rPr lang="zh-CN" altLang="en-US"/>
              <a:t>一惯性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不老的传奇——三浦知良"/>
          <p:cNvSpPr txBox="1">
            <a:spLocks noGrp="1"/>
          </p:cNvSpPr>
          <p:nvPr>
            <p:ph type="body" sz="quarter" idx="1"/>
          </p:nvPr>
        </p:nvSpPr>
        <p:spPr>
          <a:xfrm>
            <a:off x="2578100" y="5816600"/>
            <a:ext cx="5207000" cy="660400"/>
          </a:xfrm>
          <a:prstGeom prst="rect">
            <a:avLst/>
          </a:prstGeom>
        </p:spPr>
        <p:txBody>
          <a:bodyPr/>
          <a:lstStyle/>
          <a:p>
            <a:r>
              <a:t>不老的传奇——三浦知良</a:t>
            </a:r>
          </a:p>
        </p:txBody>
      </p:sp>
      <p:grpSp>
        <p:nvGrpSpPr>
          <p:cNvPr id="189" name="WechatIMG5.jpeg"/>
          <p:cNvGrpSpPr/>
          <p:nvPr/>
        </p:nvGrpSpPr>
        <p:grpSpPr>
          <a:xfrm>
            <a:off x="2387600" y="844550"/>
            <a:ext cx="7416800" cy="4965700"/>
            <a:chOff x="0" y="0"/>
            <a:chExt cx="7416800" cy="4965700"/>
          </a:xfrm>
        </p:grpSpPr>
        <p:pic>
          <p:nvPicPr>
            <p:cNvPr id="188" name="WechatIMG5.jpeg" descr="WechatIMG5.jpe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5900" y="139700"/>
              <a:ext cx="6985000" cy="44069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87" name="WechatIMG5.jpeg" descr="WechatIMG5.jpe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416800" cy="496570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WechatIMG6.jpeg"/>
          <p:cNvGrpSpPr/>
          <p:nvPr/>
        </p:nvGrpSpPr>
        <p:grpSpPr>
          <a:xfrm>
            <a:off x="1035050" y="990600"/>
            <a:ext cx="4686300" cy="6438900"/>
            <a:chOff x="0" y="0"/>
            <a:chExt cx="4686300" cy="6438900"/>
          </a:xfrm>
        </p:grpSpPr>
        <p:pic>
          <p:nvPicPr>
            <p:cNvPr id="192" name="WechatIMG6.jpeg" descr="WechatIMG6.jpe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5900" y="139700"/>
              <a:ext cx="4254500" cy="58801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91" name="WechatIMG6.jpeg" descr="WechatIMG6.jpe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686300" cy="6438900"/>
            </a:xfrm>
            <a:prstGeom prst="rect">
              <a:avLst/>
            </a:prstGeom>
            <a:effectLst/>
          </p:spPr>
        </p:pic>
      </p:grpSp>
      <p:grpSp>
        <p:nvGrpSpPr>
          <p:cNvPr id="196" name="WechatIMG4.jpeg"/>
          <p:cNvGrpSpPr/>
          <p:nvPr/>
        </p:nvGrpSpPr>
        <p:grpSpPr>
          <a:xfrm>
            <a:off x="6940549" y="952500"/>
            <a:ext cx="3243748" cy="3574428"/>
            <a:chOff x="0" y="0"/>
            <a:chExt cx="3243746" cy="3574427"/>
          </a:xfrm>
        </p:grpSpPr>
        <p:pic>
          <p:nvPicPr>
            <p:cNvPr id="195" name="WechatIMG4.jpeg" descr="WechatIMG4.jpeg"/>
            <p:cNvPicPr>
              <a:picLocks noChangeAspect="1"/>
            </p:cNvPicPr>
            <p:nvPr/>
          </p:nvPicPr>
          <p:blipFill>
            <a:blip r:embed="rId3"/>
            <a:srcRect r="13393"/>
            <a:stretch>
              <a:fillRect/>
            </a:stretch>
          </p:blipFill>
          <p:spPr>
            <a:xfrm>
              <a:off x="592504" y="139700"/>
              <a:ext cx="2435343" cy="3015629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94" name="WechatIMG4.jpeg" descr="WechatIMG4.jpe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-1" y="0"/>
              <a:ext cx="3243748" cy="3574428"/>
            </a:xfrm>
            <a:prstGeom prst="rect">
              <a:avLst/>
            </a:prstGeom>
            <a:effectLst/>
          </p:spPr>
        </p:pic>
      </p:grpSp>
      <p:grpSp>
        <p:nvGrpSpPr>
          <p:cNvPr id="199" name="WechatIMG3.jpeg"/>
          <p:cNvGrpSpPr/>
          <p:nvPr/>
        </p:nvGrpSpPr>
        <p:grpSpPr>
          <a:xfrm>
            <a:off x="6350000" y="4387850"/>
            <a:ext cx="4729647" cy="3207836"/>
            <a:chOff x="0" y="0"/>
            <a:chExt cx="4729646" cy="3207835"/>
          </a:xfrm>
        </p:grpSpPr>
        <p:pic>
          <p:nvPicPr>
            <p:cNvPr id="198" name="WechatIMG3.jpeg" descr="WechatIMG3.jpe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15900" y="139700"/>
              <a:ext cx="4297847" cy="264903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97" name="WechatIMG3.jpeg" descr="WechatIMG3.jpeg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4729647" cy="3207836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我会一直踢下去，直到生命的最后一刻"/>
          <p:cNvSpPr txBox="1">
            <a:spLocks noGrp="1"/>
          </p:cNvSpPr>
          <p:nvPr>
            <p:ph type="body" sz="quarter" idx="1"/>
          </p:nvPr>
        </p:nvSpPr>
        <p:spPr>
          <a:xfrm>
            <a:off x="1898650" y="8188960"/>
            <a:ext cx="5207000" cy="660400"/>
          </a:xfrm>
          <a:prstGeom prst="rect">
            <a:avLst/>
          </a:prstGeom>
        </p:spPr>
        <p:txBody>
          <a:bodyPr/>
          <a:lstStyle>
            <a:lvl1pPr defTabSz="572770">
              <a:defRPr sz="2350"/>
            </a:lvl1pPr>
          </a:lstStyle>
          <a:p>
            <a:r>
              <a:t>我会一直踢下去，直到生命的最后一刻</a:t>
            </a:r>
          </a:p>
        </p:txBody>
      </p:sp>
      <p:grpSp>
        <p:nvGrpSpPr>
          <p:cNvPr id="204" name="WechatIMG2.jpeg"/>
          <p:cNvGrpSpPr/>
          <p:nvPr/>
        </p:nvGrpSpPr>
        <p:grpSpPr>
          <a:xfrm>
            <a:off x="914399" y="914399"/>
            <a:ext cx="4855498" cy="3325623"/>
            <a:chOff x="0" y="0"/>
            <a:chExt cx="4855496" cy="3325621"/>
          </a:xfrm>
        </p:grpSpPr>
        <p:pic>
          <p:nvPicPr>
            <p:cNvPr id="203" name="WechatIMG2.jpeg" descr="WechatIMG2.jpe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5899" y="139699"/>
              <a:ext cx="4423698" cy="2766823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2" name="WechatIMG2.jpeg" descr="WechatIMG2.jpe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1"/>
              <a:ext cx="4855498" cy="3325623"/>
            </a:xfrm>
            <a:prstGeom prst="rect">
              <a:avLst/>
            </a:prstGeom>
            <a:effectLst/>
          </p:spPr>
        </p:pic>
      </p:grpSp>
      <p:grpSp>
        <p:nvGrpSpPr>
          <p:cNvPr id="207" name="WechatIMG7.jpeg"/>
          <p:cNvGrpSpPr/>
          <p:nvPr/>
        </p:nvGrpSpPr>
        <p:grpSpPr>
          <a:xfrm>
            <a:off x="6565899" y="850900"/>
            <a:ext cx="5410561" cy="2945070"/>
            <a:chOff x="0" y="0"/>
            <a:chExt cx="5410559" cy="2945069"/>
          </a:xfrm>
        </p:grpSpPr>
        <p:pic>
          <p:nvPicPr>
            <p:cNvPr id="206" name="WechatIMG7.jpeg" descr="WechatIMG7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900" y="139700"/>
              <a:ext cx="4978760" cy="238627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5" name="WechatIMG7.jpeg" descr="WechatIMG7.jpe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5410560" cy="2945070"/>
            </a:xfrm>
            <a:prstGeom prst="rect">
              <a:avLst/>
            </a:prstGeom>
            <a:effectLst/>
          </p:spPr>
        </p:pic>
      </p:grpSp>
      <p:grpSp>
        <p:nvGrpSpPr>
          <p:cNvPr id="210" name="WechatIMG8.jpeg"/>
          <p:cNvGrpSpPr/>
          <p:nvPr/>
        </p:nvGrpSpPr>
        <p:grpSpPr>
          <a:xfrm>
            <a:off x="7222669" y="4372610"/>
            <a:ext cx="4330701" cy="2806700"/>
            <a:chOff x="0" y="0"/>
            <a:chExt cx="4330700" cy="2806700"/>
          </a:xfrm>
        </p:grpSpPr>
        <p:pic>
          <p:nvPicPr>
            <p:cNvPr id="209" name="WechatIMG8.jpeg" descr="WechatIMG8.jpe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5900" y="139700"/>
              <a:ext cx="3898900" cy="22479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8" name="WechatIMG8.jpeg" descr="WechatIMG8.jpeg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4330700" cy="280670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a8773912b31bb0516d155aa75ba0f6bc4bede06b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33040" y="59690"/>
            <a:ext cx="7737475" cy="96723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98435" y="1564640"/>
            <a:ext cx="4672330" cy="5956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25" y="772160"/>
            <a:ext cx="5353050" cy="76517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213" name="矩形 1"/>
          <p:cNvSpPr/>
          <p:nvPr/>
        </p:nvSpPr>
        <p:spPr>
          <a:xfrm>
            <a:off x="127000" y="3414486"/>
            <a:ext cx="12192000" cy="3570514"/>
          </a:xfrm>
          <a:prstGeom prst="rect">
            <a:avLst/>
          </a:prstGeom>
          <a:solidFill>
            <a:srgbClr val="AACED2"/>
          </a:solidFill>
          <a:ln w="12700">
            <a:miter lim="400000"/>
          </a:ln>
        </p:spPr>
        <p:txBody>
          <a:bodyPr lIns="45719" rIns="45719" anchor="ctr"/>
          <a:lstStyle/>
          <a:p>
            <a:pPr defTabSz="913765">
              <a:defRPr sz="1800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</a:p>
        </p:txBody>
      </p:sp>
      <p:grpSp>
        <p:nvGrpSpPr>
          <p:cNvPr id="216" name="组 2"/>
          <p:cNvGrpSpPr/>
          <p:nvPr/>
        </p:nvGrpSpPr>
        <p:grpSpPr>
          <a:xfrm>
            <a:off x="1535826" y="3199931"/>
            <a:ext cx="429109" cy="429110"/>
            <a:chOff x="0" y="0"/>
            <a:chExt cx="429108" cy="429108"/>
          </a:xfrm>
        </p:grpSpPr>
        <p:sp>
          <p:nvSpPr>
            <p:cNvPr id="214" name="椭圆 3"/>
            <p:cNvSpPr/>
            <p:nvPr/>
          </p:nvSpPr>
          <p:spPr>
            <a:xfrm>
              <a:off x="-1" y="-1"/>
              <a:ext cx="429110" cy="429110"/>
            </a:xfrm>
            <a:prstGeom prst="ellipse">
              <a:avLst/>
            </a:prstGeom>
            <a:solidFill>
              <a:srgbClr val="FAA0AA"/>
            </a:solidFill>
            <a:ln w="12700" cap="flat">
              <a:noFill/>
              <a:miter lim="400000"/>
            </a:ln>
            <a:effectLst>
              <a:outerShdw blurRad="63500" rotWithShape="0">
                <a:srgbClr val="000000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3765">
                <a:defRPr sz="1800">
                  <a:solidFill>
                    <a:srgbClr val="FFFFFF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215" name="L 形 4"/>
            <p:cNvSpPr/>
            <p:nvPr/>
          </p:nvSpPr>
          <p:spPr>
            <a:xfrm rot="18900000">
              <a:off x="106341" y="121277"/>
              <a:ext cx="216425" cy="128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640" y="0"/>
                  </a:lnTo>
                  <a:lnTo>
                    <a:pt x="2640" y="16890"/>
                  </a:lnTo>
                  <a:lnTo>
                    <a:pt x="21600" y="1689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3765">
                <a:defRPr sz="1800">
                  <a:solidFill>
                    <a:srgbClr val="FFFFFF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</p:grpSp>
      <p:sp>
        <p:nvSpPr>
          <p:cNvPr id="217" name="矩形 6"/>
          <p:cNvSpPr txBox="1"/>
          <p:nvPr/>
        </p:nvSpPr>
        <p:spPr>
          <a:xfrm>
            <a:off x="594529" y="3843594"/>
            <a:ext cx="2555425" cy="4470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defTabSz="608965">
              <a:lnSpc>
                <a:spcPct val="130000"/>
              </a:lnSpc>
              <a:defRPr sz="2000" b="1">
                <a:solidFill>
                  <a:srgbClr val="000000"/>
                </a:solidFill>
                <a:effectLst>
                  <a:outerShdw blurRad="38100" dist="19050" dir="2700000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青春年少时的学业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20" name="组 13"/>
          <p:cNvGrpSpPr/>
          <p:nvPr/>
        </p:nvGrpSpPr>
        <p:grpSpPr>
          <a:xfrm>
            <a:off x="4423302" y="3199931"/>
            <a:ext cx="429109" cy="429110"/>
            <a:chOff x="0" y="0"/>
            <a:chExt cx="429108" cy="429108"/>
          </a:xfrm>
        </p:grpSpPr>
        <p:sp>
          <p:nvSpPr>
            <p:cNvPr id="218" name="椭圆 14"/>
            <p:cNvSpPr/>
            <p:nvPr/>
          </p:nvSpPr>
          <p:spPr>
            <a:xfrm>
              <a:off x="-1" y="-1"/>
              <a:ext cx="429110" cy="429110"/>
            </a:xfrm>
            <a:prstGeom prst="ellipse">
              <a:avLst/>
            </a:prstGeom>
            <a:solidFill>
              <a:srgbClr val="F87987"/>
            </a:solidFill>
            <a:ln w="12700" cap="flat">
              <a:noFill/>
              <a:miter lim="400000"/>
            </a:ln>
            <a:effectLst>
              <a:outerShdw blurRad="63500" rotWithShape="0">
                <a:srgbClr val="000000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3765">
                <a:defRPr sz="1800">
                  <a:solidFill>
                    <a:srgbClr val="FFFFFF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219" name="L 形 15"/>
            <p:cNvSpPr/>
            <p:nvPr/>
          </p:nvSpPr>
          <p:spPr>
            <a:xfrm rot="18900000">
              <a:off x="106341" y="121277"/>
              <a:ext cx="216425" cy="128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640" y="0"/>
                  </a:lnTo>
                  <a:lnTo>
                    <a:pt x="2640" y="16890"/>
                  </a:lnTo>
                  <a:lnTo>
                    <a:pt x="21600" y="1689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3765">
                <a:defRPr sz="1800">
                  <a:solidFill>
                    <a:srgbClr val="FFFFFF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</p:grpSp>
      <p:sp>
        <p:nvSpPr>
          <p:cNvPr id="221" name="矩形 17"/>
          <p:cNvSpPr txBox="1"/>
          <p:nvPr/>
        </p:nvSpPr>
        <p:spPr>
          <a:xfrm>
            <a:off x="3482006" y="3843594"/>
            <a:ext cx="2555425" cy="4470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defTabSz="608965">
              <a:lnSpc>
                <a:spcPct val="130000"/>
              </a:lnSpc>
              <a:defRPr sz="2000" b="1">
                <a:solidFill>
                  <a:srgbClr val="000000"/>
                </a:solidFill>
                <a:effectLst>
                  <a:outerShdw blurRad="38100" dist="19050" dir="2700000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进入职场后的职业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24" name="组 21"/>
          <p:cNvGrpSpPr/>
          <p:nvPr/>
        </p:nvGrpSpPr>
        <p:grpSpPr>
          <a:xfrm>
            <a:off x="7310777" y="3199931"/>
            <a:ext cx="429109" cy="429110"/>
            <a:chOff x="0" y="0"/>
            <a:chExt cx="429108" cy="429108"/>
          </a:xfrm>
        </p:grpSpPr>
        <p:sp>
          <p:nvSpPr>
            <p:cNvPr id="222" name="椭圆 24"/>
            <p:cNvSpPr/>
            <p:nvPr/>
          </p:nvSpPr>
          <p:spPr>
            <a:xfrm>
              <a:off x="-1" y="-1"/>
              <a:ext cx="429110" cy="429110"/>
            </a:xfrm>
            <a:prstGeom prst="ellipse">
              <a:avLst/>
            </a:prstGeom>
            <a:solidFill>
              <a:srgbClr val="009FB8"/>
            </a:solidFill>
            <a:ln w="12700" cap="flat">
              <a:noFill/>
              <a:miter lim="400000"/>
            </a:ln>
            <a:effectLst>
              <a:outerShdw blurRad="63500" rotWithShape="0">
                <a:srgbClr val="000000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3765">
                <a:defRPr sz="1800">
                  <a:solidFill>
                    <a:srgbClr val="FFFFFF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223" name="L 形 25"/>
            <p:cNvSpPr/>
            <p:nvPr/>
          </p:nvSpPr>
          <p:spPr>
            <a:xfrm rot="18900000">
              <a:off x="106341" y="121277"/>
              <a:ext cx="216425" cy="128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640" y="0"/>
                  </a:lnTo>
                  <a:lnTo>
                    <a:pt x="2640" y="16890"/>
                  </a:lnTo>
                  <a:lnTo>
                    <a:pt x="21600" y="1689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3765">
                <a:defRPr sz="1800">
                  <a:solidFill>
                    <a:srgbClr val="FFFFFF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</p:grpSp>
      <p:sp>
        <p:nvSpPr>
          <p:cNvPr id="225" name="矩形 23"/>
          <p:cNvSpPr txBox="1"/>
          <p:nvPr/>
        </p:nvSpPr>
        <p:spPr>
          <a:xfrm>
            <a:off x="6369482" y="3843594"/>
            <a:ext cx="2555425" cy="4470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defTabSz="608965">
              <a:lnSpc>
                <a:spcPct val="130000"/>
              </a:lnSpc>
              <a:defRPr sz="2000" b="1">
                <a:solidFill>
                  <a:srgbClr val="000000"/>
                </a:solidFill>
                <a:effectLst>
                  <a:outerShdw blurRad="38100" dist="19050" dir="2700000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有所成就之后的事业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28" name="组 27"/>
          <p:cNvGrpSpPr/>
          <p:nvPr/>
        </p:nvGrpSpPr>
        <p:grpSpPr>
          <a:xfrm>
            <a:off x="10198254" y="3199931"/>
            <a:ext cx="429109" cy="429110"/>
            <a:chOff x="0" y="0"/>
            <a:chExt cx="429108" cy="429108"/>
          </a:xfrm>
        </p:grpSpPr>
        <p:sp>
          <p:nvSpPr>
            <p:cNvPr id="226" name="椭圆 30"/>
            <p:cNvSpPr/>
            <p:nvPr/>
          </p:nvSpPr>
          <p:spPr>
            <a:xfrm>
              <a:off x="-1" y="-1"/>
              <a:ext cx="429110" cy="429110"/>
            </a:xfrm>
            <a:prstGeom prst="ellipse">
              <a:avLst/>
            </a:prstGeom>
            <a:solidFill>
              <a:srgbClr val="D5928E"/>
            </a:solidFill>
            <a:ln w="12700" cap="flat">
              <a:noFill/>
              <a:miter lim="400000"/>
            </a:ln>
            <a:effectLst>
              <a:outerShdw blurRad="63500" rotWithShape="0">
                <a:srgbClr val="000000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3765">
                <a:defRPr sz="1800">
                  <a:solidFill>
                    <a:srgbClr val="FFFFFF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227" name="L 形 31"/>
            <p:cNvSpPr/>
            <p:nvPr/>
          </p:nvSpPr>
          <p:spPr>
            <a:xfrm rot="18900000">
              <a:off x="106341" y="121277"/>
              <a:ext cx="216425" cy="128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640" y="0"/>
                  </a:lnTo>
                  <a:lnTo>
                    <a:pt x="2640" y="16890"/>
                  </a:lnTo>
                  <a:lnTo>
                    <a:pt x="21600" y="1689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3765">
                <a:defRPr sz="1800">
                  <a:solidFill>
                    <a:srgbClr val="FFFFFF"/>
                  </a:solidFill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</p:grpSp>
      <p:sp>
        <p:nvSpPr>
          <p:cNvPr id="229" name="矩形 29"/>
          <p:cNvSpPr txBox="1"/>
          <p:nvPr/>
        </p:nvSpPr>
        <p:spPr>
          <a:xfrm>
            <a:off x="9256958" y="3843594"/>
            <a:ext cx="2555425" cy="4470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defTabSz="608965">
              <a:lnSpc>
                <a:spcPct val="130000"/>
              </a:lnSpc>
              <a:defRPr sz="2000" b="1">
                <a:solidFill>
                  <a:srgbClr val="000000"/>
                </a:solidFill>
                <a:effectLst>
                  <a:outerShdw blurRad="38100" dist="19050" dir="2700000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愿景、使命、梦想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0" name="文本框 7"/>
          <p:cNvSpPr txBox="1"/>
          <p:nvPr/>
        </p:nvSpPr>
        <p:spPr>
          <a:xfrm>
            <a:off x="2169159" y="1336675"/>
            <a:ext cx="8028941" cy="9423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l" defTabSz="913765">
              <a:defRPr sz="4800" b="1">
                <a:solidFill>
                  <a:srgbClr val="000000"/>
                </a:solidFill>
                <a:effectLst>
                  <a:outerShdw blurRad="38100" dist="19050" dir="2700000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生涯的成功是一个连续的过程</a:t>
            </a:r>
          </a:p>
        </p:txBody>
      </p:sp>
      <p:sp>
        <p:nvSpPr>
          <p:cNvPr id="231" name="形状 8"/>
          <p:cNvSpPr/>
          <p:nvPr/>
        </p:nvSpPr>
        <p:spPr>
          <a:xfrm>
            <a:off x="2136821" y="4382075"/>
            <a:ext cx="1782675" cy="550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188" extrusionOk="0">
                <a:moveTo>
                  <a:pt x="0" y="842"/>
                </a:moveTo>
                <a:lnTo>
                  <a:pt x="575" y="0"/>
                </a:lnTo>
                <a:lnTo>
                  <a:pt x="575" y="0"/>
                </a:lnTo>
                <a:cubicBezTo>
                  <a:pt x="3814" y="14688"/>
                  <a:pt x="11062" y="19833"/>
                  <a:pt x="16764" y="11492"/>
                </a:cubicBezTo>
                <a:cubicBezTo>
                  <a:pt x="18303" y="9240"/>
                  <a:pt x="19627" y="6132"/>
                  <a:pt x="20640" y="2393"/>
                </a:cubicBezTo>
                <a:lnTo>
                  <a:pt x="20257" y="1833"/>
                </a:lnTo>
                <a:lnTo>
                  <a:pt x="21513" y="421"/>
                </a:lnTo>
                <a:lnTo>
                  <a:pt x="21600" y="3797"/>
                </a:lnTo>
                <a:lnTo>
                  <a:pt x="21217" y="3238"/>
                </a:lnTo>
                <a:lnTo>
                  <a:pt x="21217" y="3238"/>
                </a:lnTo>
                <a:cubicBezTo>
                  <a:pt x="17285" y="17914"/>
                  <a:pt x="9478" y="21600"/>
                  <a:pt x="3780" y="11471"/>
                </a:cubicBezTo>
                <a:cubicBezTo>
                  <a:pt x="2225" y="8707"/>
                  <a:pt x="933" y="5073"/>
                  <a:pt x="0" y="842"/>
                </a:cubicBezTo>
                <a:close/>
              </a:path>
            </a:pathLst>
          </a:custGeom>
          <a:solidFill>
            <a:srgbClr val="FAA0AA"/>
          </a:solidFill>
          <a:ln w="12700">
            <a:miter lim="400000"/>
          </a:ln>
        </p:spPr>
        <p:txBody>
          <a:bodyPr lIns="45719" rIns="45719"/>
          <a:lstStyle/>
          <a:p>
            <a:pPr algn="l" defTabSz="913765">
              <a:defRPr sz="1800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</a:p>
        </p:txBody>
      </p:sp>
      <p:sp>
        <p:nvSpPr>
          <p:cNvPr id="232" name="环形箭头 19"/>
          <p:cNvSpPr/>
          <p:nvPr/>
        </p:nvSpPr>
        <p:spPr>
          <a:xfrm>
            <a:off x="5186734" y="2790039"/>
            <a:ext cx="2011977" cy="6174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029" extrusionOk="0">
                <a:moveTo>
                  <a:pt x="0" y="16285"/>
                </a:moveTo>
                <a:lnTo>
                  <a:pt x="0" y="16285"/>
                </a:lnTo>
                <a:cubicBezTo>
                  <a:pt x="3415" y="839"/>
                  <a:pt x="11057" y="-4571"/>
                  <a:pt x="17070" y="4200"/>
                </a:cubicBezTo>
                <a:cubicBezTo>
                  <a:pt x="18747" y="6647"/>
                  <a:pt x="20181" y="10055"/>
                  <a:pt x="21261" y="14160"/>
                </a:cubicBezTo>
                <a:lnTo>
                  <a:pt x="21600" y="13665"/>
                </a:lnTo>
                <a:lnTo>
                  <a:pt x="21519" y="16657"/>
                </a:lnTo>
                <a:lnTo>
                  <a:pt x="20410" y="15401"/>
                </a:lnTo>
                <a:lnTo>
                  <a:pt x="20749" y="14907"/>
                </a:lnTo>
                <a:lnTo>
                  <a:pt x="20749" y="14907"/>
                </a:lnTo>
                <a:cubicBezTo>
                  <a:pt x="17038" y="915"/>
                  <a:pt x="9614" y="-2700"/>
                  <a:pt x="4168" y="6833"/>
                </a:cubicBezTo>
                <a:cubicBezTo>
                  <a:pt x="2661" y="9469"/>
                  <a:pt x="1410" y="12957"/>
                  <a:pt x="510" y="17029"/>
                </a:cubicBezTo>
                <a:close/>
              </a:path>
            </a:pathLst>
          </a:custGeom>
          <a:solidFill>
            <a:srgbClr val="FFBBB3"/>
          </a:solidFill>
          <a:ln w="12700">
            <a:miter lim="400000"/>
          </a:ln>
        </p:spPr>
        <p:txBody>
          <a:bodyPr lIns="45719" rIns="45719"/>
          <a:lstStyle/>
          <a:p>
            <a:pPr algn="l" defTabSz="913765">
              <a:defRPr sz="1800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</a:p>
        </p:txBody>
      </p:sp>
      <p:sp>
        <p:nvSpPr>
          <p:cNvPr id="233" name="形状 20"/>
          <p:cNvSpPr/>
          <p:nvPr/>
        </p:nvSpPr>
        <p:spPr>
          <a:xfrm>
            <a:off x="8564284" y="4382075"/>
            <a:ext cx="1782674" cy="550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188" extrusionOk="0">
                <a:moveTo>
                  <a:pt x="0" y="842"/>
                </a:moveTo>
                <a:lnTo>
                  <a:pt x="575" y="0"/>
                </a:lnTo>
                <a:lnTo>
                  <a:pt x="575" y="0"/>
                </a:lnTo>
                <a:cubicBezTo>
                  <a:pt x="3814" y="14688"/>
                  <a:pt x="11062" y="19833"/>
                  <a:pt x="16764" y="11492"/>
                </a:cubicBezTo>
                <a:cubicBezTo>
                  <a:pt x="18303" y="9240"/>
                  <a:pt x="19627" y="6132"/>
                  <a:pt x="20640" y="2393"/>
                </a:cubicBezTo>
                <a:lnTo>
                  <a:pt x="20257" y="1833"/>
                </a:lnTo>
                <a:lnTo>
                  <a:pt x="21513" y="421"/>
                </a:lnTo>
                <a:lnTo>
                  <a:pt x="21600" y="3797"/>
                </a:lnTo>
                <a:lnTo>
                  <a:pt x="21217" y="3238"/>
                </a:lnTo>
                <a:lnTo>
                  <a:pt x="21217" y="3238"/>
                </a:lnTo>
                <a:cubicBezTo>
                  <a:pt x="17285" y="17914"/>
                  <a:pt x="9478" y="21600"/>
                  <a:pt x="3780" y="11471"/>
                </a:cubicBezTo>
                <a:cubicBezTo>
                  <a:pt x="2225" y="8707"/>
                  <a:pt x="933" y="5073"/>
                  <a:pt x="0" y="842"/>
                </a:cubicBezTo>
                <a:close/>
              </a:path>
            </a:pathLst>
          </a:custGeom>
          <a:solidFill>
            <a:srgbClr val="F5E5E4"/>
          </a:solidFill>
          <a:ln w="12700">
            <a:miter lim="400000"/>
          </a:ln>
        </p:spPr>
        <p:txBody>
          <a:bodyPr lIns="45719" rIns="45719"/>
          <a:lstStyle/>
          <a:p>
            <a:pPr algn="l" defTabSz="913765">
              <a:defRPr sz="1800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第一部分 学生发展中心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第</a:t>
            </a:r>
            <a:r>
              <a:rPr lang="zh-CN">
                <a:ea typeface="宋体" panose="02010600030101010101" pitchFamily="2" charset="-122"/>
              </a:rPr>
              <a:t>二</a:t>
            </a:r>
            <a:r>
              <a:t>部分 学生发展中心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前身为心理健康中心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defTabSz="608965">
              <a:lnSpc>
                <a:spcPct val="130000"/>
              </a:lnSpc>
              <a:defRPr sz="2400" b="1">
                <a:solidFill>
                  <a:schemeClr val="accent6">
                    <a:satOff val="-5120"/>
                    <a:lumOff val="-28101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前身为</a:t>
            </a:r>
            <a:r>
              <a:rPr sz="4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心理健康中心</a:t>
            </a:r>
            <a:endParaRPr sz="4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3" name="为学生提供心理辅导与咨询服务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l" defTabSz="608965">
              <a:lnSpc>
                <a:spcPct val="130000"/>
              </a:lnSpc>
              <a:defRPr sz="2000" b="1">
                <a:solidFill>
                  <a:schemeClr val="accent6">
                    <a:lumOff val="-15678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为学生提供心理辅导与咨询服务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l" defTabSz="608965">
              <a:lnSpc>
                <a:spcPct val="130000"/>
              </a:lnSpc>
              <a:defRPr sz="2000">
                <a:solidFill>
                  <a:schemeClr val="accent6">
                    <a:lumOff val="-15678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楷体" panose="02010609060101010101" charset="-122"/>
              </a:defRPr>
            </a:pPr>
            <a:r>
              <a:t>  ❀学业               ❀青春期心理</a:t>
            </a:r>
          </a:p>
          <a:p>
            <a:pPr algn="l" defTabSz="608965">
              <a:lnSpc>
                <a:spcPct val="130000"/>
              </a:lnSpc>
              <a:defRPr sz="2000">
                <a:solidFill>
                  <a:schemeClr val="accent6">
                    <a:lumOff val="-15678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楷体" panose="02010609060101010101" charset="-122"/>
              </a:defRPr>
            </a:pPr>
            <a:r>
              <a:t>❀亲子关系          ❀情绪管理</a:t>
            </a:r>
          </a:p>
          <a:p>
            <a:pPr algn="l" defTabSz="608965">
              <a:lnSpc>
                <a:spcPct val="130000"/>
              </a:lnSpc>
              <a:defRPr sz="2000">
                <a:solidFill>
                  <a:schemeClr val="accent6">
                    <a:lumOff val="-15678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楷体" panose="02010609060101010101" charset="-122"/>
              </a:defRPr>
            </a:pPr>
            <a:r>
              <a:t>  ❀恋爱               ❀个人发展</a:t>
            </a:r>
          </a:p>
        </p:txBody>
      </p:sp>
      <p:grpSp>
        <p:nvGrpSpPr>
          <p:cNvPr id="146" name="图片 1"/>
          <p:cNvGrpSpPr/>
          <p:nvPr/>
        </p:nvGrpSpPr>
        <p:grpSpPr>
          <a:xfrm>
            <a:off x="6230616" y="1969135"/>
            <a:ext cx="6283968" cy="4832060"/>
            <a:chOff x="0" y="0"/>
            <a:chExt cx="6283966" cy="4832059"/>
          </a:xfrm>
        </p:grpSpPr>
        <p:pic>
          <p:nvPicPr>
            <p:cNvPr id="145" name="图片 1" descr="图片 1"/>
            <p:cNvPicPr>
              <a:picLocks noChangeAspect="1"/>
            </p:cNvPicPr>
            <p:nvPr/>
          </p:nvPicPr>
          <p:blipFill>
            <a:blip r:embed="rId1" cstate="print"/>
            <a:srcRect b="2643"/>
            <a:stretch>
              <a:fillRect/>
            </a:stretch>
          </p:blipFill>
          <p:spPr>
            <a:xfrm>
              <a:off x="215900" y="139700"/>
              <a:ext cx="5852167" cy="427326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44" name="图片 1" descr="图片 1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6283968" cy="483206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–Johnny Appleseed"/>
          <p:cNvSpPr txBox="1">
            <a:spLocks noGrp="1"/>
          </p:cNvSpPr>
          <p:nvPr>
            <p:ph type="body" idx="13"/>
          </p:nvPr>
        </p:nvSpPr>
        <p:spPr>
          <a:xfrm>
            <a:off x="1270000" y="6362700"/>
            <a:ext cx="10464800" cy="59503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36" name="“在此键入引文。”"/>
          <p:cNvSpPr txBox="1">
            <a:spLocks noGrp="1"/>
          </p:cNvSpPr>
          <p:nvPr>
            <p:ph type="body" idx="14"/>
          </p:nvPr>
        </p:nvSpPr>
        <p:spPr>
          <a:xfrm>
            <a:off x="1270000" y="3841750"/>
            <a:ext cx="10464800" cy="7489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别让任何人打乱你的人生节奏</a:t>
            </a:r>
            <a:endParaRPr dirty="0"/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PLACING_PICTURE_USER_VIEWPORT" val="{&quot;height&quot;:5745,&quot;width&quot;:9615}"/>
</p:tagLst>
</file>

<file path=ppt/tags/tag2.xml><?xml version="1.0" encoding="utf-8"?>
<p:tagLst xmlns:p="http://schemas.openxmlformats.org/presentationml/2006/main">
  <p:tag name="KSO_WM_UNIT_PLACING_PICTURE_USER_VIEWPORT" val="{&quot;height&quot;:12000,&quot;width&quot;:9600}"/>
</p:tagLst>
</file>

<file path=ppt/tags/tag3.xml><?xml version="1.0" encoding="utf-8"?>
<p:tagLst xmlns:p="http://schemas.openxmlformats.org/presentationml/2006/main">
  <p:tag name="KSO_WM_UNIT_PLACING_PICTURE_USER_VIEWPORT" val="{&quot;height&quot;:14290,&quot;width&quot;:11210}"/>
</p:tagLst>
</file>

<file path=ppt/tags/tag4.xml><?xml version="1.0" encoding="utf-8"?>
<p:tagLst xmlns:p="http://schemas.openxmlformats.org/presentationml/2006/main">
  <p:tag name="COMMONDATA" val="eyJoZGlkIjoiOTIxMWY3Y2NkYTVkNDQ4OWMyYzViZDlhOGNlNjFmZm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theme/theme1.xml><?xml version="1.0" encoding="utf-8"?>
<a:theme xmlns:a="http://schemas.openxmlformats.org/drawingml/2006/main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PhotoPortfolio">
      <a:majorFont>
        <a:latin typeface="Baskerville"/>
        <a:ea typeface="Baskerville"/>
        <a:cs typeface="Baskerville"/>
      </a:majorFont>
      <a:minorFont>
        <a:latin typeface="Cochin"/>
        <a:ea typeface="Cochin"/>
        <a:cs typeface="Cochin"/>
      </a:minorFont>
    </a:fontScheme>
    <a:fmtScheme name="Photo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38100" dir="5400000" rotWithShape="0">
            <a:srgbClr val="000000">
              <a:alpha val="4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51515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72675A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PhotoPortfolio">
      <a:majorFont>
        <a:latin typeface="Baskerville"/>
        <a:ea typeface="Baskerville"/>
        <a:cs typeface="Baskerville"/>
      </a:majorFont>
      <a:minorFont>
        <a:latin typeface="Cochin"/>
        <a:ea typeface="Cochin"/>
        <a:cs typeface="Cochin"/>
      </a:minorFont>
    </a:fontScheme>
    <a:fmtScheme name="Photo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38100" dir="5400000" rotWithShape="0">
            <a:srgbClr val="000000">
              <a:alpha val="4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51515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72675A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WPS 演示</Application>
  <PresentationFormat>自定义</PresentationFormat>
  <Paragraphs>56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7" baseType="lpstr">
      <vt:lpstr>Arial</vt:lpstr>
      <vt:lpstr>宋体</vt:lpstr>
      <vt:lpstr>Wingdings</vt:lpstr>
      <vt:lpstr>Baskerville</vt:lpstr>
      <vt:lpstr>Segoe Print</vt:lpstr>
      <vt:lpstr>Cochin</vt:lpstr>
      <vt:lpstr>Bradley Hand ITC TT-Bold</vt:lpstr>
      <vt:lpstr>Helvetica Neue</vt:lpstr>
      <vt:lpstr>PingFang SC Regular</vt:lpstr>
      <vt:lpstr>楷体</vt:lpstr>
      <vt:lpstr>微软雅黑</vt:lpstr>
      <vt:lpstr>Arial Unicode MS</vt:lpstr>
      <vt:lpstr>Century Gothic</vt:lpstr>
      <vt:lpstr>Calibri Light</vt:lpstr>
      <vt:lpstr>Gabriola</vt:lpstr>
      <vt:lpstr>Corbel</vt:lpstr>
      <vt:lpstr>Noto Sans SC Thin</vt:lpstr>
      <vt:lpstr>Miss Sweetie</vt:lpstr>
      <vt:lpstr>Saturday Sans Regular</vt:lpstr>
      <vt:lpstr>Yu Gothic</vt:lpstr>
      <vt:lpstr>Baskerville</vt:lpstr>
      <vt:lpstr>PhotoPortfolio</vt:lpstr>
      <vt:lpstr>生涯唤醒</vt:lpstr>
      <vt:lpstr>为什么生</vt:lpstr>
      <vt:lpstr>为什么死</vt:lpstr>
      <vt:lpstr>PowerPoint 演示文稿</vt:lpstr>
      <vt:lpstr>为什么学</vt:lpstr>
      <vt:lpstr>PowerPoint 演示文稿</vt:lpstr>
      <vt:lpstr>第一部分 生涯唤醒</vt:lpstr>
      <vt:lpstr>生涯（career），英文原意为两轮马车，可以引申为个人一生的道路或发展途径。</vt:lpstr>
      <vt:lpstr>什么是生涯</vt:lpstr>
      <vt:lpstr>什么是生涯规划</vt:lpstr>
      <vt:lpstr>生涯选择的目的性</vt:lpstr>
      <vt:lpstr>生涯选择的多样性</vt:lpstr>
      <vt:lpstr>PowerPoint 演示文稿</vt:lpstr>
      <vt:lpstr>PowerPoint 演示文稿</vt:lpstr>
      <vt:lpstr>PowerPoint 演示文稿</vt:lpstr>
      <vt:lpstr>生涯选择的一惯性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第二部分 学生发展中心</vt:lpstr>
      <vt:lpstr>前身为心理健康中心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生涯规划唤醒</dc:title>
  <dc:creator/>
  <cp:lastModifiedBy>yA0</cp:lastModifiedBy>
  <cp:revision>27</cp:revision>
  <dcterms:created xsi:type="dcterms:W3CDTF">2020-09-10T01:57:00Z</dcterms:created>
  <dcterms:modified xsi:type="dcterms:W3CDTF">2025-08-31T22:42:52Z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09AF9FE9DDCF4763814B63B4FD27A734_13</vt:lpwstr>
  </property>
</Properties>
</file>
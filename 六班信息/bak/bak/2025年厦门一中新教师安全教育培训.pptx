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80" r:id="rId2"/>
    <p:sldId id="279" r:id="rId3"/>
    <p:sldId id="261" r:id="rId4"/>
    <p:sldId id="259" r:id="rId5"/>
    <p:sldId id="306" r:id="rId6"/>
    <p:sldId id="310" r:id="rId7"/>
    <p:sldId id="388" r:id="rId8"/>
    <p:sldId id="390" r:id="rId9"/>
    <p:sldId id="260" r:id="rId10"/>
    <p:sldId id="258" r:id="rId11"/>
    <p:sldId id="308" r:id="rId12"/>
    <p:sldId id="309" r:id="rId13"/>
    <p:sldId id="307" r:id="rId14"/>
    <p:sldId id="262" r:id="rId15"/>
    <p:sldId id="263" r:id="rId16"/>
    <p:sldId id="264" r:id="rId17"/>
    <p:sldId id="303" r:id="rId18"/>
    <p:sldId id="290" r:id="rId19"/>
    <p:sldId id="291" r:id="rId20"/>
    <p:sldId id="292" r:id="rId21"/>
    <p:sldId id="294" r:id="rId22"/>
    <p:sldId id="293" r:id="rId23"/>
    <p:sldId id="297" r:id="rId24"/>
    <p:sldId id="295" r:id="rId25"/>
    <p:sldId id="296" r:id="rId26"/>
    <p:sldId id="298" r:id="rId27"/>
    <p:sldId id="299" r:id="rId28"/>
    <p:sldId id="300" r:id="rId29"/>
    <p:sldId id="301" r:id="rId30"/>
    <p:sldId id="302" r:id="rId31"/>
    <p:sldId id="304" r:id="rId32"/>
  </p:sldIdLst>
  <p:sldSz cx="12192000" cy="6858000"/>
  <p:notesSz cx="6858000" cy="9144000"/>
  <p:embeddedFontLst>
    <p:embeddedFont>
      <p:font typeface="楷体_GB2312" panose="02010600030101010101" charset="-122"/>
      <p:regular r:id="rId34"/>
    </p:embeddedFont>
    <p:embeddedFont>
      <p:font typeface="等线" panose="02010600030101010101" pitchFamily="2" charset="-122"/>
      <p:regular r:id="rId35"/>
      <p:bold r:id="rId36"/>
    </p:embeddedFont>
    <p:embeddedFont>
      <p:font typeface="等线 Light" panose="02010600030101010101" pitchFamily="2" charset="-122"/>
      <p:regular r:id="rId37"/>
    </p:embeddedFont>
    <p:embeddedFont>
      <p:font typeface="仿宋" panose="02010609060101010101" pitchFamily="49" charset="-122"/>
      <p:regular r:id="rId38"/>
    </p:embeddedFont>
    <p:embeddedFont>
      <p:font typeface="黑体" panose="02010609060101010101" pitchFamily="49" charset="-122"/>
      <p:regular r:id="rId39"/>
    </p:embeddedFont>
    <p:embeddedFont>
      <p:font typeface="华文仿宋" panose="02010600040101010101" pitchFamily="2" charset="-122"/>
      <p:regular r:id="rId4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p15:clr>
            <a:srgbClr val="A4A3A4"/>
          </p15:clr>
        </p15:guide>
        <p15:guide id="2" pos="38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4C5"/>
    <a:srgbClr val="FCE4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5" d="100"/>
          <a:sy n="75" d="100"/>
        </p:scale>
        <p:origin x="48" y="115"/>
      </p:cViewPr>
      <p:guideLst>
        <p:guide orient="horz" pos="2242"/>
        <p:guide pos="38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CD1FA0-43E1-4CE7-8FF6-1A2F3373F2E8}" type="datetimeFigureOut">
              <a:rPr lang="zh-CN" altLang="en-US" smtClean="0"/>
              <a:t>2025/8/15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1250DB-AB4B-492B-9B10-5E03F8593CB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4311E-6487-4213-8130-CA1F669E4CCC}" type="datetimeFigureOut">
              <a:rPr lang="zh-CN" altLang="en-US" smtClean="0"/>
              <a:t>2025/8/15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684675-7F07-498E-B3EC-2E4B20AB443D}" type="slidenum">
              <a:rPr lang="zh-CN" altLang="en-US" smtClean="0"/>
              <a:t>‹#›</a:t>
            </a:fld>
            <a:endParaRPr lang="zh-CN" altLang="en-US"/>
          </a:p>
        </p:txBody>
      </p:sp>
      <p:pic>
        <p:nvPicPr>
          <p:cNvPr id="7" name="图片 6" descr="图片包含 地面, 地板&#10;&#10;已生成高可信度的说明"/>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8" name="图片 7" descr="bgt-01.jpg"/>
          <p:cNvPicPr>
            <a:picLocks noChangeAspect="1"/>
          </p:cNvPicPr>
          <p:nvPr userDrawn="1"/>
        </p:nvPicPr>
        <p:blipFill>
          <a:blip r:embed="rId5" cstate="print"/>
          <a:stretch>
            <a:fillRect/>
          </a:stretch>
        </p:blipFill>
        <p:spPr>
          <a:xfrm>
            <a:off x="0" y="2717"/>
            <a:ext cx="12192000" cy="685256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2024&#24180;&#28023;&#27815;&#26657;&#21306;&#22320;&#38663;&#23454;&#24405;.mp4" TargetMode="External"/><Relationship Id="rId2" Type="http://schemas.openxmlformats.org/officeDocument/2006/relationships/hyperlink" Target="&#22320;&#38663;&#30095;&#25955;&#23454;&#24405;&#21414;&#38376;&#19968;&#20013;&#65288;&#28023;&#27815;&#26657;&#21306;%20%20.mp4"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21414;&#38376;&#19968;&#20013;&#20445;&#21355;&#31185;&#38382;&#39064;&#21450;&#23545;&#31574;&#27719;&#25253;.pptx"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23398;&#29983;&#32930;&#20307;&#27450;&#20940;&#26696;&#20363;.mp4"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32593;&#32476;%20&#27450;&#20940;.mp4"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1.xml"/><Relationship Id="rId4" Type="http://schemas.openxmlformats.org/officeDocument/2006/relationships/image" Target="../media/image14.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4.bin"/><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553" y="1219200"/>
            <a:ext cx="11452195" cy="1106805"/>
          </a:xfrm>
          <a:prstGeom prst="rect">
            <a:avLst/>
          </a:prstGeom>
          <a:noFill/>
        </p:spPr>
        <p:txBody>
          <a:bodyPr wrap="square" rtlCol="0">
            <a:spAutoFit/>
          </a:bodyPr>
          <a:lstStyle/>
          <a:p>
            <a:pPr algn="ctr"/>
            <a:r>
              <a:rPr lang="zh-CN" altLang="en-US" sz="6600" b="1" dirty="0"/>
              <a:t>厦门一中新入职教师</a:t>
            </a:r>
          </a:p>
        </p:txBody>
      </p:sp>
      <p:sp>
        <p:nvSpPr>
          <p:cNvPr id="3" name="TextBox 2"/>
          <p:cNvSpPr txBox="1"/>
          <p:nvPr/>
        </p:nvSpPr>
        <p:spPr>
          <a:xfrm>
            <a:off x="1781453" y="2767280"/>
            <a:ext cx="8629094" cy="1322070"/>
          </a:xfrm>
          <a:prstGeom prst="rect">
            <a:avLst/>
          </a:prstGeom>
          <a:noFill/>
        </p:spPr>
        <p:txBody>
          <a:bodyPr wrap="square" rtlCol="0">
            <a:spAutoFit/>
          </a:bodyPr>
          <a:lstStyle/>
          <a:p>
            <a:r>
              <a:rPr lang="zh-CN" altLang="en-US" sz="8000" b="1" dirty="0"/>
              <a:t>校园安全教育培训</a:t>
            </a:r>
          </a:p>
        </p:txBody>
      </p:sp>
      <p:sp>
        <p:nvSpPr>
          <p:cNvPr id="4" name="TextBox 3"/>
          <p:cNvSpPr txBox="1"/>
          <p:nvPr/>
        </p:nvSpPr>
        <p:spPr>
          <a:xfrm>
            <a:off x="2130642" y="4871436"/>
            <a:ext cx="7492752" cy="1198880"/>
          </a:xfrm>
          <a:prstGeom prst="rect">
            <a:avLst/>
          </a:prstGeom>
          <a:noFill/>
        </p:spPr>
        <p:txBody>
          <a:bodyPr wrap="square" rtlCol="0">
            <a:spAutoFit/>
          </a:bodyPr>
          <a:lstStyle/>
          <a:p>
            <a:pPr algn="ctr"/>
            <a:r>
              <a:rPr lang="zh-CN" altLang="en-US" sz="3600" b="1" dirty="0"/>
              <a:t>保卫科   王天德</a:t>
            </a:r>
            <a:endParaRPr lang="en-US" altLang="zh-CN" sz="3600" b="1" dirty="0"/>
          </a:p>
          <a:p>
            <a:pPr algn="ctr"/>
            <a:r>
              <a:rPr lang="en-US" altLang="zh-CN" sz="3600" b="1" dirty="0"/>
              <a:t>2025</a:t>
            </a:r>
            <a:r>
              <a:rPr lang="zh-CN" altLang="en-US" sz="3600" b="1" dirty="0"/>
              <a:t>年</a:t>
            </a:r>
            <a:r>
              <a:rPr lang="en-US" altLang="zh-CN" sz="3600" b="1" dirty="0"/>
              <a:t>8</a:t>
            </a:r>
            <a:r>
              <a:rPr lang="zh-CN" altLang="en-US" sz="3600" b="1" dirty="0"/>
              <a:t>月</a:t>
            </a:r>
            <a:r>
              <a:rPr lang="en-US" altLang="zh-CN" sz="3600" b="1" dirty="0"/>
              <a:t>16</a:t>
            </a:r>
            <a:r>
              <a:rPr lang="zh-CN" altLang="en-US" sz="3600" b="1" dirty="0"/>
              <a:t>日</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394460" y="1538605"/>
            <a:ext cx="10116820" cy="45542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None/>
              <a:defRPr/>
            </a:pPr>
            <a:endParaRPr lang="en-US" altLang="zh-CN" b="1" dirty="0"/>
          </a:p>
          <a:p>
            <a:pPr fontAlgn="auto">
              <a:lnSpc>
                <a:spcPts val="3500"/>
              </a:lnSpc>
              <a:buFont typeface="Arial" panose="020B0604020202020204" pitchFamily="34" charset="0"/>
              <a:buNone/>
              <a:defRPr/>
            </a:pPr>
            <a:r>
              <a:rPr lang="zh-CN" altLang="en-US" sz="3200" b="1" dirty="0"/>
              <a:t>（</a:t>
            </a:r>
            <a:r>
              <a:rPr lang="en-US" altLang="zh-CN" sz="3200" b="1" dirty="0"/>
              <a:t>1</a:t>
            </a:r>
            <a:r>
              <a:rPr lang="zh-CN" altLang="en-US" sz="3200" b="1" dirty="0"/>
              <a:t>）社会关注度高</a:t>
            </a:r>
          </a:p>
          <a:p>
            <a:pPr fontAlgn="auto">
              <a:lnSpc>
                <a:spcPts val="3500"/>
              </a:lnSpc>
              <a:buFont typeface="Arial" panose="020B0604020202020204" pitchFamily="34" charset="0"/>
              <a:buNone/>
              <a:defRPr/>
            </a:pPr>
            <a:r>
              <a:rPr lang="zh-CN" altLang="en-US" sz="2220" b="1" dirty="0"/>
              <a:t>            </a:t>
            </a:r>
            <a:r>
              <a:rPr lang="zh-CN" altLang="en-US" sz="2220" b="1" dirty="0">
                <a:sym typeface="+mn-ea"/>
              </a:rPr>
              <a:t>高考压力、各种</a:t>
            </a:r>
            <a:r>
              <a:rPr lang="zh-CN" altLang="en-US" sz="2220" b="1" dirty="0"/>
              <a:t>问责</a:t>
            </a:r>
          </a:p>
          <a:p>
            <a:pPr fontAlgn="auto">
              <a:lnSpc>
                <a:spcPts val="3500"/>
              </a:lnSpc>
              <a:buFont typeface="Arial" panose="020B0604020202020204" pitchFamily="34" charset="0"/>
              <a:buNone/>
              <a:defRPr/>
            </a:pPr>
            <a:r>
              <a:rPr lang="zh-CN" altLang="en-US" sz="3200" b="1" dirty="0"/>
              <a:t>（</a:t>
            </a:r>
            <a:r>
              <a:rPr lang="en-US" altLang="zh-CN" sz="3200" b="1" dirty="0"/>
              <a:t>2</a:t>
            </a:r>
            <a:r>
              <a:rPr lang="zh-CN" altLang="en-US" sz="3200" b="1" dirty="0"/>
              <a:t>）学生心理问题</a:t>
            </a:r>
            <a:endParaRPr lang="zh-CN" altLang="en-US" sz="3395" b="1" dirty="0"/>
          </a:p>
          <a:p>
            <a:pPr fontAlgn="auto">
              <a:lnSpc>
                <a:spcPts val="3500"/>
              </a:lnSpc>
              <a:buFont typeface="Arial" panose="020B0604020202020204" pitchFamily="34" charset="0"/>
              <a:buNone/>
              <a:defRPr/>
            </a:pPr>
            <a:r>
              <a:rPr lang="zh-CN" altLang="en-US" sz="2220" b="1" dirty="0"/>
              <a:t>            学习压力、情感问题、家庭问题、社会问题</a:t>
            </a:r>
          </a:p>
          <a:p>
            <a:pPr fontAlgn="auto">
              <a:lnSpc>
                <a:spcPts val="3500"/>
              </a:lnSpc>
              <a:buFont typeface="Arial" panose="020B0604020202020204" pitchFamily="34" charset="0"/>
              <a:buNone/>
              <a:defRPr/>
            </a:pPr>
            <a:r>
              <a:rPr lang="zh-CN" altLang="en-US" sz="3200" b="1" dirty="0"/>
              <a:t>（</a:t>
            </a:r>
            <a:r>
              <a:rPr lang="en-US" altLang="zh-CN" sz="3200" b="1" dirty="0"/>
              <a:t>3</a:t>
            </a:r>
            <a:r>
              <a:rPr lang="zh-CN" altLang="en-US" sz="3200" b="1" dirty="0"/>
              <a:t>）安全事故</a:t>
            </a:r>
            <a:endParaRPr lang="zh-CN" altLang="en-US" sz="3395" b="1" dirty="0"/>
          </a:p>
          <a:p>
            <a:pPr fontAlgn="auto">
              <a:lnSpc>
                <a:spcPts val="3500"/>
              </a:lnSpc>
              <a:buFont typeface="Arial" panose="020B0604020202020204" pitchFamily="34" charset="0"/>
              <a:buNone/>
              <a:defRPr/>
            </a:pPr>
            <a:r>
              <a:rPr lang="zh-CN" altLang="en-US" sz="2220" b="1" dirty="0"/>
              <a:t>            交通事故、溺水事故、诈骗、自杀、自残、坠楼</a:t>
            </a:r>
          </a:p>
        </p:txBody>
      </p:sp>
      <p:sp>
        <p:nvSpPr>
          <p:cNvPr id="4" name="Rectangle 2"/>
          <p:cNvSpPr txBox="1">
            <a:spLocks noChangeArrowheads="1"/>
          </p:cNvSpPr>
          <p:nvPr/>
        </p:nvSpPr>
        <p:spPr>
          <a:xfrm>
            <a:off x="1675765" y="875287"/>
            <a:ext cx="8229600" cy="760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b="1" dirty="0"/>
              <a:t>一、校园安全形势</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sz="half" idx="4294967295"/>
          </p:nvPr>
        </p:nvSpPr>
        <p:spPr>
          <a:xfrm>
            <a:off x="1283784" y="4040604"/>
            <a:ext cx="9325857" cy="2706370"/>
          </a:xfrm>
        </p:spPr>
        <p:txBody>
          <a:bodyPr/>
          <a:lstStyle/>
          <a:p>
            <a:pPr fontAlgn="auto">
              <a:lnSpc>
                <a:spcPts val="4660"/>
              </a:lnSpc>
              <a:buFontTx/>
              <a:buNone/>
            </a:pPr>
            <a:r>
              <a:rPr lang="en-US" altLang="zh-CN" b="1" dirty="0">
                <a:latin typeface="黑体" panose="02010609060101010101" pitchFamily="49" charset="-122"/>
              </a:rPr>
              <a:t> </a:t>
            </a:r>
            <a:r>
              <a:rPr lang="zh-CN" altLang="en-US" b="1" dirty="0">
                <a:latin typeface="黑体" panose="02010609060101010101" pitchFamily="49" charset="-122"/>
              </a:rPr>
              <a:t>学生的安全无小事，安全从来就不是保卫科的事，是全体教职员工的责任，人人讲安全、时时注意安全、人人要安全。校园安全人人担责，安全的事再小也是大事，要有“时时放心不下</a:t>
            </a:r>
            <a:r>
              <a:rPr lang="en-US" altLang="zh-CN" b="1" dirty="0">
                <a:latin typeface="黑体" panose="02010609060101010101" pitchFamily="49" charset="-122"/>
              </a:rPr>
              <a:t>”</a:t>
            </a:r>
            <a:r>
              <a:rPr lang="zh-CN" altLang="en-US" b="1" dirty="0">
                <a:latin typeface="黑体" panose="02010609060101010101" pitchFamily="49" charset="-122"/>
              </a:rPr>
              <a:t>的责任担当。</a:t>
            </a:r>
          </a:p>
        </p:txBody>
      </p:sp>
      <p:sp>
        <p:nvSpPr>
          <p:cNvPr id="8203" name="Text Box 11"/>
          <p:cNvSpPr txBox="1">
            <a:spLocks noChangeArrowheads="1"/>
          </p:cNvSpPr>
          <p:nvPr/>
        </p:nvSpPr>
        <p:spPr bwMode="auto">
          <a:xfrm>
            <a:off x="1686375" y="1733286"/>
            <a:ext cx="7344410" cy="1193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lnSpc>
                <a:spcPts val="4640"/>
              </a:lnSpc>
            </a:pPr>
            <a:r>
              <a:rPr lang="zh-CN" altLang="en-US" b="1" dirty="0">
                <a:latin typeface="宋体" panose="02010600030101010101" pitchFamily="2" charset="-122"/>
              </a:rPr>
              <a:t>角色转换：学生    老师</a:t>
            </a:r>
            <a:endParaRPr lang="en-US" altLang="zh-CN" b="1" dirty="0">
              <a:latin typeface="宋体" panose="02010600030101010101" pitchFamily="2" charset="-122"/>
            </a:endParaRPr>
          </a:p>
          <a:p>
            <a:pPr eaLnBrk="1" fontAlgn="auto" hangingPunct="1">
              <a:lnSpc>
                <a:spcPts val="4640"/>
              </a:lnSpc>
            </a:pPr>
            <a:r>
              <a:rPr lang="zh-CN" altLang="en-US" b="1" dirty="0">
                <a:latin typeface="宋体" panose="02010600030101010101" pitchFamily="2" charset="-122"/>
              </a:rPr>
              <a:t>意识转变：要我安全     我要安全</a:t>
            </a:r>
          </a:p>
        </p:txBody>
      </p:sp>
      <p:sp>
        <p:nvSpPr>
          <p:cNvPr id="4" name="Rectangle 2"/>
          <p:cNvSpPr txBox="1">
            <a:spLocks noChangeArrowheads="1"/>
          </p:cNvSpPr>
          <p:nvPr/>
        </p:nvSpPr>
        <p:spPr>
          <a:xfrm>
            <a:off x="1675765" y="875287"/>
            <a:ext cx="8229600" cy="760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b="1" dirty="0"/>
              <a:t>二、安全意识</a:t>
            </a:r>
          </a:p>
        </p:txBody>
      </p:sp>
      <p:sp>
        <p:nvSpPr>
          <p:cNvPr id="2" name="右箭头 1"/>
          <p:cNvSpPr/>
          <p:nvPr/>
        </p:nvSpPr>
        <p:spPr>
          <a:xfrm>
            <a:off x="5621817" y="2585884"/>
            <a:ext cx="649789" cy="1858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右箭头 5"/>
          <p:cNvSpPr/>
          <p:nvPr/>
        </p:nvSpPr>
        <p:spPr>
          <a:xfrm>
            <a:off x="4733433" y="1988688"/>
            <a:ext cx="625147" cy="172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a:extLst>
              <a:ext uri="{FF2B5EF4-FFF2-40B4-BE49-F238E27FC236}">
                <a16:creationId xmlns:a16="http://schemas.microsoft.com/office/drawing/2014/main" id="{5D67DDC5-D8F6-ADE6-657A-D6A91AC774C5}"/>
              </a:ext>
            </a:extLst>
          </p:cNvPr>
          <p:cNvSpPr txBox="1">
            <a:spLocks noChangeArrowheads="1"/>
          </p:cNvSpPr>
          <p:nvPr/>
        </p:nvSpPr>
        <p:spPr>
          <a:xfrm>
            <a:off x="1582358" y="3280192"/>
            <a:ext cx="8229600" cy="760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b="1" dirty="0"/>
              <a:t>三、责任意识</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idx="4294967295"/>
          </p:nvPr>
        </p:nvSpPr>
        <p:spPr>
          <a:xfrm>
            <a:off x="1565910" y="2145030"/>
            <a:ext cx="8229600" cy="1026795"/>
          </a:xfrm>
        </p:spPr>
        <p:txBody>
          <a:bodyPr rtlCol="0">
            <a:normAutofit fontScale="90000"/>
          </a:bodyPr>
          <a:lstStyle/>
          <a:p>
            <a:pPr fontAlgn="auto">
              <a:lnSpc>
                <a:spcPts val="4840"/>
              </a:lnSpc>
              <a:defRPr/>
            </a:pPr>
            <a:r>
              <a:rPr lang="zh-CN" altLang="en-US" sz="3555" b="1" dirty="0">
                <a:latin typeface="宋体" panose="02010600030101010101" pitchFamily="2" charset="-122"/>
                <a:hlinkClick r:id="rId2" action="ppaction://hlinkfile"/>
              </a:rPr>
              <a:t>我们老师在日常教育教学中要注意什么？要加强哪些安全意识？</a:t>
            </a:r>
            <a:r>
              <a:rPr lang="zh-CN" altLang="en-US" sz="3555" b="1" dirty="0">
                <a:latin typeface="宋体" panose="02010600030101010101" pitchFamily="2" charset="-122"/>
              </a:rPr>
              <a:t>（</a:t>
            </a:r>
            <a:r>
              <a:rPr lang="en-US" altLang="zh-CN" sz="3555" b="1" dirty="0">
                <a:latin typeface="宋体" panose="02010600030101010101" pitchFamily="2" charset="-122"/>
              </a:rPr>
              <a:t>2018</a:t>
            </a:r>
            <a:r>
              <a:rPr lang="zh-CN" altLang="en-US" sz="3555" b="1" dirty="0">
                <a:latin typeface="宋体" panose="02010600030101010101" pitchFamily="2" charset="-122"/>
              </a:rPr>
              <a:t>年海沧校区地震实录）</a:t>
            </a:r>
            <a:br>
              <a:rPr lang="en-US" altLang="zh-CN" sz="3555" b="1" dirty="0">
                <a:latin typeface="宋体" panose="02010600030101010101" pitchFamily="2" charset="-122"/>
              </a:rPr>
            </a:br>
            <a:br>
              <a:rPr lang="en-US" altLang="zh-CN" sz="3555" b="1" dirty="0">
                <a:latin typeface="宋体" panose="02010600030101010101" pitchFamily="2" charset="-122"/>
              </a:rPr>
            </a:br>
            <a:r>
              <a:rPr lang="en-US" altLang="zh-CN" sz="3555" b="1" dirty="0">
                <a:latin typeface="宋体" panose="02010600030101010101" pitchFamily="2" charset="-122"/>
                <a:hlinkClick r:id="rId3" action="ppaction://hlinkfile"/>
              </a:rPr>
              <a:t>2024</a:t>
            </a:r>
            <a:r>
              <a:rPr lang="zh-CN" altLang="en-US" sz="3555" b="1" dirty="0">
                <a:latin typeface="宋体" panose="02010600030101010101" pitchFamily="2" charset="-122"/>
                <a:hlinkClick r:id="rId3" action="ppaction://hlinkfile"/>
              </a:rPr>
              <a:t>年海沧校区地震实录</a:t>
            </a:r>
            <a:r>
              <a:rPr lang="en-US" altLang="zh-CN" sz="3555" b="1" dirty="0">
                <a:latin typeface="宋体" panose="02010600030101010101" pitchFamily="2" charset="-122"/>
                <a:hlinkClick r:id="rId3" action="ppaction://hlinkfile"/>
              </a:rPr>
              <a:t>.mp4</a:t>
            </a:r>
            <a:endParaRPr lang="zh-CN" altLang="en-US" sz="3555" b="1"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3"/>
          <p:cNvSpPr>
            <a:spLocks noGrp="1" noChangeArrowheads="1"/>
          </p:cNvSpPr>
          <p:nvPr/>
        </p:nvSpPr>
        <p:spPr>
          <a:xfrm>
            <a:off x="881359" y="713985"/>
            <a:ext cx="10669270" cy="5627821"/>
          </a:xfrm>
          <a:prstGeom prst="rect">
            <a:avLst/>
          </a:prstGeom>
        </p:spPr>
        <p:txBody>
          <a:bodyPr vert="horz" lIns="91440" tIns="45720" rIns="91440" bIns="45720" rtlCol="0">
            <a:normAutofit fontScale="6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zh-CN" altLang="en-US" b="1" dirty="0">
              <a:solidFill>
                <a:srgbClr val="CC0000"/>
              </a:solidFill>
              <a:latin typeface="楷体_GB2312" panose="02010609030101010101" pitchFamily="49" charset="-122"/>
              <a:ea typeface="楷体_GB2312" panose="02010609030101010101" pitchFamily="49" charset="-122"/>
            </a:endParaRPr>
          </a:p>
          <a:p>
            <a:pPr fontAlgn="auto">
              <a:lnSpc>
                <a:spcPts val="3800"/>
              </a:lnSpc>
              <a:buFontTx/>
              <a:buNone/>
            </a:pPr>
            <a:r>
              <a:rPr lang="en-US" altLang="zh-CN" sz="4700" b="1" dirty="0">
                <a:latin typeface="宋体" panose="02010600030101010101" pitchFamily="2" charset="-122"/>
                <a:ea typeface="宋体" panose="02010600030101010101" pitchFamily="2" charset="-122"/>
              </a:rPr>
              <a:t>1.</a:t>
            </a:r>
            <a:r>
              <a:rPr lang="zh-CN" altLang="en-US" sz="4700" b="1" dirty="0">
                <a:latin typeface="宋体" panose="02010600030101010101" pitchFamily="2" charset="-122"/>
                <a:ea typeface="宋体" panose="02010600030101010101" pitchFamily="2" charset="-122"/>
              </a:rPr>
              <a:t>观念预防意识：</a:t>
            </a:r>
            <a:r>
              <a:rPr lang="en-US" altLang="zh-CN" sz="4700" b="1" dirty="0">
                <a:latin typeface="宋体" panose="02010600030101010101" pitchFamily="2" charset="-122"/>
                <a:ea typeface="宋体" panose="02010600030101010101" pitchFamily="2" charset="-122"/>
              </a:rPr>
              <a:t>“ </a:t>
            </a:r>
            <a:r>
              <a:rPr lang="zh-CN" altLang="en-US" sz="4700" b="1" dirty="0">
                <a:latin typeface="宋体" panose="02010600030101010101" pitchFamily="2" charset="-122"/>
                <a:ea typeface="宋体" panose="02010600030101010101" pitchFamily="2" charset="-122"/>
              </a:rPr>
              <a:t>一岗双责</a:t>
            </a:r>
            <a:r>
              <a:rPr lang="en-US" altLang="zh-CN" sz="4700" b="1" dirty="0">
                <a:latin typeface="宋体" panose="02010600030101010101" pitchFamily="2" charset="-122"/>
                <a:ea typeface="宋体" panose="02010600030101010101" pitchFamily="2" charset="-122"/>
              </a:rPr>
              <a:t>”</a:t>
            </a:r>
            <a:r>
              <a:rPr lang="zh-CN" altLang="en-US" sz="4700" b="1" dirty="0">
                <a:latin typeface="宋体" panose="02010600030101010101" pitchFamily="2" charset="-122"/>
                <a:ea typeface="宋体" panose="02010600030101010101" pitchFamily="2" charset="-122"/>
              </a:rPr>
              <a:t>，绷紧学生安全这根弦，</a:t>
            </a:r>
            <a:r>
              <a:rPr lang="en-US" altLang="zh-CN" sz="4700" b="1" dirty="0">
                <a:latin typeface="宋体" panose="02010600030101010101" pitchFamily="2" charset="-122"/>
                <a:ea typeface="宋体" panose="02010600030101010101" pitchFamily="2" charset="-122"/>
              </a:rPr>
              <a:t>“</a:t>
            </a:r>
            <a:r>
              <a:rPr lang="zh-CN" altLang="en-US" sz="4700" b="1" dirty="0">
                <a:latin typeface="宋体" panose="02010600030101010101" pitchFamily="2" charset="-122"/>
                <a:ea typeface="宋体" panose="02010600030101010101" pitchFamily="2" charset="-122"/>
              </a:rPr>
              <a:t>常记在心，常抓在手、常落实处</a:t>
            </a:r>
            <a:r>
              <a:rPr lang="en-US" altLang="zh-CN" sz="4700" b="1" dirty="0">
                <a:latin typeface="宋体" panose="02010600030101010101" pitchFamily="2" charset="-122"/>
                <a:ea typeface="宋体" panose="02010600030101010101" pitchFamily="2" charset="-122"/>
              </a:rPr>
              <a:t>”</a:t>
            </a:r>
            <a:r>
              <a:rPr lang="zh-CN" altLang="en-US" sz="4700" b="1" dirty="0">
                <a:latin typeface="宋体" panose="02010600030101010101" pitchFamily="2" charset="-122"/>
                <a:ea typeface="宋体" panose="02010600030101010101" pitchFamily="2" charset="-122"/>
              </a:rPr>
              <a:t>。</a:t>
            </a:r>
          </a:p>
          <a:p>
            <a:pPr fontAlgn="auto">
              <a:lnSpc>
                <a:spcPts val="3800"/>
              </a:lnSpc>
              <a:buFontTx/>
              <a:buNone/>
            </a:pPr>
            <a:r>
              <a:rPr lang="en-US" altLang="zh-CN" sz="4700" b="1" dirty="0">
                <a:latin typeface="宋体" panose="02010600030101010101" pitchFamily="2" charset="-122"/>
                <a:ea typeface="宋体" panose="02010600030101010101" pitchFamily="2" charset="-122"/>
              </a:rPr>
              <a:t>2.</a:t>
            </a:r>
            <a:r>
              <a:rPr lang="zh-CN" altLang="en-US" sz="4700" b="1" dirty="0">
                <a:latin typeface="宋体" panose="02010600030101010101" pitchFamily="2" charset="-122"/>
                <a:ea typeface="宋体" panose="02010600030101010101" pitchFamily="2" charset="-122"/>
              </a:rPr>
              <a:t>制度预防意识：了解法律法规（教师法、未成年保护法、各类安全文件）以及学校制定的教师手册、安全读本及配合做好各种演练、培训等。</a:t>
            </a:r>
          </a:p>
          <a:p>
            <a:pPr fontAlgn="auto">
              <a:lnSpc>
                <a:spcPts val="3800"/>
              </a:lnSpc>
              <a:buFontTx/>
              <a:buNone/>
            </a:pPr>
            <a:r>
              <a:rPr lang="en-US" altLang="zh-CN" sz="4700" b="1" dirty="0">
                <a:latin typeface="宋体" panose="02010600030101010101" pitchFamily="2" charset="-122"/>
                <a:ea typeface="宋体" panose="02010600030101010101" pitchFamily="2" charset="-122"/>
              </a:rPr>
              <a:t>3.</a:t>
            </a:r>
            <a:r>
              <a:rPr lang="zh-CN" altLang="en-US" sz="4700" b="1" dirty="0">
                <a:latin typeface="宋体" panose="02010600030101010101" pitchFamily="2" charset="-122"/>
                <a:ea typeface="宋体" panose="02010600030101010101" pitchFamily="2" charset="-122"/>
              </a:rPr>
              <a:t>处处预防意识：教室、校园、师生活动场所、组织学生活动，特别是学生的心理安全，班主任要熟悉每一个孩子的问题，并根据实际情况建立档案，一生一档，做好记录，及时沟通。</a:t>
            </a:r>
          </a:p>
          <a:p>
            <a:pPr fontAlgn="auto">
              <a:lnSpc>
                <a:spcPts val="3800"/>
              </a:lnSpc>
              <a:buFontTx/>
              <a:buNone/>
            </a:pPr>
            <a:r>
              <a:rPr lang="en-US" altLang="zh-CN" sz="4700" b="1" dirty="0">
                <a:latin typeface="宋体" panose="02010600030101010101" pitchFamily="2" charset="-122"/>
                <a:ea typeface="宋体" panose="02010600030101010101" pitchFamily="2" charset="-122"/>
              </a:rPr>
              <a:t>4.</a:t>
            </a:r>
            <a:r>
              <a:rPr lang="zh-CN" altLang="en-US" sz="4700" b="1" dirty="0">
                <a:latin typeface="宋体" panose="02010600030101010101" pitchFamily="2" charset="-122"/>
                <a:ea typeface="宋体" panose="02010600030101010101" pitchFamily="2" charset="-122"/>
              </a:rPr>
              <a:t>时时预防意识：时时有安全意识，处处有安全意识。 </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18BE6-B582-B967-913C-33AB6BBE11E8}"/>
            </a:ext>
          </a:extLst>
        </p:cNvPr>
        <p:cNvGrpSpPr/>
        <p:nvPr/>
      </p:nvGrpSpPr>
      <p:grpSpPr>
        <a:xfrm>
          <a:off x="0" y="0"/>
          <a:ext cx="0" cy="0"/>
          <a:chOff x="0" y="0"/>
          <a:chExt cx="0" cy="0"/>
        </a:xfrm>
      </p:grpSpPr>
      <p:sp>
        <p:nvSpPr>
          <p:cNvPr id="1029" name="Rectangle 3">
            <a:extLst>
              <a:ext uri="{FF2B5EF4-FFF2-40B4-BE49-F238E27FC236}">
                <a16:creationId xmlns:a16="http://schemas.microsoft.com/office/drawing/2014/main" id="{81733661-852F-C68F-5672-1DD1B53FEFB3}"/>
              </a:ext>
            </a:extLst>
          </p:cNvPr>
          <p:cNvSpPr>
            <a:spLocks noGrp="1" noChangeArrowheads="1"/>
          </p:cNvSpPr>
          <p:nvPr/>
        </p:nvSpPr>
        <p:spPr>
          <a:xfrm>
            <a:off x="881359" y="713985"/>
            <a:ext cx="10669270" cy="5627821"/>
          </a:xfrm>
          <a:prstGeom prst="rect">
            <a:avLst/>
          </a:prstGeom>
        </p:spPr>
        <p:txBody>
          <a:bodyPr vert="horz" lIns="91440" tIns="45720" rIns="91440" bIns="45720" rtlCol="0">
            <a:normAutofit fontScale="8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4000" b="1" dirty="0">
                <a:solidFill>
                  <a:srgbClr val="0070C0"/>
                </a:solidFill>
                <a:latin typeface="宋体" panose="02010600030101010101" pitchFamily="2" charset="-122"/>
                <a:ea typeface="宋体" panose="02010600030101010101" pitchFamily="2" charset="-122"/>
              </a:rPr>
              <a:t>特别作为班主任要关注！！！</a:t>
            </a:r>
          </a:p>
          <a:p>
            <a:pPr fontAlgn="auto">
              <a:lnSpc>
                <a:spcPts val="3800"/>
              </a:lnSpc>
              <a:buFontTx/>
              <a:buNone/>
            </a:pPr>
            <a:r>
              <a:rPr lang="en-US" altLang="zh-CN" sz="2900" b="1" dirty="0">
                <a:solidFill>
                  <a:srgbClr val="0070C0"/>
                </a:solidFill>
                <a:latin typeface="宋体" panose="02010600030101010101" pitchFamily="2" charset="-122"/>
                <a:ea typeface="宋体" panose="02010600030101010101" pitchFamily="2" charset="-122"/>
              </a:rPr>
              <a:t>1.</a:t>
            </a:r>
            <a:r>
              <a:rPr lang="zh-CN" altLang="en-US" sz="2900" b="1" dirty="0">
                <a:solidFill>
                  <a:srgbClr val="0070C0"/>
                </a:solidFill>
                <a:latin typeface="宋体" panose="02010600030101010101" pitchFamily="2" charset="-122"/>
                <a:ea typeface="宋体" panose="02010600030101010101" pitchFamily="2" charset="-122"/>
              </a:rPr>
              <a:t>心理问题：</a:t>
            </a:r>
            <a:r>
              <a:rPr lang="zh-CN" altLang="en-US" sz="2900" b="1" dirty="0">
                <a:latin typeface="宋体" panose="02010600030101010101" pitchFamily="2" charset="-122"/>
                <a:ea typeface="宋体" panose="02010600030101010101" pitchFamily="2" charset="-122"/>
              </a:rPr>
              <a:t>通过家访、问卷、日常交流发现学生心理问题，第一时间建立并完善学生的一生一档，时间、地点、内容或者方式都要有截屏、有留底。</a:t>
            </a:r>
          </a:p>
          <a:p>
            <a:pPr fontAlgn="auto">
              <a:lnSpc>
                <a:spcPts val="3800"/>
              </a:lnSpc>
              <a:buFontTx/>
              <a:buNone/>
            </a:pPr>
            <a:r>
              <a:rPr kumimoji="0" lang="en-US" altLang="zh-CN" sz="29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2.</a:t>
            </a:r>
            <a:r>
              <a:rPr lang="zh-CN" altLang="en-US" sz="2900" b="1" dirty="0">
                <a:solidFill>
                  <a:srgbClr val="0070C0"/>
                </a:solidFill>
                <a:latin typeface="宋体" panose="02010600030101010101" pitchFamily="2" charset="-122"/>
                <a:ea typeface="宋体" panose="02010600030101010101" pitchFamily="2" charset="-122"/>
              </a:rPr>
              <a:t>校园欺凌：</a:t>
            </a:r>
            <a:r>
              <a:rPr lang="zh-CN" altLang="en-US" sz="2900" b="1" dirty="0">
                <a:latin typeface="宋体" panose="02010600030101010101" pitchFamily="2" charset="-122"/>
                <a:ea typeface="宋体" panose="02010600030101010101" pitchFamily="2" charset="-122"/>
              </a:rPr>
              <a:t>肢体欺凌、言语欺凌、社交欺凌、财物欺凌、网络欺凌、性欺凌</a:t>
            </a:r>
            <a:endParaRPr lang="en-US" altLang="zh-CN" sz="2900" b="1" dirty="0">
              <a:latin typeface="宋体" panose="02010600030101010101" pitchFamily="2" charset="-122"/>
              <a:ea typeface="宋体" panose="02010600030101010101" pitchFamily="2" charset="-122"/>
            </a:endParaRPr>
          </a:p>
          <a:p>
            <a:pPr fontAlgn="auto">
              <a:lnSpc>
                <a:spcPts val="3800"/>
              </a:lnSpc>
              <a:buFontTx/>
              <a:buNone/>
            </a:pPr>
            <a:r>
              <a:rPr lang="en-US" altLang="zh-CN" sz="2900" b="1" dirty="0">
                <a:solidFill>
                  <a:srgbClr val="0070C0"/>
                </a:solidFill>
                <a:latin typeface="宋体" panose="02010600030101010101" pitchFamily="2" charset="-122"/>
                <a:ea typeface="宋体" panose="02010600030101010101" pitchFamily="2" charset="-122"/>
              </a:rPr>
              <a:t>3</a:t>
            </a:r>
            <a:r>
              <a:rPr lang="en-US" altLang="zh-CN" sz="2900" b="1" dirty="0">
                <a:solidFill>
                  <a:srgbClr val="FF4040"/>
                </a:solidFill>
                <a:latin typeface="宋体" panose="02010600030101010101" pitchFamily="2" charset="-122"/>
                <a:ea typeface="宋体" panose="02010600030101010101" pitchFamily="2" charset="-122"/>
                <a:hlinkClick r:id="rId2" action="ppaction://hlinkpres?slideindex=1&amp;slidetitle=">
                  <a:extLst>
                    <a:ext uri="{A12FA001-AC4F-418D-AE19-62706E023703}">
                      <ahyp:hlinkClr xmlns:ahyp="http://schemas.microsoft.com/office/drawing/2018/hyperlinkcolor" val="tx"/>
                    </a:ext>
                  </a:extLst>
                </a:hlinkClick>
              </a:rPr>
              <a:t>.</a:t>
            </a:r>
            <a:r>
              <a:rPr lang="zh-CN" altLang="en-US" sz="2900" b="1" dirty="0">
                <a:solidFill>
                  <a:srgbClr val="7030A0"/>
                </a:solidFill>
                <a:latin typeface="宋体" panose="02010600030101010101" pitchFamily="2" charset="-122"/>
                <a:ea typeface="宋体" panose="02010600030101010101" pitchFamily="2" charset="-122"/>
                <a:hlinkClick r:id="rId2" action="ppaction://hlinkpres?slideindex=1&amp;slidetitle=">
                  <a:extLst>
                    <a:ext uri="{A12FA001-AC4F-418D-AE19-62706E023703}">
                      <ahyp:hlinkClr xmlns:ahyp="http://schemas.microsoft.com/office/drawing/2018/hyperlinkcolor" val="tx"/>
                    </a:ext>
                  </a:extLst>
                </a:hlinkClick>
              </a:rPr>
              <a:t>预防诈骗</a:t>
            </a:r>
            <a:r>
              <a:rPr lang="zh-CN" altLang="en-US" sz="2900" b="1" dirty="0">
                <a:solidFill>
                  <a:srgbClr val="0070C0"/>
                </a:solidFill>
                <a:latin typeface="宋体" panose="02010600030101010101" pitchFamily="2" charset="-122"/>
                <a:ea typeface="宋体" panose="02010600030101010101" pitchFamily="2" charset="-122"/>
              </a:rPr>
              <a:t>：</a:t>
            </a:r>
            <a:r>
              <a:rPr lang="zh-CN" altLang="en-US" sz="2900" b="1" dirty="0">
                <a:latin typeface="宋体" panose="02010600030101010101" pitchFamily="2" charset="-122"/>
                <a:ea typeface="宋体" panose="02010600030101010101" pitchFamily="2" charset="-122"/>
              </a:rPr>
              <a:t>要随时关注年段群，自己要利用闲暇之际学习相关的诈骗案例，利用片段式的时间，不定时、不断地开展警示教育。</a:t>
            </a:r>
            <a:endParaRPr lang="en-US" altLang="zh-CN" sz="2900" b="1" dirty="0">
              <a:latin typeface="宋体" panose="02010600030101010101" pitchFamily="2" charset="-122"/>
              <a:ea typeface="宋体" panose="02010600030101010101" pitchFamily="2" charset="-122"/>
            </a:endParaRPr>
          </a:p>
          <a:p>
            <a:pPr fontAlgn="auto">
              <a:lnSpc>
                <a:spcPts val="3800"/>
              </a:lnSpc>
              <a:buFontTx/>
              <a:buNone/>
            </a:pPr>
            <a:r>
              <a:rPr lang="en-US" altLang="zh-CN" sz="2900" b="1" dirty="0">
                <a:solidFill>
                  <a:srgbClr val="0070C0"/>
                </a:solidFill>
                <a:latin typeface="宋体" panose="02010600030101010101" pitchFamily="2" charset="-122"/>
                <a:ea typeface="宋体" panose="02010600030101010101" pitchFamily="2" charset="-122"/>
              </a:rPr>
              <a:t>4.</a:t>
            </a:r>
            <a:r>
              <a:rPr lang="zh-CN" altLang="en-US" sz="2900" b="1" dirty="0">
                <a:solidFill>
                  <a:srgbClr val="0070C0"/>
                </a:solidFill>
                <a:latin typeface="宋体" panose="02010600030101010101" pitchFamily="2" charset="-122"/>
                <a:ea typeface="宋体" panose="02010600030101010101" pitchFamily="2" charset="-122"/>
              </a:rPr>
              <a:t>安全管理：</a:t>
            </a:r>
            <a:r>
              <a:rPr lang="zh-CN" altLang="en-US" sz="2900" b="1" dirty="0">
                <a:latin typeface="宋体" panose="02010600030101010101" pitchFamily="2" charset="-122"/>
                <a:ea typeface="宋体" panose="02010600030101010101" pitchFamily="2" charset="-122"/>
              </a:rPr>
              <a:t>可以根据实际情况建立班级安全管理规定，有措施，有奖惩；设置班级安全员及安全信息员（规定</a:t>
            </a:r>
            <a:r>
              <a:rPr lang="en-US" altLang="zh-CN" sz="2900" b="1" dirty="0">
                <a:latin typeface="宋体" panose="02010600030101010101" pitchFamily="2" charset="-122"/>
                <a:ea typeface="宋体" panose="02010600030101010101" pitchFamily="2" charset="-122"/>
              </a:rPr>
              <a:t>5</a:t>
            </a:r>
            <a:r>
              <a:rPr lang="zh-CN" altLang="en-US" sz="2900" b="1" dirty="0">
                <a:latin typeface="宋体" panose="02010600030101010101" pitchFamily="2" charset="-122"/>
                <a:ea typeface="宋体" panose="02010600030101010101" pitchFamily="2" charset="-122"/>
              </a:rPr>
              <a:t>人）。</a:t>
            </a:r>
            <a:endParaRPr lang="en-US" altLang="zh-CN" sz="2900" b="1" dirty="0">
              <a:latin typeface="宋体" panose="02010600030101010101" pitchFamily="2" charset="-122"/>
              <a:ea typeface="宋体" panose="02010600030101010101" pitchFamily="2" charset="-122"/>
            </a:endParaRPr>
          </a:p>
          <a:p>
            <a:pPr fontAlgn="auto">
              <a:lnSpc>
                <a:spcPts val="3800"/>
              </a:lnSpc>
              <a:buFontTx/>
              <a:buNone/>
            </a:pPr>
            <a:r>
              <a:rPr lang="en-US" altLang="zh-CN" sz="2900" b="1" dirty="0">
                <a:solidFill>
                  <a:srgbClr val="0070C0"/>
                </a:solidFill>
                <a:latin typeface="宋体" panose="02010600030101010101" pitchFamily="2" charset="-122"/>
                <a:ea typeface="宋体" panose="02010600030101010101" pitchFamily="2" charset="-122"/>
              </a:rPr>
              <a:t>5.</a:t>
            </a:r>
            <a:r>
              <a:rPr lang="zh-CN" altLang="en-US" sz="2900" b="1" dirty="0">
                <a:solidFill>
                  <a:srgbClr val="0070C0"/>
                </a:solidFill>
                <a:latin typeface="宋体" panose="02010600030101010101" pitchFamily="2" charset="-122"/>
                <a:ea typeface="宋体" panose="02010600030101010101" pitchFamily="2" charset="-122"/>
              </a:rPr>
              <a:t>矛盾处理：</a:t>
            </a:r>
            <a:r>
              <a:rPr lang="zh-CN" altLang="en-US" sz="2900" b="1" dirty="0">
                <a:latin typeface="宋体" panose="02010600030101010101" pitchFamily="2" charset="-122"/>
                <a:ea typeface="宋体" panose="02010600030101010101" pitchFamily="2" charset="-122"/>
              </a:rPr>
              <a:t>遇事多跟老班主任、年段长请教处理班级学生之间的各种矛盾，处理不了的矛盾要逐级寻求帮助处理，年段、德育处、保卫科。</a:t>
            </a:r>
          </a:p>
        </p:txBody>
      </p:sp>
    </p:spTree>
    <p:extLst>
      <p:ext uri="{BB962C8B-B14F-4D97-AF65-F5344CB8AC3E}">
        <p14:creationId xmlns:p14="http://schemas.microsoft.com/office/powerpoint/2010/main" val="4017321938"/>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nvSpPr>
        <p:spPr>
          <a:xfrm>
            <a:off x="1146810" y="609600"/>
            <a:ext cx="9803765" cy="5461635"/>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algn="l" eaLnBrk="1" hangingPunct="1">
              <a:buClrTx/>
              <a:buSzTx/>
              <a:buFontTx/>
            </a:pPr>
            <a:r>
              <a:rPr lang="zh-CN" altLang="en-US" sz="2800" b="1" dirty="0">
                <a:solidFill>
                  <a:srgbClr val="002060"/>
                </a:solidFill>
                <a:latin typeface="华文仿宋" panose="02010600040101010101" pitchFamily="2" charset="-122"/>
                <a:ea typeface="华文仿宋" panose="02010600040101010101" pitchFamily="2" charset="-122"/>
              </a:rPr>
              <a:t>校园欺凌</a:t>
            </a:r>
            <a:br>
              <a:rPr lang="en-US" altLang="zh-CN" sz="2800" b="1" dirty="0">
                <a:latin typeface="华文仿宋" panose="02010600040101010101" pitchFamily="2" charset="-122"/>
                <a:ea typeface="华文仿宋" panose="02010600040101010101" pitchFamily="2" charset="-122"/>
              </a:rPr>
            </a:br>
            <a:r>
              <a:rPr lang="en-US" altLang="zh-CN" sz="2800" b="1" dirty="0">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cs typeface="宋体" panose="02010600030101010101" pitchFamily="2" charset="-122"/>
              </a:rPr>
              <a:t> </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什么是校园欺凌，校园欺凌是指发生在学生之间，</a:t>
            </a:r>
            <a:r>
              <a:rPr lang="zh-CN" altLang="en-US" sz="2800" b="1" dirty="0">
                <a:latin typeface="仿宋" panose="02010609060101010101" pitchFamily="49" charset="-122"/>
                <a:ea typeface="仿宋" panose="02010609060101010101" pitchFamily="49" charset="-122"/>
              </a:rPr>
              <a:t>一方蓄意或者恶意手段实施欺压侮辱，造成另一方人身伤害，财产损失或者精神损害的行为。</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 主要有以下表现形式：</a:t>
            </a:r>
            <a:endParaRPr lang="zh-CN" altLang="en-US" sz="2800" b="1" dirty="0">
              <a:latin typeface="仿宋" panose="02010609060101010101" pitchFamily="49" charset="-122"/>
              <a:ea typeface="仿宋" panose="02010609060101010101" pitchFamily="49" charset="-122"/>
            </a:endParaRPr>
          </a:p>
          <a:p>
            <a:pPr algn="l" eaLnBrk="1" hangingPunct="1">
              <a:buClrTx/>
              <a:buSzTx/>
              <a:buFontTx/>
            </a:pPr>
            <a:r>
              <a:rPr lang="zh-CN" altLang="en-US" sz="2800" b="1" dirty="0">
                <a:solidFill>
                  <a:srgbClr val="7030A0"/>
                </a:solidFill>
                <a:latin typeface="华文仿宋" panose="02010600040101010101" pitchFamily="2" charset="-122"/>
                <a:ea typeface="华文仿宋" panose="02010600040101010101" pitchFamily="2" charset="-122"/>
                <a:cs typeface="宋体" panose="02010600030101010101" pitchFamily="2" charset="-122"/>
                <a:hlinkClick r:id="rId2" action="ppaction://hlinkfile">
                  <a:extLst>
                    <a:ext uri="{A12FA001-AC4F-418D-AE19-62706E023703}">
                      <ahyp:hlinkClr xmlns:ahyp="http://schemas.microsoft.com/office/drawing/2018/hyperlinkcolor" val="tx"/>
                    </a:ext>
                  </a:extLst>
                </a:hlinkClick>
              </a:rPr>
              <a:t>肢体欺凌</a:t>
            </a:r>
            <a:r>
              <a:rPr lang="zh-CN" altLang="en-US" sz="2800" b="1" dirty="0">
                <a:solidFill>
                  <a:srgbClr val="0070C0"/>
                </a:solidFill>
                <a:latin typeface="华文仿宋" panose="02010600040101010101" pitchFamily="2" charset="-122"/>
                <a:ea typeface="华文仿宋" panose="02010600040101010101" pitchFamily="2" charset="-122"/>
                <a:cs typeface="宋体" panose="02010600030101010101" pitchFamily="2" charset="-122"/>
              </a:rPr>
              <a:t>，</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通过身体接触实施暴力，如殴打、推搡、踢踹、抢夺财物、故意损毁物品等。这类欺凌较为直观，但隐蔽部位的伤痕可能被忽视。</a:t>
            </a:r>
            <a:endParaRPr lang="en-US" altLang="zh-CN" sz="2800" b="1" dirty="0">
              <a:latin typeface="华文仿宋" panose="02010600040101010101" pitchFamily="2" charset="-122"/>
              <a:ea typeface="华文仿宋" panose="02010600040101010101" pitchFamily="2" charset="-122"/>
              <a:cs typeface="宋体" panose="02010600030101010101" pitchFamily="2" charset="-122"/>
            </a:endParaRPr>
          </a:p>
          <a:p>
            <a:pPr algn="l" eaLnBrk="1" hangingPunct="1">
              <a:buClrTx/>
              <a:buSzTx/>
              <a:buFontTx/>
            </a:pPr>
            <a:r>
              <a:rPr lang="zh-CN" altLang="en-US" sz="2800" b="1" dirty="0">
                <a:solidFill>
                  <a:srgbClr val="0070C0"/>
                </a:solidFill>
                <a:latin typeface="华文仿宋" panose="02010600040101010101" pitchFamily="2" charset="-122"/>
                <a:ea typeface="华文仿宋" panose="02010600040101010101" pitchFamily="2" charset="-122"/>
                <a:cs typeface="宋体" panose="02010600030101010101" pitchFamily="2" charset="-122"/>
              </a:rPr>
              <a:t>言语欺凌，</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以辱骂、嘲笑、起侮辱性绰号、当众贬低人格等方式攻击他人。长期言语暴力可能导致受害者自卑、社交恐惧。</a:t>
            </a:r>
            <a:endParaRPr lang="en-US" altLang="zh-CN" sz="2800" b="1" dirty="0">
              <a:latin typeface="华文仿宋" panose="02010600040101010101" pitchFamily="2" charset="-122"/>
              <a:ea typeface="华文仿宋" panose="02010600040101010101" pitchFamily="2" charset="-122"/>
              <a:cs typeface="宋体" panose="02010600030101010101" pitchFamily="2" charset="-122"/>
            </a:endParaRPr>
          </a:p>
          <a:p>
            <a:pPr algn="l" eaLnBrk="1" hangingPunct="1">
              <a:buClrTx/>
              <a:buSzTx/>
              <a:buFontTx/>
            </a:pPr>
            <a:r>
              <a:rPr lang="zh-CN" altLang="en-US" sz="2800" b="1" dirty="0">
                <a:solidFill>
                  <a:srgbClr val="0070C0"/>
                </a:solidFill>
                <a:latin typeface="华文仿宋" panose="02010600040101010101" pitchFamily="2" charset="-122"/>
                <a:ea typeface="华文仿宋" panose="02010600040101010101" pitchFamily="2" charset="-122"/>
                <a:cs typeface="宋体" panose="02010600030101010101" pitchFamily="2" charset="-122"/>
              </a:rPr>
              <a:t>社交欺凌，</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通过孤立排挤、散播谣言、暴露隐私、破坏人际关系等方式伤害他人。受害者可能突然失去朋友或回避社交活动。</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EFB19-5B48-FA09-560A-C9EDE3AE45B5}"/>
            </a:ext>
          </a:extLst>
        </p:cNvPr>
        <p:cNvGrpSpPr/>
        <p:nvPr/>
      </p:nvGrpSpPr>
      <p:grpSpPr>
        <a:xfrm>
          <a:off x="0" y="0"/>
          <a:ext cx="0" cy="0"/>
          <a:chOff x="0" y="0"/>
          <a:chExt cx="0" cy="0"/>
        </a:xfrm>
      </p:grpSpPr>
      <p:sp>
        <p:nvSpPr>
          <p:cNvPr id="19459" name="Rectangle 3">
            <a:extLst>
              <a:ext uri="{FF2B5EF4-FFF2-40B4-BE49-F238E27FC236}">
                <a16:creationId xmlns:a16="http://schemas.microsoft.com/office/drawing/2014/main" id="{D2A0CB44-3400-6F2F-C9B4-BA24902A2DA4}"/>
              </a:ext>
            </a:extLst>
          </p:cNvPr>
          <p:cNvSpPr>
            <a:spLocks noGrp="1"/>
          </p:cNvSpPr>
          <p:nvPr/>
        </p:nvSpPr>
        <p:spPr>
          <a:xfrm>
            <a:off x="1146810" y="609600"/>
            <a:ext cx="9803765" cy="5461635"/>
          </a:xfrm>
          <a:prstGeom prst="rect">
            <a:avLst/>
          </a:prstGeom>
          <a:noFill/>
          <a:ln w="9525">
            <a:noFill/>
          </a:ln>
        </p:spPr>
        <p:txBody>
          <a:bodyPr vert="horz" wrap="square" lIns="91440" tIns="45720" rIns="91440" bIns="45720" anchor="t"/>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algn="l" eaLnBrk="1" hangingPunct="1">
              <a:buClrTx/>
              <a:buSzTx/>
              <a:buFontTx/>
            </a:pPr>
            <a:r>
              <a:rPr lang="en-US" altLang="zh-CN" sz="2800" b="1" dirty="0">
                <a:solidFill>
                  <a:srgbClr val="7030A0"/>
                </a:solidFill>
                <a:latin typeface="华文仿宋" panose="02010600040101010101" pitchFamily="2" charset="-122"/>
                <a:ea typeface="华文仿宋" panose="02010600040101010101" pitchFamily="2" charset="-122"/>
                <a:hlinkClick r:id="rId2" action="ppaction://hlinkfile">
                  <a:extLst>
                    <a:ext uri="{A12FA001-AC4F-418D-AE19-62706E023703}">
                      <ahyp:hlinkClr xmlns:ahyp="http://schemas.microsoft.com/office/drawing/2018/hyperlinkcolor" val="tx"/>
                    </a:ext>
                  </a:extLst>
                </a:hlinkClick>
              </a:rPr>
              <a:t>    </a:t>
            </a:r>
            <a:r>
              <a:rPr lang="en-US" altLang="zh-CN" sz="2800" b="1" dirty="0">
                <a:solidFill>
                  <a:srgbClr val="7030A0"/>
                </a:solidFill>
                <a:latin typeface="华文仿宋" panose="02010600040101010101" pitchFamily="2" charset="-122"/>
                <a:ea typeface="华文仿宋" panose="02010600040101010101" pitchFamily="2" charset="-122"/>
                <a:cs typeface="宋体" panose="02010600030101010101" pitchFamily="2" charset="-122"/>
                <a:hlinkClick r:id="rId2" action="ppaction://hlinkfile">
                  <a:extLst>
                    <a:ext uri="{A12FA001-AC4F-418D-AE19-62706E023703}">
                      <ahyp:hlinkClr xmlns:ahyp="http://schemas.microsoft.com/office/drawing/2018/hyperlinkcolor" val="tx"/>
                    </a:ext>
                  </a:extLst>
                </a:hlinkClick>
              </a:rPr>
              <a:t> </a:t>
            </a:r>
            <a:r>
              <a:rPr lang="zh-CN" altLang="en-US" sz="2800" b="1" dirty="0">
                <a:solidFill>
                  <a:srgbClr val="7030A0"/>
                </a:solidFill>
                <a:latin typeface="华文仿宋" panose="02010600040101010101" pitchFamily="2" charset="-122"/>
                <a:ea typeface="华文仿宋" panose="02010600040101010101" pitchFamily="2" charset="-122"/>
                <a:cs typeface="宋体" panose="02010600030101010101" pitchFamily="2" charset="-122"/>
                <a:hlinkClick r:id="rId2" action="ppaction://hlinkfile">
                  <a:extLst>
                    <a:ext uri="{A12FA001-AC4F-418D-AE19-62706E023703}">
                      <ahyp:hlinkClr xmlns:ahyp="http://schemas.microsoft.com/office/drawing/2018/hyperlinkcolor" val="tx"/>
                    </a:ext>
                  </a:extLst>
                </a:hlinkClick>
              </a:rPr>
              <a:t>网络欺凌</a:t>
            </a:r>
            <a:r>
              <a:rPr lang="zh-CN" altLang="en-US" sz="2800" b="1" dirty="0">
                <a:solidFill>
                  <a:srgbClr val="0070C0"/>
                </a:solidFill>
                <a:latin typeface="华文仿宋" panose="02010600040101010101" pitchFamily="2" charset="-122"/>
                <a:ea typeface="华文仿宋" panose="02010600040101010101" pitchFamily="2" charset="-122"/>
                <a:cs typeface="宋体" panose="02010600030101010101" pitchFamily="2" charset="-122"/>
              </a:rPr>
              <a:t>，</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利用社交媒体、即时通讯工具等网络平台，传播谣言、恶意</a:t>
            </a:r>
            <a:r>
              <a:rPr lang="en-US" altLang="zh-CN" sz="2800" b="1" dirty="0">
                <a:latin typeface="华文仿宋" panose="02010600040101010101" pitchFamily="2" charset="-122"/>
                <a:ea typeface="华文仿宋" panose="02010600040101010101" pitchFamily="2" charset="-122"/>
                <a:cs typeface="宋体" panose="02010600030101010101" pitchFamily="2" charset="-122"/>
              </a:rPr>
              <a:t>P</a:t>
            </a:r>
            <a:r>
              <a:rPr lang="zh-CN" altLang="en-US" sz="2800" b="1" dirty="0">
                <a:latin typeface="华文仿宋" panose="02010600040101010101" pitchFamily="2" charset="-122"/>
                <a:ea typeface="华文仿宋" panose="02010600040101010101" pitchFamily="2" charset="-122"/>
                <a:cs typeface="宋体" panose="02010600030101010101" pitchFamily="2" charset="-122"/>
              </a:rPr>
              <a:t>图、公开隐私或进行言语攻击。网络欺凌传播速度快，伤害范围广，对受害者心理影响更持久。</a:t>
            </a:r>
            <a:endParaRPr lang="en-US" altLang="zh-CN" sz="2800" b="1" dirty="0">
              <a:latin typeface="华文仿宋" panose="02010600040101010101" pitchFamily="2" charset="-122"/>
              <a:ea typeface="华文仿宋" panose="02010600040101010101" pitchFamily="2" charset="-122"/>
              <a:cs typeface="宋体" panose="02010600030101010101" pitchFamily="2" charset="-122"/>
            </a:endParaRPr>
          </a:p>
          <a:p>
            <a:pPr algn="l" eaLnBrk="1" hangingPunct="1">
              <a:buClrTx/>
              <a:buSzTx/>
              <a:buFontTx/>
            </a:pPr>
            <a:r>
              <a:rPr lang="en-US" altLang="zh-CN" sz="2800" b="1" dirty="0">
                <a:solidFill>
                  <a:srgbClr val="0070C0"/>
                </a:solidFill>
                <a:latin typeface="华文仿宋" panose="02010600040101010101" pitchFamily="2" charset="-122"/>
                <a:ea typeface="华文仿宋" panose="02010600040101010101" pitchFamily="2" charset="-122"/>
              </a:rPr>
              <a:t>    </a:t>
            </a:r>
            <a:r>
              <a:rPr lang="zh-CN" altLang="zh-CN" sz="2800" b="1" dirty="0">
                <a:solidFill>
                  <a:srgbClr val="0070C0"/>
                </a:solidFill>
                <a:latin typeface="华文仿宋" panose="02010600040101010101" pitchFamily="2" charset="-122"/>
                <a:ea typeface="华文仿宋" panose="02010600040101010101" pitchFamily="2" charset="-122"/>
              </a:rPr>
              <a:t>财物欺凌，</a:t>
            </a:r>
            <a:r>
              <a:rPr lang="zh-CN" altLang="zh-CN" sz="2800" b="1" dirty="0">
                <a:latin typeface="华文仿宋" panose="02010600040101010101" pitchFamily="2" charset="-122"/>
                <a:ea typeface="华文仿宋" panose="02010600040101010101" pitchFamily="2" charset="-122"/>
              </a:rPr>
              <a:t>包括损毁被欺凌者的财物（如文具、衣物）或索要钱财。此类行为不仅造成物质损失，还会给受害者带来精神压力。</a:t>
            </a:r>
            <a:endParaRPr lang="en-US" altLang="zh-CN" sz="2800" b="1" dirty="0">
              <a:latin typeface="华文仿宋" panose="02010600040101010101" pitchFamily="2" charset="-122"/>
              <a:ea typeface="华文仿宋" panose="02010600040101010101" pitchFamily="2" charset="-122"/>
            </a:endParaRPr>
          </a:p>
          <a:p>
            <a:pPr algn="l" eaLnBrk="1" hangingPunct="1">
              <a:buClrTx/>
              <a:buSzTx/>
              <a:buFontTx/>
            </a:pPr>
            <a:r>
              <a:rPr lang="zh-CN" altLang="en-US" sz="2800" b="1" dirty="0">
                <a:latin typeface="华文仿宋" panose="02010600040101010101" pitchFamily="2" charset="-122"/>
                <a:ea typeface="华文仿宋" panose="02010600040101010101" pitchFamily="2" charset="-122"/>
              </a:rPr>
              <a:t>    </a:t>
            </a:r>
            <a:r>
              <a:rPr lang="zh-CN" altLang="en-US" sz="2800" b="1" dirty="0">
                <a:solidFill>
                  <a:srgbClr val="0070C0"/>
                </a:solidFill>
                <a:latin typeface="华文仿宋" panose="02010600040101010101" pitchFamily="2" charset="-122"/>
                <a:ea typeface="华文仿宋" panose="02010600040101010101" pitchFamily="2" charset="-122"/>
              </a:rPr>
              <a:t>性欺凌，</a:t>
            </a:r>
            <a:r>
              <a:rPr lang="zh-CN" altLang="en-US" sz="2800" b="1" dirty="0">
                <a:latin typeface="华文仿宋" panose="02010600040101010101" pitchFamily="2" charset="-122"/>
                <a:ea typeface="华文仿宋" panose="02010600040101010101" pitchFamily="2" charset="-122"/>
              </a:rPr>
              <a:t>以性或身体特殊部位为取笑、嘲弄对象，拍摄或散播与性相关的图片、影像及文字，或强迫摩擦、攻击被欺凌者身体特殊部位。性欺凌对受害者的精神伤害极为严重。（案例）</a:t>
            </a:r>
            <a:endParaRPr lang="en-US" altLang="zh-CN" sz="2800" b="1" dirty="0">
              <a:latin typeface="华文仿宋" panose="02010600040101010101" pitchFamily="2" charset="-122"/>
              <a:ea typeface="华文仿宋" panose="02010600040101010101" pitchFamily="2" charset="-122"/>
            </a:endParaRPr>
          </a:p>
          <a:p>
            <a:pPr algn="l" eaLnBrk="1" hangingPunct="1">
              <a:buClrTx/>
              <a:buSzTx/>
              <a:buFontTx/>
            </a:pPr>
            <a:r>
              <a:rPr lang="zh-CN" altLang="en-US" sz="2800" b="1" dirty="0">
                <a:solidFill>
                  <a:srgbClr val="0070C0"/>
                </a:solidFill>
                <a:latin typeface="华文仿宋" panose="02010600040101010101" pitchFamily="2" charset="-122"/>
                <a:ea typeface="华文仿宋" panose="02010600040101010101" pitchFamily="2" charset="-122"/>
              </a:rPr>
              <a:t>     面对貌似欺凌事件，我们作为班主任要时刻绷紧神经，关注学生的情绪变化，突然不愿意上学，身体伤痕的，我们要及时关注，并采取相应措施。</a:t>
            </a:r>
            <a:endParaRPr lang="en-US" altLang="zh-CN" sz="2800" b="1" dirty="0">
              <a:solidFill>
                <a:srgbClr val="0070C0"/>
              </a:solidFill>
              <a:latin typeface="华文仿宋" panose="02010600040101010101" pitchFamily="2" charset="-122"/>
              <a:ea typeface="华文仿宋" panose="02010600040101010101" pitchFamily="2" charset="-122"/>
            </a:endParaRPr>
          </a:p>
          <a:p>
            <a:pPr algn="l" eaLnBrk="1" hangingPunct="1">
              <a:buClrTx/>
              <a:buSzTx/>
              <a:buFontTx/>
            </a:pPr>
            <a:r>
              <a:rPr lang="zh-CN" altLang="en-US" sz="2800" b="1" dirty="0">
                <a:latin typeface="华文仿宋" panose="02010600040101010101" pitchFamily="2" charset="-122"/>
                <a:ea typeface="华文仿宋" panose="02010600040101010101" pitchFamily="2" charset="-122"/>
              </a:rPr>
              <a:t>    </a:t>
            </a:r>
          </a:p>
        </p:txBody>
      </p:sp>
    </p:spTree>
    <p:extLst>
      <p:ext uri="{BB962C8B-B14F-4D97-AF65-F5344CB8AC3E}">
        <p14:creationId xmlns:p14="http://schemas.microsoft.com/office/powerpoint/2010/main" val="1983421595"/>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231900" y="725805"/>
            <a:ext cx="9419590" cy="760095"/>
          </a:xfrm>
        </p:spPr>
        <p:txBody>
          <a:bodyPr rtlCol="0">
            <a:normAutofit/>
          </a:bodyPr>
          <a:lstStyle/>
          <a:p>
            <a:pPr>
              <a:defRPr/>
            </a:pPr>
            <a:r>
              <a:rPr lang="zh-CN" altLang="en-US" b="1" dirty="0">
                <a:latin typeface="宋体" panose="02010600030101010101" pitchFamily="2" charset="-122"/>
              </a:rPr>
              <a:t> </a:t>
            </a:r>
            <a:r>
              <a:rPr lang="zh-CN" altLang="en-US" sz="3200" b="1" dirty="0">
                <a:latin typeface="宋体" panose="02010600030101010101" pitchFamily="2" charset="-122"/>
              </a:rPr>
              <a:t>四、突发事件、安全事故、隐患的报告</a:t>
            </a:r>
            <a:r>
              <a:rPr lang="zh-CN" altLang="en-US" sz="4000" dirty="0">
                <a:latin typeface="宋体" panose="02010600030101010101" pitchFamily="2" charset="-122"/>
              </a:rPr>
              <a:t> </a:t>
            </a:r>
          </a:p>
        </p:txBody>
      </p:sp>
      <p:sp>
        <p:nvSpPr>
          <p:cNvPr id="7174" name="Text Box 6"/>
          <p:cNvSpPr txBox="1">
            <a:spLocks noChangeArrowheads="1"/>
          </p:cNvSpPr>
          <p:nvPr/>
        </p:nvSpPr>
        <p:spPr bwMode="auto">
          <a:xfrm>
            <a:off x="1231900" y="1558925"/>
            <a:ext cx="952627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indent="0" eaLnBrk="1" hangingPunct="1">
              <a:lnSpc>
                <a:spcPct val="150000"/>
              </a:lnSpc>
              <a:buSzPct val="100000"/>
              <a:buFont typeface="Wingdings" panose="05000000000000000000" pitchFamily="2" charset="2"/>
              <a:buNone/>
            </a:pPr>
            <a:r>
              <a:rPr lang="zh-CN" altLang="en-US" sz="2800" b="1" dirty="0">
                <a:latin typeface="宋体" panose="02010600030101010101" pitchFamily="2" charset="-122"/>
              </a:rPr>
              <a:t>各类安全事故举不胜举，安全工作防不胜防，安全事故随时就在我们身边发生。当发生涉校、涉师、涉生安全隐患、安全事件的时候，要保持冷静，不能慌张，要第一时间上报年段及保卫科，在校园里所发生的涉师涉生问题不要随意打</a:t>
            </a:r>
            <a:r>
              <a:rPr lang="en-US" altLang="zh-CN" sz="2800" b="1" dirty="0">
                <a:latin typeface="宋体" panose="02010600030101010101" pitchFamily="2" charset="-122"/>
              </a:rPr>
              <a:t>110</a:t>
            </a:r>
            <a:r>
              <a:rPr lang="zh-CN" altLang="en-US" sz="2800" b="1" dirty="0">
                <a:latin typeface="宋体" panose="02010600030101010101" pitchFamily="2" charset="-122"/>
              </a:rPr>
              <a:t>报警，发现问题首先上报保卫科，由保卫科判定是否报警，该怎么报。</a:t>
            </a:r>
          </a:p>
          <a:p>
            <a:pPr eaLnBrk="1" hangingPunct="1"/>
            <a:endParaRPr lang="zh-CN" altLang="en-US" sz="2800"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817880" y="565468"/>
            <a:ext cx="8229600" cy="760412"/>
          </a:xfrm>
        </p:spPr>
        <p:txBody>
          <a:bodyPr rtlCol="0">
            <a:normAutofit/>
          </a:bodyPr>
          <a:lstStyle/>
          <a:p>
            <a:pPr>
              <a:defRPr/>
            </a:pPr>
            <a:r>
              <a:rPr lang="zh-CN" altLang="en-US" b="1" dirty="0"/>
              <a:t>      （一）首遇负责</a:t>
            </a:r>
            <a:endParaRPr lang="zh-CN" altLang="en-US" sz="3200" b="1" dirty="0"/>
          </a:p>
        </p:txBody>
      </p:sp>
      <p:sp>
        <p:nvSpPr>
          <p:cNvPr id="6147" name="Rectangle 3"/>
          <p:cNvSpPr>
            <a:spLocks noGrp="1" noChangeArrowheads="1"/>
          </p:cNvSpPr>
          <p:nvPr>
            <p:ph type="body" idx="4294967295"/>
          </p:nvPr>
        </p:nvSpPr>
        <p:spPr>
          <a:xfrm>
            <a:off x="540775" y="1325880"/>
            <a:ext cx="10997176" cy="5650230"/>
          </a:xfrm>
        </p:spPr>
        <p:txBody>
          <a:bodyPr>
            <a:noAutofit/>
          </a:bodyPr>
          <a:lstStyle/>
          <a:p>
            <a:pPr fontAlgn="auto">
              <a:lnSpc>
                <a:spcPts val="4060"/>
              </a:lnSpc>
              <a:buFontTx/>
              <a:buNone/>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安全首遇负责制，是指学生发生安全事故或其他突发事件时，第一个看到、遇到、发现的教职工，要进行应急处置，对学生进行救助、报告。</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所有教职工都负有管理、教育、保护学生的责任，对学生安全实行“首遇负责制”，对学生安全问题做到谁发现，谁首先进行处理，不得出现延迟处理和视而不见的情况。</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首遇负责制，不是要求首遇学生安全突发事件的教职工对学生突发事件承担责任，而是有立即采取措施的责任。当然，如果因为没有采取措施而导致学生伤亡，则应承担责任。</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817880" y="565468"/>
            <a:ext cx="8229600" cy="760412"/>
          </a:xfrm>
        </p:spPr>
        <p:txBody>
          <a:bodyPr rtlCol="0">
            <a:normAutofit/>
          </a:bodyPr>
          <a:lstStyle/>
          <a:p>
            <a:pPr>
              <a:defRPr/>
            </a:pPr>
            <a:r>
              <a:rPr lang="zh-CN" altLang="en-US" b="1" dirty="0"/>
              <a:t>      </a:t>
            </a:r>
            <a:endParaRPr lang="zh-CN" altLang="en-US" sz="3200" b="1" dirty="0"/>
          </a:p>
        </p:txBody>
      </p:sp>
      <p:sp>
        <p:nvSpPr>
          <p:cNvPr id="6147" name="Rectangle 3"/>
          <p:cNvSpPr>
            <a:spLocks noGrp="1" noChangeArrowheads="1"/>
          </p:cNvSpPr>
          <p:nvPr>
            <p:ph type="body" idx="4294967295"/>
          </p:nvPr>
        </p:nvSpPr>
        <p:spPr>
          <a:xfrm>
            <a:off x="735965" y="934367"/>
            <a:ext cx="10720070" cy="5650230"/>
          </a:xfrm>
        </p:spPr>
        <p:txBody>
          <a:bodyPr>
            <a:noAutofit/>
          </a:bodyPr>
          <a:lstStyle/>
          <a:p>
            <a:pPr fontAlgn="auto">
              <a:lnSpc>
                <a:spcPts val="4060"/>
              </a:lnSpc>
              <a:buFontTx/>
              <a:buNone/>
            </a:pPr>
            <a:r>
              <a:rPr lang="en-US" altLang="zh-CN" b="1" dirty="0">
                <a:latin typeface="宋体" panose="02010600030101010101" pitchFamily="2" charset="-122"/>
                <a:ea typeface="宋体" panose="02010600030101010101" pitchFamily="2" charset="-122"/>
              </a:rPr>
              <a:t>4.</a:t>
            </a:r>
            <a:r>
              <a:rPr lang="zh-CN" altLang="en-US" b="1" dirty="0">
                <a:latin typeface="宋体" panose="02010600030101010101" pitchFamily="2" charset="-122"/>
                <a:ea typeface="宋体" panose="02010600030101010101" pitchFamily="2" charset="-122"/>
              </a:rPr>
              <a:t>首遇学生安全突发事件，最基本的是视情立即拨打急救电话，立即呼叫同事，联系班主任和报告学校负责人。</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5.</a:t>
            </a:r>
            <a:r>
              <a:rPr lang="zh-CN" altLang="en-US" b="1" dirty="0">
                <a:latin typeface="宋体" panose="02010600030101010101" pitchFamily="2" charset="-122"/>
                <a:ea typeface="宋体" panose="02010600030101010101" pitchFamily="2" charset="-122"/>
              </a:rPr>
              <a:t>需要立即处理的学生安全突发事件包括：学生活动受伤、烫伤、磕碰伤等意外伤害；学生昏迷；学生呕吐腹泻发热或其他不适症状；学生正在进行攀爬护栏、围墙或在楼梯打闹等类似危险行为；学生正在打架或实施欺凌；校外人员殴打、威胁学生，等等。</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6.</a:t>
            </a:r>
            <a:r>
              <a:rPr lang="zh-CN" altLang="en-US" b="1" dirty="0">
                <a:latin typeface="宋体" panose="02010600030101010101" pitchFamily="2" charset="-122"/>
                <a:ea typeface="宋体" panose="02010600030101010101" pitchFamily="2" charset="-122"/>
              </a:rPr>
              <a:t>遇到学生不安全行为，首遇教职工要第一时间制止，有必要的，问询班级，告知学校负责人或班主任。</a:t>
            </a: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45672879"/>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817880" y="565468"/>
            <a:ext cx="8229600" cy="760412"/>
          </a:xfrm>
        </p:spPr>
        <p:txBody>
          <a:bodyPr rtlCol="0">
            <a:normAutofit/>
          </a:bodyPr>
          <a:lstStyle/>
          <a:p>
            <a:pPr>
              <a:defRPr/>
            </a:pPr>
            <a:r>
              <a:rPr lang="zh-CN" altLang="en-US" b="1" dirty="0"/>
              <a:t>      </a:t>
            </a:r>
            <a:endParaRPr lang="zh-CN" altLang="en-US" sz="3200" b="1" dirty="0"/>
          </a:p>
        </p:txBody>
      </p:sp>
      <p:sp>
        <p:nvSpPr>
          <p:cNvPr id="6147" name="Rectangle 3"/>
          <p:cNvSpPr>
            <a:spLocks noGrp="1" noChangeArrowheads="1"/>
          </p:cNvSpPr>
          <p:nvPr>
            <p:ph type="body" idx="4294967295"/>
          </p:nvPr>
        </p:nvSpPr>
        <p:spPr>
          <a:xfrm>
            <a:off x="817880" y="844100"/>
            <a:ext cx="10720070" cy="5650230"/>
          </a:xfrm>
        </p:spPr>
        <p:txBody>
          <a:bodyPr>
            <a:noAutofit/>
          </a:bodyPr>
          <a:lstStyle/>
          <a:p>
            <a:pPr>
              <a:lnSpc>
                <a:spcPts val="4060"/>
              </a:lnSpc>
              <a:buNone/>
            </a:pPr>
            <a:r>
              <a:rPr lang="en-US" altLang="zh-CN" b="1" dirty="0">
                <a:latin typeface="宋体" panose="02010600030101010101" pitchFamily="2" charset="-122"/>
                <a:ea typeface="宋体" panose="02010600030101010101" pitchFamily="2" charset="-122"/>
              </a:rPr>
              <a:t>7.</a:t>
            </a:r>
            <a:r>
              <a:rPr lang="zh-CN" altLang="en-US" b="1" dirty="0">
                <a:latin typeface="宋体" panose="02010600030101010101" pitchFamily="2" charset="-122"/>
                <a:ea typeface="宋体" panose="02010600030101010101" pitchFamily="2" charset="-122"/>
              </a:rPr>
              <a:t>遇到学生欺凌和暴力，首遇教职工要第一时间制止，并告知学校负责人和班主任及时处理，避免后续学生继续实施欺凌和暴力，造成伤害伤亡。</a:t>
            </a:r>
          </a:p>
          <a:p>
            <a:pPr fontAlgn="auto">
              <a:lnSpc>
                <a:spcPts val="4060"/>
              </a:lnSpc>
              <a:buFontTx/>
              <a:buNone/>
            </a:pPr>
            <a:r>
              <a:rPr lang="en-US" altLang="zh-CN" b="1" dirty="0">
                <a:latin typeface="宋体" panose="02010600030101010101" pitchFamily="2" charset="-122"/>
                <a:ea typeface="宋体" panose="02010600030101010101" pitchFamily="2" charset="-122"/>
              </a:rPr>
              <a:t>8.</a:t>
            </a:r>
            <a:r>
              <a:rPr lang="zh-CN" altLang="en-US" b="1" dirty="0">
                <a:latin typeface="宋体" panose="02010600030101010101" pitchFamily="2" charset="-122"/>
                <a:ea typeface="宋体" panose="02010600030101010101" pitchFamily="2" charset="-122"/>
              </a:rPr>
              <a:t>对难以制止或情况严重的学生暴力事件，在制止的同时，立即报告学校负责人，拨打报警电话。</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9.</a:t>
            </a:r>
            <a:r>
              <a:rPr lang="zh-CN" altLang="en-US" b="1" dirty="0">
                <a:latin typeface="宋体" panose="02010600030101010101" pitchFamily="2" charset="-122"/>
                <a:ea typeface="宋体" panose="02010600030101010101" pitchFamily="2" charset="-122"/>
              </a:rPr>
              <a:t>遇到学生突发伤病，首遇教职工要第一时间告知学校负责人或和班主任，情况严重的，要立即采取措施，呼叫同事、校医，拨打急救电话。</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10.</a:t>
            </a:r>
            <a:r>
              <a:rPr lang="zh-CN" altLang="en-US" b="1" dirty="0">
                <a:latin typeface="宋体" panose="02010600030101010101" pitchFamily="2" charset="-122"/>
                <a:ea typeface="宋体" panose="02010600030101010101" pitchFamily="2" charset="-122"/>
              </a:rPr>
              <a:t>教职工要在岗在位，不得擅离职守，以及时发现学生安全问题并立即处置。</a:t>
            </a: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35243209"/>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817880" y="565468"/>
            <a:ext cx="8229600" cy="760412"/>
          </a:xfrm>
        </p:spPr>
        <p:txBody>
          <a:bodyPr rtlCol="0">
            <a:normAutofit/>
          </a:bodyPr>
          <a:lstStyle/>
          <a:p>
            <a:pPr>
              <a:defRPr/>
            </a:pPr>
            <a:r>
              <a:rPr lang="zh-CN" altLang="en-US" b="1" dirty="0"/>
              <a:t>      </a:t>
            </a:r>
            <a:endParaRPr lang="zh-CN" altLang="en-US" sz="3200" b="1" dirty="0"/>
          </a:p>
        </p:txBody>
      </p:sp>
      <p:sp>
        <p:nvSpPr>
          <p:cNvPr id="6147" name="Rectangle 3"/>
          <p:cNvSpPr>
            <a:spLocks noGrp="1" noChangeArrowheads="1"/>
          </p:cNvSpPr>
          <p:nvPr>
            <p:ph type="body" idx="4294967295"/>
          </p:nvPr>
        </p:nvSpPr>
        <p:spPr>
          <a:xfrm>
            <a:off x="817880" y="1325880"/>
            <a:ext cx="10720070" cy="5650230"/>
          </a:xfrm>
        </p:spPr>
        <p:txBody>
          <a:bodyPr>
            <a:noAutofit/>
          </a:bodyPr>
          <a:lstStyle/>
          <a:p>
            <a:pPr>
              <a:lnSpc>
                <a:spcPts val="4060"/>
              </a:lnSpc>
              <a:buNone/>
            </a:pPr>
            <a:r>
              <a:rPr lang="en-US" altLang="zh-CN" b="1" dirty="0">
                <a:latin typeface="宋体" panose="02010600030101010101" pitchFamily="2" charset="-122"/>
                <a:ea typeface="宋体" panose="02010600030101010101" pitchFamily="2" charset="-122"/>
              </a:rPr>
              <a:t>11.</a:t>
            </a:r>
            <a:r>
              <a:rPr lang="zh-CN" altLang="en-US" b="1" dirty="0">
                <a:latin typeface="宋体" panose="02010600030101010101" pitchFamily="2" charset="-122"/>
                <a:ea typeface="宋体" panose="02010600030101010101" pitchFamily="2" charset="-122"/>
              </a:rPr>
              <a:t>全体教职工遇到学生各类安全问题，都要第一时间采取相应措施，保护学生安全，防止伤亡，保护学生至其他人员到来，不需要自己参与时才可离开。</a:t>
            </a:r>
            <a:endParaRPr lang="en-US" altLang="zh-CN" b="1" dirty="0">
              <a:latin typeface="宋体" panose="02010600030101010101" pitchFamily="2" charset="-122"/>
              <a:ea typeface="宋体" panose="02010600030101010101" pitchFamily="2" charset="-122"/>
            </a:endParaRPr>
          </a:p>
          <a:p>
            <a:pPr>
              <a:lnSpc>
                <a:spcPts val="4060"/>
              </a:lnSpc>
              <a:buNone/>
            </a:pPr>
            <a:r>
              <a:rPr lang="en-US" altLang="zh-CN" b="1" dirty="0">
                <a:latin typeface="宋体" panose="02010600030101010101" pitchFamily="2" charset="-122"/>
                <a:ea typeface="宋体" panose="02010600030101010101" pitchFamily="2" charset="-122"/>
              </a:rPr>
              <a:t>12.</a:t>
            </a:r>
            <a:r>
              <a:rPr lang="zh-CN" altLang="en-US" b="1" dirty="0">
                <a:latin typeface="宋体" panose="02010600030101010101" pitchFamily="2" charset="-122"/>
                <a:ea typeface="宋体" panose="02010600030101010101" pitchFamily="2" charset="-122"/>
              </a:rPr>
              <a:t>即使在校园周边遇到学生遭遇危险，也应力所能及给予救助。</a:t>
            </a:r>
            <a:endParaRPr lang="en-US" altLang="zh-CN" b="1" dirty="0">
              <a:latin typeface="宋体" panose="02010600030101010101" pitchFamily="2" charset="-122"/>
              <a:ea typeface="宋体" panose="02010600030101010101" pitchFamily="2" charset="-122"/>
            </a:endParaRPr>
          </a:p>
          <a:p>
            <a:pPr fontAlgn="auto">
              <a:lnSpc>
                <a:spcPts val="4060"/>
              </a:lnSpc>
              <a:buFontTx/>
              <a:buNone/>
            </a:pPr>
            <a:r>
              <a:rPr lang="en-US" altLang="zh-CN" b="1" dirty="0">
                <a:latin typeface="宋体" panose="02010600030101010101" pitchFamily="2" charset="-122"/>
                <a:ea typeface="宋体" panose="02010600030101010101" pitchFamily="2" charset="-122"/>
              </a:rPr>
              <a:t>13.</a:t>
            </a:r>
            <a:r>
              <a:rPr lang="zh-CN" altLang="en-US" b="1" dirty="0">
                <a:latin typeface="宋体" panose="02010600030101010101" pitchFamily="2" charset="-122"/>
                <a:ea typeface="宋体" panose="02010600030101010101" pitchFamily="2" charset="-122"/>
              </a:rPr>
              <a:t>首遇负责是指所有教职工对校园内所有学生的安全突发事件都要进行处置，不管是不是认识学生。</a:t>
            </a:r>
          </a:p>
        </p:txBody>
      </p:sp>
    </p:spTree>
    <p:extLst>
      <p:ext uri="{BB962C8B-B14F-4D97-AF65-F5344CB8AC3E}">
        <p14:creationId xmlns:p14="http://schemas.microsoft.com/office/powerpoint/2010/main" val="194268115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0590" y="403348"/>
            <a:ext cx="10370820" cy="3222998"/>
          </a:xfrm>
          <a:prstGeom prst="rect">
            <a:avLst/>
          </a:prstGeom>
          <a:noFill/>
        </p:spPr>
        <p:txBody>
          <a:bodyPr wrap="square" rtlCol="0" anchor="t">
            <a:spAutoFit/>
          </a:bodyPr>
          <a:lstStyle/>
          <a:p>
            <a:pPr fontAlgn="auto">
              <a:lnSpc>
                <a:spcPct val="150000"/>
              </a:lnSpc>
              <a:buFontTx/>
              <a:buNone/>
            </a:pPr>
            <a:r>
              <a:rPr lang="zh-CN" altLang="en-US" sz="2800" b="1" dirty="0">
                <a:latin typeface="宋体" panose="02010600030101010101" pitchFamily="2" charset="-122"/>
                <a:ea typeface="宋体" panose="02010600030101010101" pitchFamily="2" charset="-122"/>
                <a:sym typeface="+mn-ea"/>
              </a:rPr>
              <a:t>（二）报告制度</a:t>
            </a:r>
            <a:endParaRPr lang="en-US" altLang="zh-CN" sz="2800" b="1" dirty="0">
              <a:latin typeface="宋体" panose="02010600030101010101" pitchFamily="2" charset="-122"/>
              <a:ea typeface="宋体" panose="02010600030101010101" pitchFamily="2" charset="-122"/>
              <a:sym typeface="+mn-ea"/>
            </a:endParaRPr>
          </a:p>
          <a:p>
            <a:pPr fontAlgn="auto">
              <a:lnSpc>
                <a:spcPct val="150000"/>
              </a:lnSpc>
              <a:buFontTx/>
              <a:buNone/>
            </a:pPr>
            <a:r>
              <a:rPr lang="zh-CN" altLang="en-US" sz="2800" b="1" dirty="0">
                <a:latin typeface="宋体" panose="02010600030101010101" pitchFamily="2" charset="-122"/>
                <a:ea typeface="宋体" panose="02010600030101010101" pitchFamily="2" charset="-122"/>
                <a:sym typeface="+mn-ea"/>
              </a:rPr>
              <a:t>   全校教职工要明确职责，对突发事件未及时处置、漏报、瞒报、迟报而贻误处理时机，导致严重后果的，要追究相关领导及当事人的责任；触犯法律的，要移交司法机关追究刑事责任。（</a:t>
            </a:r>
            <a:r>
              <a:rPr lang="en-US" altLang="zh-CN" sz="2800" b="1" dirty="0">
                <a:latin typeface="宋体" panose="02010600030101010101" pitchFamily="2" charset="-122"/>
                <a:ea typeface="宋体" panose="02010600030101010101" pitchFamily="2" charset="-122"/>
                <a:sym typeface="+mn-ea"/>
              </a:rPr>
              <a:t>2020</a:t>
            </a:r>
            <a:r>
              <a:rPr lang="zh-CN" altLang="en-US" sz="2800" b="1" dirty="0">
                <a:latin typeface="宋体" panose="02010600030101010101" pitchFamily="2" charset="-122"/>
                <a:ea typeface="宋体" panose="02010600030101010101" pitchFamily="2" charset="-122"/>
                <a:sym typeface="+mn-ea"/>
              </a:rPr>
              <a:t>年</a:t>
            </a:r>
            <a:r>
              <a:rPr lang="en-US" altLang="zh-CN" sz="2800" b="1" dirty="0">
                <a:latin typeface="宋体" panose="02010600030101010101" pitchFamily="2" charset="-122"/>
                <a:ea typeface="宋体" panose="02010600030101010101" pitchFamily="2" charset="-122"/>
                <a:sym typeface="+mn-ea"/>
              </a:rPr>
              <a:t>7</a:t>
            </a:r>
            <a:r>
              <a:rPr lang="zh-CN" altLang="en-US" sz="2800" b="1" dirty="0">
                <a:latin typeface="宋体" panose="02010600030101010101" pitchFamily="2" charset="-122"/>
                <a:ea typeface="宋体" panose="02010600030101010101" pitchFamily="2" charset="-122"/>
                <a:sym typeface="+mn-ea"/>
              </a:rPr>
              <a:t>月高三案例）</a:t>
            </a:r>
            <a:endParaRPr lang="en-US" altLang="zh-CN" sz="2800" b="1" dirty="0">
              <a:latin typeface="宋体" panose="02010600030101010101" pitchFamily="2" charset="-122"/>
              <a:ea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sz="half" idx="4294967295"/>
          </p:nvPr>
        </p:nvSpPr>
        <p:spPr>
          <a:xfrm>
            <a:off x="622299" y="1073785"/>
            <a:ext cx="10989597" cy="5150034"/>
          </a:xfrm>
        </p:spPr>
        <p:txBody>
          <a:bodyPr rtlCol="0">
            <a:noAutofit/>
          </a:bodyPr>
          <a:lstStyle/>
          <a:p>
            <a:pPr fontAlgn="auto">
              <a:lnSpc>
                <a:spcPct val="100000"/>
              </a:lnSpc>
              <a:buNone/>
              <a:defRPr/>
            </a:pPr>
            <a:r>
              <a:rPr lang="en-US"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涉师涉生案件，报警一定要谨慎，不要随意打</a:t>
            </a:r>
            <a:r>
              <a:rPr lang="en-US" altLang="zh-CN" b="1" dirty="0">
                <a:latin typeface="宋体" panose="02010600030101010101" pitchFamily="2" charset="-122"/>
                <a:ea typeface="宋体" panose="02010600030101010101" pitchFamily="2" charset="-122"/>
              </a:rPr>
              <a:t>110</a:t>
            </a:r>
            <a:r>
              <a:rPr lang="zh-CN" altLang="en-US" b="1" dirty="0">
                <a:latin typeface="宋体" panose="02010600030101010101" pitchFamily="2" charset="-122"/>
                <a:ea typeface="宋体" panose="02010600030101010101" pitchFamily="2" charset="-122"/>
              </a:rPr>
              <a:t>报警。遇到可疑险情或者隐患需帮助及时拨打校内报警电话</a:t>
            </a:r>
            <a:r>
              <a:rPr lang="en-US" altLang="zh-CN" b="1" dirty="0">
                <a:latin typeface="宋体" panose="02010600030101010101" pitchFamily="2" charset="-122"/>
                <a:ea typeface="宋体" panose="02010600030101010101" pitchFamily="2" charset="-122"/>
              </a:rPr>
              <a:t>2666110</a:t>
            </a:r>
            <a:r>
              <a:rPr lang="zh-CN" altLang="en-US" b="1" dirty="0">
                <a:latin typeface="宋体" panose="02010600030101010101" pitchFamily="2" charset="-122"/>
                <a:ea typeface="宋体" panose="02010600030101010101" pitchFamily="2" charset="-122"/>
              </a:rPr>
              <a:t>（思明校区）、</a:t>
            </a:r>
            <a:r>
              <a:rPr lang="en-US" altLang="zh-CN" b="1" dirty="0">
                <a:latin typeface="宋体" panose="02010600030101010101" pitchFamily="2" charset="-122"/>
                <a:ea typeface="宋体" panose="02010600030101010101" pitchFamily="2" charset="-122"/>
              </a:rPr>
              <a:t>6317110</a:t>
            </a:r>
            <a:r>
              <a:rPr lang="zh-CN" altLang="en-US" b="1" dirty="0">
                <a:latin typeface="宋体" panose="02010600030101010101" pitchFamily="2" charset="-122"/>
                <a:ea typeface="宋体" panose="02010600030101010101" pitchFamily="2" charset="-122"/>
              </a:rPr>
              <a:t>（海沧校区），由学校安保人员按照程序处置。</a:t>
            </a:r>
          </a:p>
          <a:p>
            <a:pPr fontAlgn="auto">
              <a:lnSpc>
                <a:spcPct val="100000"/>
              </a:lnSpc>
              <a:buNone/>
              <a:defRPr/>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积极参与并组织学生参加各种安全培训和教育活动。如灭火实战演练、心肺复苏技能培训、考核，文明交通督导等。</a:t>
            </a:r>
          </a:p>
          <a:p>
            <a:pPr fontAlgn="auto">
              <a:lnSpc>
                <a:spcPct val="100000"/>
              </a:lnSpc>
              <a:buNone/>
              <a:defRPr/>
            </a:pPr>
            <a:r>
              <a:rPr lang="en-US" altLang="zh-CN" b="1" dirty="0">
                <a:latin typeface="宋体" panose="02010600030101010101" pitchFamily="2" charset="-122"/>
                <a:ea typeface="宋体" panose="02010600030101010101" pitchFamily="2" charset="-122"/>
              </a:rPr>
              <a:t>3.</a:t>
            </a:r>
            <a:r>
              <a:rPr lang="zh-CN" altLang="en-US" b="1" dirty="0">
                <a:solidFill>
                  <a:srgbClr val="C00000"/>
                </a:solidFill>
                <a:latin typeface="宋体" panose="02010600030101010101" pitchFamily="2" charset="-122"/>
                <a:ea typeface="宋体" panose="02010600030101010101" pitchFamily="2" charset="-122"/>
              </a:rPr>
              <a:t>要注意防诈骗，</a:t>
            </a:r>
            <a:r>
              <a:rPr lang="zh-CN" altLang="en-US" b="1" dirty="0">
                <a:latin typeface="宋体" panose="02010600030101010101" pitchFamily="2" charset="-122"/>
                <a:ea typeface="宋体" panose="02010600030101010101" pitchFamily="2" charset="-122"/>
              </a:rPr>
              <a:t>要师生共勉。诈骗手段层出不穷，高智商化、科技化、生活化。网络诈骗、兼职刷单、支付宝购物返款等。</a:t>
            </a:r>
            <a:r>
              <a:rPr lang="zh-CN" altLang="en-US" b="1" dirty="0">
                <a:solidFill>
                  <a:srgbClr val="002060"/>
                </a:solidFill>
                <a:latin typeface="宋体" panose="02010600030101010101" pitchFamily="2" charset="-122"/>
                <a:ea typeface="宋体" panose="02010600030101010101" pitchFamily="2" charset="-122"/>
              </a:rPr>
              <a:t>坚决做到</a:t>
            </a:r>
            <a:r>
              <a:rPr lang="en-US" altLang="zh-CN" b="1" dirty="0">
                <a:solidFill>
                  <a:srgbClr val="002060"/>
                </a:solidFill>
                <a:latin typeface="宋体" panose="02010600030101010101" pitchFamily="2" charset="-122"/>
                <a:ea typeface="宋体" panose="02010600030101010101" pitchFamily="2" charset="-122"/>
              </a:rPr>
              <a:t>“</a:t>
            </a:r>
            <a:r>
              <a:rPr lang="zh-CN" altLang="en-US" b="1" dirty="0">
                <a:solidFill>
                  <a:srgbClr val="002060"/>
                </a:solidFill>
                <a:latin typeface="宋体" panose="02010600030101010101" pitchFamily="2" charset="-122"/>
                <a:ea typeface="宋体" panose="02010600030101010101" pitchFamily="2" charset="-122"/>
              </a:rPr>
              <a:t>五不</a:t>
            </a:r>
            <a:r>
              <a:rPr lang="en-US" altLang="zh-CN" b="1" dirty="0">
                <a:solidFill>
                  <a:srgbClr val="002060"/>
                </a:solidFill>
                <a:latin typeface="宋体" panose="02010600030101010101" pitchFamily="2" charset="-122"/>
                <a:ea typeface="宋体" panose="02010600030101010101" pitchFamily="2" charset="-122"/>
              </a:rPr>
              <a:t>”</a:t>
            </a:r>
            <a:r>
              <a:rPr lang="zh-CN" altLang="en-US" b="1" dirty="0">
                <a:solidFill>
                  <a:srgbClr val="002060"/>
                </a:solidFill>
                <a:latin typeface="宋体" panose="02010600030101010101" pitchFamily="2" charset="-122"/>
                <a:ea typeface="宋体" panose="02010600030101010101" pitchFamily="2" charset="-122"/>
              </a:rPr>
              <a:t>，即链接不点、网络公检法不怕、冒充亲友不信、天上馅饼不贪、血汗钱不转</a:t>
            </a:r>
            <a:r>
              <a:rPr lang="zh-CN" altLang="en-US" b="1" dirty="0">
                <a:latin typeface="宋体" panose="02010600030101010101" pitchFamily="2" charset="-122"/>
                <a:ea typeface="宋体" panose="02010600030101010101" pitchFamily="2" charset="-122"/>
              </a:rPr>
              <a:t>（近期师生案例）。</a:t>
            </a:r>
          </a:p>
          <a:p>
            <a:pPr fontAlgn="auto">
              <a:lnSpc>
                <a:spcPct val="100000"/>
              </a:lnSpc>
              <a:buNone/>
              <a:defRPr/>
            </a:pPr>
            <a:r>
              <a:rPr lang="en-US" altLang="zh-CN" b="1" dirty="0">
                <a:latin typeface="宋体" panose="02010600030101010101" pitchFamily="2" charset="-122"/>
                <a:ea typeface="宋体" panose="02010600030101010101" pitchFamily="2" charset="-122"/>
              </a:rPr>
              <a:t>4.</a:t>
            </a:r>
            <a:r>
              <a:rPr lang="zh-CN" altLang="en-US" b="1" dirty="0">
                <a:latin typeface="宋体" panose="02010600030101010101" pitchFamily="2" charset="-122"/>
                <a:ea typeface="宋体" panose="02010600030101010101" pitchFamily="2" charset="-122"/>
              </a:rPr>
              <a:t> 新教师承诺</a:t>
            </a:r>
            <a:r>
              <a:rPr lang="en-US" altLang="zh-CN" b="1" dirty="0">
                <a:latin typeface="宋体" panose="02010600030101010101" pitchFamily="2" charset="-122"/>
                <a:ea typeface="宋体" panose="02010600030101010101" pitchFamily="2" charset="-122"/>
              </a:rPr>
              <a:t>11</a:t>
            </a:r>
            <a:r>
              <a:rPr lang="zh-CN" altLang="en-US" b="1" dirty="0">
                <a:latin typeface="宋体" panose="02010600030101010101" pitchFamily="2" charset="-122"/>
                <a:ea typeface="宋体" panose="02010600030101010101" pitchFamily="2" charset="-122"/>
              </a:rPr>
              <a:t>条，安全用火、用电，保持消防通道畅通。</a:t>
            </a:r>
          </a:p>
        </p:txBody>
      </p:sp>
      <p:sp>
        <p:nvSpPr>
          <p:cNvPr id="9219" name="Rectangle 3"/>
          <p:cNvSpPr>
            <a:spLocks noChangeArrowheads="1"/>
          </p:cNvSpPr>
          <p:nvPr/>
        </p:nvSpPr>
        <p:spPr bwMode="auto">
          <a:xfrm>
            <a:off x="3259455" y="304800"/>
            <a:ext cx="72453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cene3d>
              <a:camera prst="orthographicFront"/>
              <a:lightRig rig="threePt" dir="t"/>
            </a:scene3d>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buFontTx/>
              <a:buNone/>
            </a:pPr>
            <a:r>
              <a:rPr lang="zh-CN" altLang="en-US" sz="4000" dirty="0">
                <a:solidFill>
                  <a:schemeClr val="tx1"/>
                </a:solidFill>
                <a:effectLst>
                  <a:outerShdw blurRad="38100" dist="19050" dir="2700000" algn="tl" rotWithShape="0">
                    <a:schemeClr val="dk1">
                      <a:alpha val="40000"/>
                    </a:schemeClr>
                  </a:outerShdw>
                </a:effectLst>
                <a:latin typeface="宋体" panose="02010600030101010101" pitchFamily="2" charset="-122"/>
              </a:rPr>
              <a:t>特别强调！！！</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4294967295"/>
          </p:nvPr>
        </p:nvSpPr>
        <p:spPr>
          <a:xfrm>
            <a:off x="1238774" y="1666408"/>
            <a:ext cx="8197850" cy="4608513"/>
          </a:xfrm>
        </p:spPr>
        <p:txBody>
          <a:bodyPr rtlCol="0">
            <a:normAutofit/>
          </a:bodyPr>
          <a:lstStyle/>
          <a:p>
            <a:pPr>
              <a:lnSpc>
                <a:spcPct val="130000"/>
              </a:lnSpc>
              <a:buNone/>
              <a:defRPr/>
            </a:pPr>
            <a:endParaRPr lang="zh-CN" altLang="en-US" b="1" dirty="0">
              <a:solidFill>
                <a:srgbClr val="CC3300"/>
              </a:solidFill>
              <a:latin typeface="宋体" panose="02010600030101010101" pitchFamily="2" charset="-122"/>
            </a:endParaRPr>
          </a:p>
          <a:p>
            <a:pPr>
              <a:buNone/>
              <a:defRPr/>
            </a:pPr>
            <a:endParaRPr lang="zh-CN" altLang="en-US" b="1" dirty="0">
              <a:solidFill>
                <a:srgbClr val="CC3300"/>
              </a:solidFill>
              <a:latin typeface="宋体" panose="02010600030101010101" pitchFamily="2" charset="-122"/>
            </a:endParaRPr>
          </a:p>
        </p:txBody>
      </p:sp>
      <p:sp>
        <p:nvSpPr>
          <p:cNvPr id="10244" name="Text Box 4"/>
          <p:cNvSpPr txBox="1">
            <a:spLocks noChangeArrowheads="1"/>
          </p:cNvSpPr>
          <p:nvPr/>
        </p:nvSpPr>
        <p:spPr bwMode="auto">
          <a:xfrm>
            <a:off x="2238376" y="857251"/>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68" name="Text Box 4"/>
          <p:cNvSpPr txBox="1">
            <a:spLocks noChangeArrowheads="1"/>
          </p:cNvSpPr>
          <p:nvPr/>
        </p:nvSpPr>
        <p:spPr bwMode="auto">
          <a:xfrm>
            <a:off x="1017905" y="1442085"/>
            <a:ext cx="9908540" cy="512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fontAlgn="auto" hangingPunct="1">
              <a:lnSpc>
                <a:spcPct val="150000"/>
              </a:lnSpc>
            </a:pPr>
            <a:r>
              <a:rPr lang="zh-CN" altLang="en-US" sz="2800" b="1" dirty="0"/>
              <a:t>安全工作责任重于泰山，学生的安全高于一切，不但我们要有安全意识，还要教育学生提高安全防范意识，我们老师不仅要做安全的践行者还要做安全的宣导者。</a:t>
            </a:r>
          </a:p>
          <a:p>
            <a:pPr eaLnBrk="1" fontAlgn="auto" hangingPunct="1">
              <a:lnSpc>
                <a:spcPct val="150000"/>
              </a:lnSpc>
            </a:pPr>
            <a:r>
              <a:rPr lang="zh-CN" altLang="en-US" sz="2800" b="1" dirty="0"/>
              <a:t>安全工作只有起点，没有终点，我们只有反复讲，不断讲，常讲常新，不断提高安全</a:t>
            </a:r>
            <a:r>
              <a:rPr lang="zh-CN" altLang="en-US" sz="2800" b="1" dirty="0">
                <a:sym typeface="+mn-ea"/>
              </a:rPr>
              <a:t>防范意识、</a:t>
            </a:r>
            <a:r>
              <a:rPr lang="zh-CN" altLang="en-US" sz="2800" b="1" dirty="0"/>
              <a:t>责任意识。</a:t>
            </a:r>
          </a:p>
          <a:p>
            <a:pPr eaLnBrk="1" fontAlgn="auto" hangingPunct="1">
              <a:lnSpc>
                <a:spcPct val="150000"/>
              </a:lnSpc>
            </a:pPr>
            <a:r>
              <a:rPr lang="zh-CN" altLang="en-US" sz="2800" b="1" dirty="0"/>
              <a:t>保护学生的安全是我们作为教师的天职。</a:t>
            </a:r>
          </a:p>
          <a:p>
            <a:pPr eaLnBrk="1" fontAlgn="auto" hangingPunct="1">
              <a:lnSpc>
                <a:spcPct val="150000"/>
              </a:lnSpc>
            </a:pPr>
            <a:endParaRPr lang="zh-CN" altLang="en-US" sz="2800" b="1" dirty="0"/>
          </a:p>
          <a:p>
            <a:pPr eaLnBrk="1" fontAlgn="auto" hangingPunct="1">
              <a:lnSpc>
                <a:spcPts val="4360"/>
              </a:lnSpc>
            </a:pP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153988"/>
            <a:ext cx="8229600" cy="760412"/>
          </a:xfrm>
        </p:spPr>
        <p:txBody>
          <a:bodyPr rtlCol="0">
            <a:normAutofit/>
          </a:bodyPr>
          <a:lstStyle/>
          <a:p>
            <a:pPr>
              <a:defRPr/>
            </a:pPr>
            <a:r>
              <a:rPr lang="zh-CN" altLang="en-US" b="1">
                <a:latin typeface="宋体" panose="02010600030101010101" pitchFamily="2" charset="-122"/>
              </a:rPr>
              <a:t>      </a:t>
            </a:r>
            <a:endParaRPr lang="zh-CN" altLang="en-US" sz="3600" b="1">
              <a:latin typeface="宋体" panose="02010600030101010101" pitchFamily="2" charset="-122"/>
            </a:endParaRPr>
          </a:p>
        </p:txBody>
      </p:sp>
      <p:sp>
        <p:nvSpPr>
          <p:cNvPr id="11268" name="Text Box 4"/>
          <p:cNvSpPr txBox="1">
            <a:spLocks noChangeArrowheads="1"/>
          </p:cNvSpPr>
          <p:nvPr/>
        </p:nvSpPr>
        <p:spPr bwMode="auto">
          <a:xfrm>
            <a:off x="3460432" y="2256258"/>
            <a:ext cx="5271135" cy="376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fontAlgn="auto" hangingPunct="1">
              <a:lnSpc>
                <a:spcPts val="9560"/>
              </a:lnSpc>
            </a:pPr>
            <a:r>
              <a:rPr lang="zh-CN" altLang="en-US" sz="8000" b="1" dirty="0">
                <a:sym typeface="+mn-ea"/>
              </a:rPr>
              <a:t>守土有责、</a:t>
            </a:r>
          </a:p>
          <a:p>
            <a:pPr eaLnBrk="1" fontAlgn="auto" hangingPunct="1">
              <a:lnSpc>
                <a:spcPts val="9560"/>
              </a:lnSpc>
            </a:pPr>
            <a:r>
              <a:rPr lang="zh-CN" altLang="en-US" sz="8000" b="1" dirty="0">
                <a:sym typeface="+mn-ea"/>
              </a:rPr>
              <a:t>守土负责、</a:t>
            </a:r>
          </a:p>
          <a:p>
            <a:pPr eaLnBrk="1" fontAlgn="auto" hangingPunct="1">
              <a:lnSpc>
                <a:spcPts val="9560"/>
              </a:lnSpc>
            </a:pPr>
            <a:r>
              <a:rPr lang="zh-CN" altLang="en-US" sz="8000" b="1" dirty="0">
                <a:sym typeface="+mn-ea"/>
              </a:rPr>
              <a:t>守土尽责！</a:t>
            </a:r>
            <a:endParaRPr lang="en-US" altLang="zh-CN" sz="8000" b="1" dirty="0"/>
          </a:p>
        </p:txBody>
      </p:sp>
      <p:sp>
        <p:nvSpPr>
          <p:cNvPr id="2" name="TextBox 2">
            <a:extLst>
              <a:ext uri="{FF2B5EF4-FFF2-40B4-BE49-F238E27FC236}">
                <a16:creationId xmlns:a16="http://schemas.microsoft.com/office/drawing/2014/main" id="{355E928F-5557-2495-2C0C-3D7474D563A5}"/>
              </a:ext>
            </a:extLst>
          </p:cNvPr>
          <p:cNvSpPr txBox="1"/>
          <p:nvPr/>
        </p:nvSpPr>
        <p:spPr>
          <a:xfrm>
            <a:off x="616835" y="1066300"/>
            <a:ext cx="9657875" cy="1446550"/>
          </a:xfrm>
          <a:prstGeom prst="rect">
            <a:avLst/>
          </a:prstGeom>
          <a:noFill/>
        </p:spPr>
        <p:txBody>
          <a:bodyPr wrap="square" rtlCol="0">
            <a:spAutoFit/>
          </a:bodyPr>
          <a:lstStyle/>
          <a:p>
            <a:r>
              <a:rPr lang="zh-CN" altLang="en-US" sz="4400" b="1" dirty="0"/>
              <a:t>习近平：以“时时放心不下”的责任担当践行：</a:t>
            </a:r>
            <a:endParaRPr lang="en-US" altLang="zh-CN" sz="4400" b="1" dirty="0"/>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81453" y="2767280"/>
            <a:ext cx="8629094" cy="1322070"/>
          </a:xfrm>
          <a:prstGeom prst="rect">
            <a:avLst/>
          </a:prstGeom>
          <a:noFill/>
        </p:spPr>
        <p:txBody>
          <a:bodyPr wrap="square" rtlCol="0">
            <a:spAutoFit/>
          </a:bodyPr>
          <a:lstStyle/>
          <a:p>
            <a:r>
              <a:rPr lang="zh-CN" altLang="en-US" sz="8000" b="1" dirty="0"/>
              <a:t>心肺复苏急救技能</a:t>
            </a:r>
            <a:endParaRPr lang="en-US" altLang="zh-CN" sz="8000" b="1" dirty="0"/>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3067759" y="1739961"/>
            <a:ext cx="5888855" cy="377666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None/>
              <a:defRPr/>
            </a:pPr>
            <a:endParaRPr lang="en-US" altLang="zh-CN" b="1" dirty="0"/>
          </a:p>
          <a:p>
            <a:pPr>
              <a:lnSpc>
                <a:spcPct val="150000"/>
              </a:lnSpc>
              <a:buFont typeface="Arial" panose="020B0604020202020204" pitchFamily="34" charset="0"/>
              <a:buNone/>
              <a:defRPr/>
            </a:pPr>
            <a:r>
              <a:rPr lang="en-US" altLang="zh-CN" sz="5700" b="1" dirty="0"/>
              <a:t>1.</a:t>
            </a:r>
            <a:r>
              <a:rPr lang="zh-CN" altLang="en-US" sz="5700" b="1" dirty="0"/>
              <a:t>确认意识。</a:t>
            </a:r>
          </a:p>
          <a:p>
            <a:pPr>
              <a:lnSpc>
                <a:spcPct val="150000"/>
              </a:lnSpc>
              <a:buFont typeface="Arial" panose="020B0604020202020204" pitchFamily="34" charset="0"/>
              <a:buNone/>
              <a:defRPr/>
            </a:pPr>
            <a:r>
              <a:rPr lang="en-US" altLang="zh-CN" sz="5700" b="1" dirty="0"/>
              <a:t>2.</a:t>
            </a:r>
            <a:r>
              <a:rPr lang="zh-CN" altLang="en-US" sz="5700" b="1" dirty="0"/>
              <a:t>确认场地。</a:t>
            </a:r>
          </a:p>
          <a:p>
            <a:pPr>
              <a:lnSpc>
                <a:spcPct val="150000"/>
              </a:lnSpc>
              <a:buFont typeface="Arial" panose="020B0604020202020204" pitchFamily="34" charset="0"/>
              <a:buNone/>
              <a:defRPr/>
            </a:pPr>
            <a:r>
              <a:rPr lang="en-US" altLang="zh-CN" sz="5700" b="1" dirty="0"/>
              <a:t>3.</a:t>
            </a:r>
            <a:r>
              <a:rPr lang="zh-CN" altLang="en-US" sz="5700" b="1" dirty="0"/>
              <a:t>开放气道。</a:t>
            </a:r>
          </a:p>
          <a:p>
            <a:pPr>
              <a:lnSpc>
                <a:spcPct val="150000"/>
              </a:lnSpc>
              <a:buFont typeface="Arial" panose="020B0604020202020204" pitchFamily="34" charset="0"/>
              <a:buNone/>
              <a:defRPr/>
            </a:pPr>
            <a:r>
              <a:rPr lang="en-US" altLang="zh-CN" sz="5700" b="1" dirty="0"/>
              <a:t>4.</a:t>
            </a:r>
            <a:r>
              <a:rPr lang="zh-CN" altLang="en-US" sz="5700" b="1" dirty="0"/>
              <a:t>现场求助。</a:t>
            </a:r>
            <a:endParaRPr lang="en-US" sz="5700" b="1" dirty="0">
              <a:ea typeface="宋体" panose="02010600030101010101" pitchFamily="2" charset="-122"/>
            </a:endParaRPr>
          </a:p>
        </p:txBody>
      </p:sp>
      <p:sp>
        <p:nvSpPr>
          <p:cNvPr id="4" name="Rectangle 2"/>
          <p:cNvSpPr txBox="1">
            <a:spLocks noChangeArrowheads="1"/>
          </p:cNvSpPr>
          <p:nvPr/>
        </p:nvSpPr>
        <p:spPr>
          <a:xfrm>
            <a:off x="1981200" y="1341377"/>
            <a:ext cx="8229600" cy="76041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700" b="1" dirty="0"/>
              <a:t>要点</a:t>
            </a:r>
            <a:r>
              <a:rPr lang="zh-CN" altLang="en-US" b="1" dirty="0"/>
              <a:t>：黄金四分钟</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sz="half" idx="4294967295"/>
          </p:nvPr>
        </p:nvSpPr>
        <p:spPr>
          <a:xfrm>
            <a:off x="1524001" y="1654176"/>
            <a:ext cx="3971925" cy="1079500"/>
          </a:xfrm>
        </p:spPr>
        <p:txBody>
          <a:bodyPr/>
          <a:lstStyle/>
          <a:p>
            <a:pPr>
              <a:lnSpc>
                <a:spcPct val="90000"/>
              </a:lnSpc>
              <a:buFontTx/>
              <a:buNone/>
            </a:pPr>
            <a:r>
              <a:rPr lang="zh-CN" altLang="en-US" b="1" dirty="0">
                <a:latin typeface="黑体" panose="02010609060101010101" pitchFamily="49" charset="-122"/>
              </a:rPr>
              <a:t>掌根按压，手指互扣</a:t>
            </a:r>
          </a:p>
          <a:p>
            <a:pPr>
              <a:lnSpc>
                <a:spcPct val="90000"/>
              </a:lnSpc>
              <a:buFontTx/>
              <a:buNone/>
            </a:pPr>
            <a:r>
              <a:rPr lang="zh-CN" altLang="en-US" b="1" dirty="0">
                <a:latin typeface="黑体" panose="02010609060101010101" pitchFamily="49" charset="-122"/>
              </a:rPr>
              <a:t>翘起离开胸壁</a:t>
            </a:r>
          </a:p>
        </p:txBody>
      </p:sp>
      <p:pic>
        <p:nvPicPr>
          <p:cNvPr id="8195" name="Picture 3" descr="手1"/>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158875" y="3273425"/>
            <a:ext cx="4500563" cy="3584575"/>
          </a:xfrm>
          <a:noFill/>
          <a:ln w="6350" cap="flat">
            <a:solidFill>
              <a:schemeClr val="tx1"/>
            </a:solidFill>
            <a:miter lim="800000"/>
            <a:headEnd/>
            <a:tailEnd/>
          </a:ln>
        </p:spPr>
      </p:pic>
      <p:pic>
        <p:nvPicPr>
          <p:cNvPr id="8196" name="Picture 4" descr="手2"/>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6242845" y="3293167"/>
            <a:ext cx="4456112" cy="3560225"/>
          </a:xfrm>
          <a:noFill/>
          <a:ln w="6350" cap="flat">
            <a:solidFill>
              <a:schemeClr val="tx1"/>
            </a:solidFill>
            <a:miter lim="800000"/>
            <a:headEnd/>
            <a:tailEnd/>
          </a:ln>
        </p:spPr>
      </p:pic>
      <p:sp>
        <p:nvSpPr>
          <p:cNvPr id="8197" name="Line 5"/>
          <p:cNvSpPr>
            <a:spLocks noChangeShapeType="1"/>
          </p:cNvSpPr>
          <p:nvPr/>
        </p:nvSpPr>
        <p:spPr bwMode="auto">
          <a:xfrm flipV="1">
            <a:off x="3287713" y="4221164"/>
            <a:ext cx="1439862" cy="1081087"/>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3287714" y="4221163"/>
            <a:ext cx="1366837" cy="1079500"/>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30727" name="Picture 7" descr="掌根"/>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2845" y="195851"/>
            <a:ext cx="4148901" cy="30775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200" name="Line 8"/>
          <p:cNvSpPr>
            <a:spLocks noChangeShapeType="1"/>
          </p:cNvSpPr>
          <p:nvPr/>
        </p:nvSpPr>
        <p:spPr bwMode="auto">
          <a:xfrm>
            <a:off x="7751764" y="4581525"/>
            <a:ext cx="719137" cy="647700"/>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flipH="1">
            <a:off x="8472489" y="3716339"/>
            <a:ext cx="1152525" cy="1512887"/>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2" name="Oval 10"/>
          <p:cNvSpPr>
            <a:spLocks noChangeArrowheads="1"/>
          </p:cNvSpPr>
          <p:nvPr/>
        </p:nvSpPr>
        <p:spPr bwMode="auto">
          <a:xfrm>
            <a:off x="7680326" y="1989139"/>
            <a:ext cx="792163" cy="504825"/>
          </a:xfrm>
          <a:prstGeom prst="ellipse">
            <a:avLst/>
          </a:prstGeom>
          <a:solidFill>
            <a:srgbClr val="FF0000"/>
          </a:solidFill>
          <a:ln w="9525">
            <a:solidFill>
              <a:schemeClr val="tx1"/>
            </a:solidFill>
            <a:round/>
          </a:ln>
        </p:spPr>
        <p:txBody>
          <a:bodyPr wrap="none"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03" name="Text Box 11"/>
          <p:cNvSpPr txBox="1">
            <a:spLocks noChangeArrowheads="1"/>
          </p:cNvSpPr>
          <p:nvPr/>
        </p:nvSpPr>
        <p:spPr bwMode="auto">
          <a:xfrm>
            <a:off x="2693694" y="388938"/>
            <a:ext cx="43815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latin typeface="宋体" panose="02010600030101010101" pitchFamily="2" charset="-122"/>
              </a:rPr>
              <a:t>胸外心脏按压手法</a:t>
            </a:r>
            <a:br>
              <a:rPr lang="zh-CN" altLang="en-US" b="1" dirty="0">
                <a:latin typeface="宋体" panose="02010600030101010101" pitchFamily="2" charset="-122"/>
              </a:rPr>
            </a:br>
            <a:endParaRPr lang="zh-CN" altLang="en-US" b="1" dirty="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0727"/>
                                        </p:tgtEl>
                                        <p:attrNameLst>
                                          <p:attrName>style.visibility</p:attrName>
                                        </p:attrNameLst>
                                      </p:cBhvr>
                                      <p:to>
                                        <p:strVal val="visible"/>
                                      </p:to>
                                    </p:set>
                                    <p:anim calcmode="lin" valueType="num">
                                      <p:cBhvr additive="base">
                                        <p:cTn id="7" dur="500" fill="hold"/>
                                        <p:tgtEl>
                                          <p:spTgt spid="30727"/>
                                        </p:tgtEl>
                                        <p:attrNameLst>
                                          <p:attrName>ppt_x</p:attrName>
                                        </p:attrNameLst>
                                      </p:cBhvr>
                                      <p:tavLst>
                                        <p:tav tm="0">
                                          <p:val>
                                            <p:strVal val="0-#ppt_w/2"/>
                                          </p:val>
                                        </p:tav>
                                        <p:tav tm="100000">
                                          <p:val>
                                            <p:strVal val="#ppt_x"/>
                                          </p:val>
                                        </p:tav>
                                      </p:tavLst>
                                    </p:anim>
                                    <p:anim calcmode="lin" valueType="num">
                                      <p:cBhvr additive="base">
                                        <p:cTn id="8" dur="500" fill="hold"/>
                                        <p:tgtEl>
                                          <p:spTgt spid="307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414781" y="725728"/>
            <a:ext cx="8229600" cy="760412"/>
          </a:xfrm>
        </p:spPr>
        <p:txBody>
          <a:bodyPr rtlCol="0">
            <a:normAutofit/>
          </a:bodyPr>
          <a:lstStyle/>
          <a:p>
            <a:pPr>
              <a:defRPr/>
            </a:pPr>
            <a:r>
              <a:rPr lang="zh-CN" altLang="en-US" b="1" dirty="0">
                <a:latin typeface="宋体" panose="02010600030101010101" pitchFamily="2" charset="-122"/>
              </a:rPr>
              <a:t>     成人胸外心脏按压定位</a:t>
            </a:r>
            <a:r>
              <a:rPr lang="zh-CN" altLang="en-US" dirty="0">
                <a:latin typeface="宋体" panose="02010600030101010101" pitchFamily="2" charset="-122"/>
              </a:rPr>
              <a:t> </a:t>
            </a:r>
          </a:p>
        </p:txBody>
      </p:sp>
      <p:pic>
        <p:nvPicPr>
          <p:cNvPr id="29699" name="Picture 4" descr="心定位1"/>
          <p:cNvPicPr>
            <a:picLocks noGrp="1" noChangeAspect="1" noChangeArrowheads="1"/>
          </p:cNvPicPr>
          <p:nvPr>
            <p:ph sz="half" idx="4294967295"/>
          </p:nvPr>
        </p:nvPicPr>
        <p:blipFill>
          <a:blip r:embed="rId2"/>
          <a:srcRect/>
          <a:stretch>
            <a:fillRect/>
          </a:stretch>
        </p:blipFill>
        <p:spPr>
          <a:xfrm>
            <a:off x="1523999" y="3368673"/>
            <a:ext cx="3990301" cy="2893242"/>
          </a:xfrm>
          <a:effectLst>
            <a:outerShdw dist="107763" dir="2700000" algn="ctr" rotWithShape="0">
              <a:schemeClr val="bg2"/>
            </a:outerShdw>
          </a:effectLst>
        </p:spPr>
      </p:pic>
      <p:pic>
        <p:nvPicPr>
          <p:cNvPr id="29701" name="Picture 6" descr="心定位3"/>
          <p:cNvPicPr>
            <a:picLocks noGrp="1" noChangeAspect="1" noChangeArrowheads="1"/>
          </p:cNvPicPr>
          <p:nvPr>
            <p:ph idx="4294967295"/>
          </p:nvPr>
        </p:nvPicPr>
        <p:blipFill>
          <a:blip r:embed="rId3"/>
          <a:srcRect/>
          <a:stretch>
            <a:fillRect/>
          </a:stretch>
        </p:blipFill>
        <p:spPr>
          <a:xfrm>
            <a:off x="6064496" y="3296054"/>
            <a:ext cx="3689105" cy="2893243"/>
          </a:xfrm>
          <a:effectLst>
            <a:outerShdw dist="107763" dir="2700000" algn="ctr" rotWithShape="0">
              <a:schemeClr val="bg2"/>
            </a:outerShdw>
          </a:effectLst>
        </p:spPr>
      </p:pic>
      <p:sp>
        <p:nvSpPr>
          <p:cNvPr id="7174" name="Text Box 6"/>
          <p:cNvSpPr txBox="1">
            <a:spLocks noChangeArrowheads="1"/>
          </p:cNvSpPr>
          <p:nvPr/>
        </p:nvSpPr>
        <p:spPr bwMode="auto">
          <a:xfrm>
            <a:off x="2171065" y="1485901"/>
            <a:ext cx="7850188"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indent="0" eaLnBrk="1" hangingPunct="1">
              <a:lnSpc>
                <a:spcPct val="150000"/>
              </a:lnSpc>
              <a:buSzPct val="100000"/>
              <a:buFont typeface="Wingdings" panose="05000000000000000000" pitchFamily="2" charset="2"/>
              <a:buNone/>
            </a:pPr>
            <a:r>
              <a:rPr lang="en-US" altLang="zh-CN" sz="2400" b="1" dirty="0">
                <a:latin typeface="宋体" panose="02010600030101010101" pitchFamily="2" charset="-122"/>
              </a:rPr>
              <a:t>1.</a:t>
            </a:r>
            <a:r>
              <a:rPr lang="zh-CN" altLang="en-US" sz="2400" b="1" dirty="0">
                <a:latin typeface="宋体" panose="02010600030101010101" pitchFamily="2" charset="-122"/>
              </a:rPr>
              <a:t>按压点位于“胸部正中线与双乳头连线交界处</a:t>
            </a:r>
          </a:p>
          <a:p>
            <a:pPr indent="0" eaLnBrk="1" hangingPunct="1">
              <a:lnSpc>
                <a:spcPct val="150000"/>
              </a:lnSpc>
              <a:buSzPct val="100000"/>
              <a:buFont typeface="Wingdings" panose="05000000000000000000" pitchFamily="2" charset="2"/>
              <a:buNone/>
            </a:pPr>
            <a:r>
              <a:rPr lang="en-US" altLang="zh-CN" sz="2400" b="1" dirty="0">
                <a:latin typeface="宋体" panose="02010600030101010101" pitchFamily="2" charset="-122"/>
              </a:rPr>
              <a:t>2.</a:t>
            </a:r>
            <a:r>
              <a:rPr lang="zh-CN" altLang="en-US" sz="2400" b="1" dirty="0">
                <a:latin typeface="宋体" panose="02010600030101010101" pitchFamily="2" charset="-122"/>
              </a:rPr>
              <a:t>右中、食指沿一侧肋弓向中间滑动至胸骨下              端剑突，左手掌跟靠紧食指</a:t>
            </a:r>
            <a:r>
              <a:rPr lang="zh-CN" altLang="en-US" sz="2800" b="1" dirty="0">
                <a:latin typeface="宋体" panose="02010600030101010101" pitchFamily="2" charset="-122"/>
              </a:rPr>
              <a:t>。</a:t>
            </a:r>
          </a:p>
          <a:p>
            <a:pPr eaLnBrk="1" hangingPunct="1"/>
            <a:endParaRPr lang="zh-CN" altLang="en-US" sz="2800"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idx="4294967295"/>
          </p:nvPr>
        </p:nvSpPr>
        <p:spPr>
          <a:xfrm>
            <a:off x="1981200" y="694216"/>
            <a:ext cx="8229600" cy="760412"/>
          </a:xfrm>
        </p:spPr>
        <p:txBody>
          <a:bodyPr rtlCol="0">
            <a:normAutofit/>
          </a:bodyPr>
          <a:lstStyle/>
          <a:p>
            <a:pPr>
              <a:defRPr/>
            </a:pPr>
            <a:r>
              <a:rPr lang="zh-CN" altLang="en-US" b="1" dirty="0"/>
              <a:t>    </a:t>
            </a:r>
            <a:r>
              <a:rPr lang="zh-CN" altLang="en-US" b="1" dirty="0">
                <a:latin typeface="宋体" panose="02010600030101010101" pitchFamily="2" charset="-122"/>
              </a:rPr>
              <a:t>  胸外心脏按压部位</a:t>
            </a:r>
          </a:p>
        </p:txBody>
      </p:sp>
      <p:sp>
        <p:nvSpPr>
          <p:cNvPr id="1029" name="Rectangle 3"/>
          <p:cNvSpPr>
            <a:spLocks noGrp="1" noChangeArrowheads="1"/>
          </p:cNvSpPr>
          <p:nvPr>
            <p:ph type="body" idx="4294967295"/>
          </p:nvPr>
        </p:nvSpPr>
        <p:spPr>
          <a:xfrm>
            <a:off x="1524000" y="693738"/>
            <a:ext cx="8362950" cy="5434012"/>
          </a:xfrm>
        </p:spPr>
        <p:txBody>
          <a:bodyPr/>
          <a:lstStyle/>
          <a:p>
            <a:pPr>
              <a:buFontTx/>
              <a:buNone/>
            </a:pPr>
            <a:endParaRPr lang="zh-CN" altLang="en-US" b="1" dirty="0">
              <a:solidFill>
                <a:srgbClr val="CC0000"/>
              </a:solidFill>
              <a:latin typeface="楷体_GB2312" panose="02010609030101010101" pitchFamily="49" charset="-122"/>
              <a:ea typeface="楷体_GB2312" panose="02010609030101010101" pitchFamily="49" charset="-122"/>
            </a:endParaRPr>
          </a:p>
          <a:p>
            <a:pPr>
              <a:buFontTx/>
              <a:buNone/>
            </a:pPr>
            <a:endParaRPr lang="zh-CN" altLang="en-US" b="1" dirty="0">
              <a:solidFill>
                <a:srgbClr val="CC0000"/>
              </a:solidFill>
              <a:latin typeface="楷体_GB2312" panose="02010609030101010101" pitchFamily="49" charset="-122"/>
              <a:ea typeface="楷体_GB2312" panose="02010609030101010101" pitchFamily="49" charset="-122"/>
            </a:endParaRPr>
          </a:p>
          <a:p>
            <a:pPr>
              <a:buFontTx/>
              <a:buNone/>
            </a:pPr>
            <a:r>
              <a:rPr lang="zh-CN" altLang="en-US" b="1" dirty="0">
                <a:solidFill>
                  <a:srgbClr val="CC0000"/>
                </a:solidFill>
                <a:latin typeface="楷体_GB2312" panose="02010609030101010101" pitchFamily="49" charset="-122"/>
                <a:ea typeface="楷体_GB2312" panose="02010609030101010101" pitchFamily="49" charset="-122"/>
              </a:rPr>
              <a:t>按压部位  在胸骨下</a:t>
            </a:r>
            <a:r>
              <a:rPr lang="en-US" altLang="zh-CN" b="1" dirty="0">
                <a:solidFill>
                  <a:srgbClr val="CC0000"/>
                </a:solidFill>
                <a:latin typeface="楷体_GB2312" panose="02010609030101010101" pitchFamily="49" charset="-122"/>
                <a:ea typeface="楷体_GB2312" panose="02010609030101010101" pitchFamily="49" charset="-122"/>
              </a:rPr>
              <a:t>1/3</a:t>
            </a:r>
            <a:r>
              <a:rPr lang="zh-CN" altLang="en-US" b="1" dirty="0">
                <a:solidFill>
                  <a:srgbClr val="CC0000"/>
                </a:solidFill>
                <a:latin typeface="楷体_GB2312" panose="02010609030101010101" pitchFamily="49" charset="-122"/>
                <a:ea typeface="楷体_GB2312" panose="02010609030101010101" pitchFamily="49" charset="-122"/>
              </a:rPr>
              <a:t>处</a:t>
            </a:r>
          </a:p>
          <a:p>
            <a:pPr>
              <a:buFontTx/>
              <a:buNone/>
            </a:pPr>
            <a:r>
              <a:rPr lang="zh-CN" altLang="en-US" b="1" dirty="0">
                <a:solidFill>
                  <a:srgbClr val="CC0000"/>
                </a:solidFill>
                <a:latin typeface="楷体_GB2312" panose="02010609030101010101" pitchFamily="49" charset="-122"/>
                <a:ea typeface="楷体_GB2312" panose="02010609030101010101" pitchFamily="49" charset="-122"/>
              </a:rPr>
              <a:t>即乳头连线与胸骨交界处</a:t>
            </a:r>
            <a:r>
              <a:rPr lang="zh-CN" altLang="en-US" dirty="0">
                <a:solidFill>
                  <a:srgbClr val="CC0000"/>
                </a:solidFill>
              </a:rPr>
              <a:t> </a:t>
            </a:r>
          </a:p>
        </p:txBody>
      </p:sp>
      <p:graphicFrame>
        <p:nvGraphicFramePr>
          <p:cNvPr id="28676" name="Object 4"/>
          <p:cNvGraphicFramePr>
            <a:graphicFrameLocks noChangeAspect="1"/>
          </p:cNvGraphicFramePr>
          <p:nvPr>
            <p:extLst>
              <p:ext uri="{D42A27DB-BD31-4B8C-83A1-F6EECF244321}">
                <p14:modId xmlns:p14="http://schemas.microsoft.com/office/powerpoint/2010/main" val="1020145319"/>
              </p:ext>
            </p:extLst>
          </p:nvPr>
        </p:nvGraphicFramePr>
        <p:xfrm>
          <a:off x="766916" y="2898877"/>
          <a:ext cx="5329083" cy="3649405"/>
        </p:xfrm>
        <a:graphic>
          <a:graphicData uri="http://schemas.openxmlformats.org/presentationml/2006/ole">
            <mc:AlternateContent xmlns:mc="http://schemas.openxmlformats.org/markup-compatibility/2006">
              <mc:Choice xmlns:v="urn:schemas-microsoft-com:vml" Requires="v">
                <p:oleObj r:id="rId2" imgW="9725025" imgH="6772275" progId="">
                  <p:embed/>
                </p:oleObj>
              </mc:Choice>
              <mc:Fallback>
                <p:oleObj r:id="rId2" imgW="9725025" imgH="6772275"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16" y="2898877"/>
                        <a:ext cx="5329083" cy="3649405"/>
                      </a:xfrm>
                      <a:prstGeom prst="rect">
                        <a:avLst/>
                      </a:prstGeom>
                      <a:noFill/>
                      <a:ln w="9525">
                        <a:solidFill>
                          <a:schemeClr val="accent2"/>
                        </a:solidFill>
                        <a:miter lim="800000"/>
                        <a:headEnd/>
                        <a:tailEnd/>
                      </a:ln>
                      <a:effectLst>
                        <a:outerShdw dist="109250" dir="3267739" algn="ctr" rotWithShape="0">
                          <a:schemeClr val="tx1"/>
                        </a:outerShdw>
                      </a:effectLst>
                    </p:spPr>
                  </p:pic>
                </p:oleObj>
              </mc:Fallback>
            </mc:AlternateContent>
          </a:graphicData>
        </a:graphic>
      </p:graphicFrame>
      <p:graphicFrame>
        <p:nvGraphicFramePr>
          <p:cNvPr id="28677" name="Object 5"/>
          <p:cNvGraphicFramePr>
            <a:graphicFrameLocks noChangeAspect="1"/>
          </p:cNvGraphicFramePr>
          <p:nvPr>
            <p:extLst>
              <p:ext uri="{D42A27DB-BD31-4B8C-83A1-F6EECF244321}">
                <p14:modId xmlns:p14="http://schemas.microsoft.com/office/powerpoint/2010/main" val="2695817201"/>
              </p:ext>
            </p:extLst>
          </p:nvPr>
        </p:nvGraphicFramePr>
        <p:xfrm>
          <a:off x="6919758" y="1766887"/>
          <a:ext cx="3724275" cy="3324225"/>
        </p:xfrm>
        <a:graphic>
          <a:graphicData uri="http://schemas.openxmlformats.org/presentationml/2006/ole">
            <mc:AlternateContent xmlns:mc="http://schemas.openxmlformats.org/markup-compatibility/2006">
              <mc:Choice xmlns:v="urn:schemas-microsoft-com:vml" Requires="v">
                <p:oleObj r:id="rId4" imgW="8572500" imgH="7296150" progId="">
                  <p:embed/>
                </p:oleObj>
              </mc:Choice>
              <mc:Fallback>
                <p:oleObj r:id="rId4" imgW="8572500" imgH="729615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9758" y="1766887"/>
                        <a:ext cx="3724275" cy="3324225"/>
                      </a:xfrm>
                      <a:prstGeom prst="rect">
                        <a:avLst/>
                      </a:prstGeom>
                      <a:noFill/>
                      <a:ln w="9525">
                        <a:solidFill>
                          <a:schemeClr val="accent2"/>
                        </a:solidFill>
                        <a:miter lim="800000"/>
                        <a:headEnd/>
                        <a:tailEnd/>
                      </a:ln>
                      <a:effectLst>
                        <a:outerShdw dist="109250" dir="3267739" algn="ctr" rotWithShape="0">
                          <a:schemeClr val="tx1"/>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030" name="Rectangle 6"/>
          <p:cNvSpPr>
            <a:spLocks noChangeArrowheads="1"/>
          </p:cNvSpPr>
          <p:nvPr/>
        </p:nvSpPr>
        <p:spPr bwMode="auto">
          <a:xfrm>
            <a:off x="6919758" y="5403371"/>
            <a:ext cx="3600450" cy="792163"/>
          </a:xfrm>
          <a:prstGeom prst="rect">
            <a:avLst/>
          </a:prstGeom>
          <a:solidFill>
            <a:srgbClr val="FF9933"/>
          </a:solidFill>
          <a:ln w="9525">
            <a:solidFill>
              <a:schemeClr val="tx1"/>
            </a:solidFill>
            <a:miter lim="800000"/>
          </a:ln>
        </p:spPr>
        <p:txBody>
          <a:bodyPr wrap="none"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a:r>
              <a:rPr lang="en-US" altLang="zh-CN" sz="2000" b="1" dirty="0">
                <a:solidFill>
                  <a:srgbClr val="3333FF"/>
                </a:solidFill>
                <a:latin typeface="楷体_GB2312" panose="02010609030101010101" pitchFamily="49" charset="-122"/>
                <a:ea typeface="楷体_GB2312" panose="02010609030101010101" pitchFamily="49" charset="-122"/>
              </a:rPr>
              <a:t>5</a:t>
            </a:r>
            <a:r>
              <a:rPr lang="zh-CN" altLang="en-US" sz="2000" b="1" dirty="0">
                <a:solidFill>
                  <a:srgbClr val="3333FF"/>
                </a:solidFill>
                <a:latin typeface="楷体_GB2312" panose="02010609030101010101" pitchFamily="49" charset="-122"/>
                <a:ea typeface="楷体_GB2312" panose="02010609030101010101" pitchFamily="49" charset="-122"/>
              </a:rPr>
              <a:t>组</a:t>
            </a:r>
            <a:r>
              <a:rPr lang="en-US" altLang="zh-CN" sz="2000" b="1" dirty="0">
                <a:solidFill>
                  <a:srgbClr val="3333FF"/>
                </a:solidFill>
                <a:latin typeface="楷体_GB2312" panose="02010609030101010101" pitchFamily="49" charset="-122"/>
                <a:ea typeface="楷体_GB2312" panose="02010609030101010101" pitchFamily="49" charset="-122"/>
              </a:rPr>
              <a:t>30</a:t>
            </a:r>
            <a:r>
              <a:rPr lang="zh-CN" altLang="en-US" sz="2000" b="1" dirty="0">
                <a:solidFill>
                  <a:srgbClr val="3333FF"/>
                </a:solidFill>
                <a:latin typeface="楷体_GB2312" panose="02010609030101010101" pitchFamily="49" charset="-122"/>
                <a:ea typeface="楷体_GB2312" panose="02010609030101010101" pitchFamily="49" charset="-122"/>
              </a:rPr>
              <a:t>：</a:t>
            </a:r>
            <a:r>
              <a:rPr lang="en-US" altLang="zh-CN" sz="2000" b="1" dirty="0">
                <a:solidFill>
                  <a:srgbClr val="3333FF"/>
                </a:solidFill>
                <a:latin typeface="楷体_GB2312" panose="02010609030101010101" pitchFamily="49" charset="-122"/>
                <a:ea typeface="楷体_GB2312" panose="02010609030101010101" pitchFamily="49" charset="-122"/>
              </a:rPr>
              <a:t>2</a:t>
            </a:r>
            <a:r>
              <a:rPr lang="zh-CN" altLang="en-US" sz="2000" b="1" dirty="0">
                <a:solidFill>
                  <a:srgbClr val="3333FF"/>
                </a:solidFill>
                <a:latin typeface="楷体_GB2312" panose="02010609030101010101" pitchFamily="49" charset="-122"/>
                <a:ea typeface="楷体_GB2312" panose="02010609030101010101" pitchFamily="49" charset="-122"/>
              </a:rPr>
              <a:t>＝复苏周期（</a:t>
            </a:r>
            <a:r>
              <a:rPr lang="en-US" altLang="zh-CN" sz="2000" b="1" dirty="0">
                <a:solidFill>
                  <a:srgbClr val="3333FF"/>
                </a:solidFill>
                <a:latin typeface="楷体_GB2312" panose="02010609030101010101" pitchFamily="49" charset="-122"/>
                <a:ea typeface="楷体_GB2312" panose="02010609030101010101" pitchFamily="49" charset="-122"/>
              </a:rPr>
              <a:t>2</a:t>
            </a:r>
            <a:r>
              <a:rPr lang="zh-CN" altLang="en-US" sz="2000" b="1" dirty="0">
                <a:solidFill>
                  <a:srgbClr val="3333FF"/>
                </a:solidFill>
                <a:latin typeface="楷体_GB2312" panose="02010609030101010101" pitchFamily="49" charset="-122"/>
                <a:ea typeface="楷体_GB2312" panose="02010609030101010101" pitchFamily="49" charset="-122"/>
              </a:rPr>
              <a:t>分钟）</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ox(out)">
                                      <p:cBhvr>
                                        <p:cTn id="7" dur="500"/>
                                        <p:tgtEl>
                                          <p:spTgt spid="28676"/>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28677"/>
                                        </p:tgtEl>
                                        <p:attrNameLst>
                                          <p:attrName>style.visibility</p:attrName>
                                        </p:attrNameLst>
                                      </p:cBhvr>
                                      <p:to>
                                        <p:strVal val="visible"/>
                                      </p:to>
                                    </p:set>
                                    <p:animEffect transition="in" filter="box(out)">
                                      <p:cBhvr>
                                        <p:cTn id="11"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sz="half" idx="4294967295"/>
          </p:nvPr>
        </p:nvSpPr>
        <p:spPr>
          <a:xfrm>
            <a:off x="1302059" y="2161852"/>
            <a:ext cx="3313113" cy="3776662"/>
          </a:xfrm>
        </p:spPr>
        <p:txBody>
          <a:bodyPr rtlCol="0">
            <a:normAutofit/>
          </a:bodyPr>
          <a:lstStyle/>
          <a:p>
            <a:pPr>
              <a:lnSpc>
                <a:spcPct val="150000"/>
              </a:lnSpc>
              <a:buNone/>
              <a:defRPr/>
            </a:pPr>
            <a:r>
              <a:rPr lang="zh-CN" altLang="en-US" b="1" dirty="0"/>
              <a:t>肘关节伸直</a:t>
            </a:r>
          </a:p>
          <a:p>
            <a:pPr>
              <a:lnSpc>
                <a:spcPct val="150000"/>
              </a:lnSpc>
              <a:buNone/>
              <a:defRPr/>
            </a:pPr>
            <a:r>
              <a:rPr lang="zh-CN" altLang="en-US" b="1" dirty="0"/>
              <a:t>以髋关节为轴，</a:t>
            </a:r>
          </a:p>
          <a:p>
            <a:pPr>
              <a:lnSpc>
                <a:spcPct val="150000"/>
              </a:lnSpc>
              <a:buNone/>
              <a:defRPr/>
            </a:pPr>
            <a:r>
              <a:rPr lang="zh-CN" altLang="en-US" b="1" dirty="0"/>
              <a:t>借助上半身的重量</a:t>
            </a:r>
          </a:p>
          <a:p>
            <a:pPr>
              <a:lnSpc>
                <a:spcPct val="150000"/>
              </a:lnSpc>
              <a:buNone/>
              <a:defRPr/>
            </a:pPr>
            <a:r>
              <a:rPr lang="zh-CN" altLang="en-US" b="1" dirty="0"/>
              <a:t>垂直向下压</a:t>
            </a:r>
            <a:endParaRPr lang="en-US" b="1" dirty="0">
              <a:ea typeface="宋体" panose="02010600030101010101" pitchFamily="2" charset="-122"/>
            </a:endParaRPr>
          </a:p>
        </p:txBody>
      </p:sp>
      <p:sp>
        <p:nvSpPr>
          <p:cNvPr id="9219" name="Rectangle 3"/>
          <p:cNvSpPr>
            <a:spLocks noChangeArrowheads="1"/>
          </p:cNvSpPr>
          <p:nvPr/>
        </p:nvSpPr>
        <p:spPr bwMode="auto">
          <a:xfrm>
            <a:off x="3984625" y="511175"/>
            <a:ext cx="72453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buFontTx/>
              <a:buNone/>
            </a:pPr>
            <a:r>
              <a:rPr lang="zh-CN" altLang="en-US" b="1" dirty="0">
                <a:latin typeface="宋体" panose="02010600030101010101" pitchFamily="2" charset="-122"/>
              </a:rPr>
              <a:t>按压姿势示意图</a:t>
            </a:r>
            <a:r>
              <a:rPr lang="zh-CN" altLang="en-US" dirty="0">
                <a:latin typeface="宋体" panose="02010600030101010101" pitchFamily="2" charset="-122"/>
              </a:rPr>
              <a:t> </a:t>
            </a:r>
          </a:p>
        </p:txBody>
      </p:sp>
      <p:pic>
        <p:nvPicPr>
          <p:cNvPr id="9220" name="Picture 4" descr="6-10"/>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76640" y="1881188"/>
            <a:ext cx="5327650" cy="411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4"/>
          <p:cNvSpPr>
            <a:spLocks noChangeArrowheads="1"/>
          </p:cNvSpPr>
          <p:nvPr/>
        </p:nvSpPr>
        <p:spPr bwMode="auto">
          <a:xfrm>
            <a:off x="6888164" y="1773238"/>
            <a:ext cx="1150937" cy="215900"/>
          </a:xfrm>
          <a:prstGeom prst="rect">
            <a:avLst/>
          </a:prstGeom>
          <a:solidFill>
            <a:schemeClr val="bg1"/>
          </a:solidFill>
          <a:ln w="9525">
            <a:solidFill>
              <a:schemeClr val="tx1"/>
            </a:solidFill>
            <a:miter lim="800000"/>
          </a:ln>
        </p:spPr>
        <p:txBody>
          <a:bodyPr wrap="none"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CC0000"/>
                </a:solidFill>
              </a:rPr>
              <a:t>≥5cm</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364201" y="382589"/>
            <a:ext cx="8229600" cy="760412"/>
          </a:xfrm>
        </p:spPr>
        <p:txBody>
          <a:bodyPr rtlCol="0">
            <a:normAutofit fontScale="90000"/>
          </a:bodyPr>
          <a:lstStyle/>
          <a:p>
            <a:pPr>
              <a:defRPr/>
            </a:pPr>
            <a:r>
              <a:rPr lang="zh-CN" altLang="en-US" b="1" dirty="0"/>
              <a:t>      </a:t>
            </a:r>
            <a:r>
              <a:rPr lang="zh-CN" altLang="en-US" sz="4000" b="1" dirty="0"/>
              <a:t>胸外心脏按压</a:t>
            </a:r>
            <a:r>
              <a:rPr lang="zh-CN" altLang="en-US" sz="3600" b="1" dirty="0"/>
              <a:t> </a:t>
            </a:r>
            <a:r>
              <a:rPr lang="zh-CN" altLang="en-US" b="1" dirty="0">
                <a:latin typeface="宋体" panose="02010600030101010101" pitchFamily="2" charset="-122"/>
              </a:rPr>
              <a:t>(C</a:t>
            </a:r>
            <a:r>
              <a:rPr lang="zh-CN" altLang="en-US" sz="3600" b="1" dirty="0">
                <a:latin typeface="宋体" panose="02010600030101010101" pitchFamily="2" charset="-122"/>
              </a:rPr>
              <a:t>,</a:t>
            </a:r>
            <a:r>
              <a:rPr lang="en-US" altLang="zh-CN" b="1" dirty="0">
                <a:latin typeface="宋体" panose="02010600030101010101" pitchFamily="2" charset="-122"/>
              </a:rPr>
              <a:t>circulation )</a:t>
            </a:r>
            <a:endParaRPr lang="zh-CN" altLang="en-US" b="1" dirty="0"/>
          </a:p>
        </p:txBody>
      </p:sp>
      <p:sp>
        <p:nvSpPr>
          <p:cNvPr id="6147" name="Rectangle 3"/>
          <p:cNvSpPr>
            <a:spLocks noGrp="1" noChangeArrowheads="1"/>
          </p:cNvSpPr>
          <p:nvPr>
            <p:ph type="body" idx="4294967295"/>
          </p:nvPr>
        </p:nvSpPr>
        <p:spPr>
          <a:xfrm>
            <a:off x="1524000" y="1143001"/>
            <a:ext cx="8229600" cy="4983163"/>
          </a:xfrm>
        </p:spPr>
        <p:txBody>
          <a:bodyPr/>
          <a:lstStyle/>
          <a:p>
            <a:pPr>
              <a:buFontTx/>
              <a:buNone/>
            </a:pPr>
            <a:r>
              <a:rPr lang="zh-CN" altLang="en-US" b="1" dirty="0">
                <a:latin typeface="宋体" panose="02010600030101010101" pitchFamily="2" charset="-122"/>
              </a:rPr>
              <a:t>    按压者体位和姿势</a:t>
            </a:r>
          </a:p>
        </p:txBody>
      </p:sp>
      <p:pic>
        <p:nvPicPr>
          <p:cNvPr id="27652"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2251077"/>
            <a:ext cx="3811587"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2849" y="2103439"/>
            <a:ext cx="3779838"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fade">
                                      <p:cBhvr>
                                        <p:cTn id="7" dur="2000"/>
                                        <p:tgtEl>
                                          <p:spTgt spid="276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53"/>
                                        </p:tgtEl>
                                        <p:attrNameLst>
                                          <p:attrName>style.visibility</p:attrName>
                                        </p:attrNameLst>
                                      </p:cBhvr>
                                      <p:to>
                                        <p:strVal val="visible"/>
                                      </p:to>
                                    </p:set>
                                    <p:animEffect transition="in" filter="fade">
                                      <p:cBhvr>
                                        <p:cTn id="12" dur="20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a:xfrm>
            <a:off x="2438400" y="404813"/>
            <a:ext cx="8229600" cy="760412"/>
          </a:xfrm>
        </p:spPr>
        <p:txBody>
          <a:bodyPr rtlCol="0">
            <a:normAutofit fontScale="90000"/>
          </a:bodyPr>
          <a:lstStyle/>
          <a:p>
            <a:pPr>
              <a:defRPr/>
            </a:pPr>
            <a:r>
              <a:rPr lang="zh-CN" altLang="en-US" b="1">
                <a:latin typeface="宋体" panose="02010600030101010101" pitchFamily="2" charset="-122"/>
              </a:rPr>
              <a:t>  胸外心脏按压手法</a:t>
            </a:r>
            <a:br>
              <a:rPr lang="zh-CN" altLang="en-US" b="1">
                <a:latin typeface="宋体" panose="02010600030101010101" pitchFamily="2" charset="-122"/>
              </a:rPr>
            </a:br>
            <a:endParaRPr lang="zh-CN" altLang="en-US" b="1">
              <a:latin typeface="宋体" panose="02010600030101010101" pitchFamily="2" charset="-122"/>
            </a:endParaRPr>
          </a:p>
        </p:txBody>
      </p:sp>
      <p:graphicFrame>
        <p:nvGraphicFramePr>
          <p:cNvPr id="2050" name="Object 3"/>
          <p:cNvGraphicFramePr>
            <a:graphicFrameLocks noGrp="1" noChangeAspect="1"/>
          </p:cNvGraphicFramePr>
          <p:nvPr>
            <p:ph idx="4294967295"/>
          </p:nvPr>
        </p:nvGraphicFramePr>
        <p:xfrm>
          <a:off x="1308536" y="2272683"/>
          <a:ext cx="4073783" cy="3515465"/>
        </p:xfrm>
        <a:graphic>
          <a:graphicData uri="http://schemas.openxmlformats.org/presentationml/2006/ole">
            <mc:AlternateContent xmlns:mc="http://schemas.openxmlformats.org/markup-compatibility/2006">
              <mc:Choice xmlns:v="urn:schemas-microsoft-com:vml" Requires="v">
                <p:oleObj r:id="rId2" imgW="1734185" imgH="888365" progId="">
                  <p:embed/>
                </p:oleObj>
              </mc:Choice>
              <mc:Fallback>
                <p:oleObj r:id="rId2" imgW="1734185" imgH="888365"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536" y="2272683"/>
                        <a:ext cx="4073783" cy="3515465"/>
                      </a:xfrm>
                      <a:prstGeom prst="rect">
                        <a:avLst/>
                      </a:prstGeom>
                      <a:noFill/>
                      <a:ln>
                        <a:noFill/>
                      </a:ln>
                      <a:effectLst/>
                    </p:spPr>
                  </p:pic>
                </p:oleObj>
              </mc:Fallback>
            </mc:AlternateContent>
          </a:graphicData>
        </a:graphic>
      </p:graphicFrame>
      <p:pic>
        <p:nvPicPr>
          <p:cNvPr id="2052" name="Picture 4" descr="pumpani"/>
          <p:cNvPicPr>
            <a:picLocks noGrp="1" noChangeAspect="1" noChangeArrowheads="1"/>
          </p:cNvPicPr>
          <p:nvPr>
            <p:ph idx="4294967295"/>
          </p:nvPr>
        </p:nvPicPr>
        <p:blipFill>
          <a:blip r:embed="rId4">
            <a:extLst>
              <a:ext uri="{28A0092B-C50C-407E-A947-70E740481C1C}">
                <a14:useLocalDpi xmlns:a14="http://schemas.microsoft.com/office/drawing/2010/main" val="0"/>
              </a:ext>
            </a:extLst>
          </a:blip>
          <a:srcRect/>
          <a:stretch>
            <a:fillRect/>
          </a:stretch>
        </p:blipFill>
        <p:spPr>
          <a:xfrm>
            <a:off x="6019800" y="981075"/>
            <a:ext cx="4648200" cy="5327650"/>
          </a:xfrm>
          <a:noFill/>
        </p:spPr>
      </p:pic>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892699" y="769432"/>
            <a:ext cx="8229600" cy="760412"/>
          </a:xfrm>
        </p:spPr>
        <p:txBody>
          <a:bodyPr rtlCol="0">
            <a:normAutofit/>
          </a:bodyPr>
          <a:lstStyle/>
          <a:p>
            <a:pPr>
              <a:defRPr/>
            </a:pPr>
            <a:r>
              <a:rPr lang="zh-CN" altLang="en-US" b="1" dirty="0">
                <a:latin typeface="宋体" panose="02010600030101010101" pitchFamily="2" charset="-122"/>
              </a:rPr>
              <a:t>     强调高质量的</a:t>
            </a:r>
            <a:r>
              <a:rPr lang="en-US" altLang="zh-CN" b="1" dirty="0">
                <a:latin typeface="宋体" panose="02010600030101010101" pitchFamily="2" charset="-122"/>
              </a:rPr>
              <a:t>CPR </a:t>
            </a:r>
          </a:p>
        </p:txBody>
      </p:sp>
      <p:sp>
        <p:nvSpPr>
          <p:cNvPr id="13315" name="Rectangle 3"/>
          <p:cNvSpPr>
            <a:spLocks noGrp="1" noChangeArrowheads="1"/>
          </p:cNvSpPr>
          <p:nvPr>
            <p:ph type="body" idx="4294967295"/>
          </p:nvPr>
        </p:nvSpPr>
        <p:spPr>
          <a:xfrm>
            <a:off x="2550049" y="1908978"/>
            <a:ext cx="8197850" cy="4608513"/>
          </a:xfrm>
        </p:spPr>
        <p:txBody>
          <a:bodyPr rtlCol="0">
            <a:normAutofit lnSpcReduction="10000"/>
          </a:bodyPr>
          <a:lstStyle/>
          <a:p>
            <a:pPr>
              <a:lnSpc>
                <a:spcPct val="130000"/>
              </a:lnSpc>
              <a:buFont typeface="Wingdings" panose="05000000000000000000" pitchFamily="2" charset="2"/>
              <a:buChar char="Ø"/>
              <a:defRPr/>
            </a:pPr>
            <a:r>
              <a:rPr lang="zh-CN" altLang="en-US" b="1" dirty="0">
                <a:latin typeface="宋体" panose="02010600030101010101" pitchFamily="2" charset="-122"/>
              </a:rPr>
              <a:t>按压</a:t>
            </a:r>
            <a:r>
              <a:rPr lang="zh-CN" altLang="en-US" b="1" dirty="0">
                <a:solidFill>
                  <a:srgbClr val="CC3300"/>
                </a:solidFill>
                <a:latin typeface="宋体" panose="02010600030101010101" pitchFamily="2" charset="-122"/>
              </a:rPr>
              <a:t>速率至少</a:t>
            </a:r>
            <a:r>
              <a:rPr lang="en-US" altLang="zh-CN" b="1" dirty="0">
                <a:solidFill>
                  <a:srgbClr val="CC3300"/>
                </a:solidFill>
                <a:latin typeface="宋体" panose="02010600030101010101" pitchFamily="2" charset="-122"/>
              </a:rPr>
              <a:t>100-120</a:t>
            </a:r>
            <a:r>
              <a:rPr lang="zh-CN" altLang="en-US" b="1" dirty="0">
                <a:solidFill>
                  <a:srgbClr val="CC3300"/>
                </a:solidFill>
                <a:latin typeface="宋体" panose="02010600030101010101" pitchFamily="2" charset="-122"/>
              </a:rPr>
              <a:t>次</a:t>
            </a:r>
            <a:r>
              <a:rPr lang="en-US" altLang="zh-CN" b="1" dirty="0">
                <a:solidFill>
                  <a:srgbClr val="CC3300"/>
                </a:solidFill>
                <a:latin typeface="宋体" panose="02010600030101010101" pitchFamily="2" charset="-122"/>
              </a:rPr>
              <a:t>/</a:t>
            </a:r>
            <a:r>
              <a:rPr lang="zh-CN" altLang="en-US" b="1" dirty="0">
                <a:solidFill>
                  <a:srgbClr val="CC3300"/>
                </a:solidFill>
                <a:latin typeface="宋体" panose="02010600030101010101" pitchFamily="2" charset="-122"/>
              </a:rPr>
              <a:t>分钟</a:t>
            </a:r>
            <a:endParaRPr lang="zh-CN" altLang="en-US" b="1" dirty="0">
              <a:latin typeface="宋体" panose="02010600030101010101" pitchFamily="2" charset="-122"/>
            </a:endParaRPr>
          </a:p>
          <a:p>
            <a:pPr>
              <a:lnSpc>
                <a:spcPct val="130000"/>
              </a:lnSpc>
              <a:buFont typeface="Wingdings" panose="05000000000000000000" pitchFamily="2" charset="2"/>
              <a:buChar char="Ø"/>
              <a:defRPr/>
            </a:pPr>
            <a:r>
              <a:rPr lang="zh-CN" altLang="en-US" b="1" dirty="0">
                <a:latin typeface="宋体" panose="02010600030101010101" pitchFamily="2" charset="-122"/>
              </a:rPr>
              <a:t>按压</a:t>
            </a:r>
            <a:r>
              <a:rPr lang="zh-CN" altLang="en-US" b="1" dirty="0">
                <a:solidFill>
                  <a:srgbClr val="CC3300"/>
                </a:solidFill>
                <a:latin typeface="宋体" panose="02010600030101010101" pitchFamily="2" charset="-122"/>
              </a:rPr>
              <a:t>深度成人至少</a:t>
            </a:r>
            <a:r>
              <a:rPr lang="en-US" altLang="zh-CN" b="1" dirty="0">
                <a:solidFill>
                  <a:srgbClr val="CC3300"/>
                </a:solidFill>
                <a:latin typeface="宋体" panose="02010600030101010101" pitchFamily="2" charset="-122"/>
              </a:rPr>
              <a:t>5-6</a:t>
            </a:r>
            <a:r>
              <a:rPr lang="zh-CN" altLang="en-US" b="1" dirty="0">
                <a:solidFill>
                  <a:srgbClr val="CC3300"/>
                </a:solidFill>
                <a:latin typeface="宋体" panose="02010600030101010101" pitchFamily="2" charset="-122"/>
              </a:rPr>
              <a:t>厘米</a:t>
            </a:r>
          </a:p>
          <a:p>
            <a:pPr>
              <a:lnSpc>
                <a:spcPct val="130000"/>
              </a:lnSpc>
              <a:buFont typeface="Wingdings" panose="05000000000000000000" pitchFamily="2" charset="2"/>
              <a:buChar char="Ø"/>
              <a:defRPr/>
            </a:pPr>
            <a:r>
              <a:rPr lang="zh-CN" altLang="en-US" b="1" dirty="0">
                <a:latin typeface="宋体" panose="02010600030101010101" pitchFamily="2" charset="-122"/>
              </a:rPr>
              <a:t>按压/人工呼吸</a:t>
            </a:r>
            <a:r>
              <a:rPr lang="zh-CN" altLang="en-US" b="1" dirty="0">
                <a:solidFill>
                  <a:srgbClr val="CC3300"/>
                </a:solidFill>
                <a:latin typeface="宋体" panose="02010600030101010101" pitchFamily="2" charset="-122"/>
              </a:rPr>
              <a:t>=30:2</a:t>
            </a:r>
          </a:p>
          <a:p>
            <a:pPr>
              <a:lnSpc>
                <a:spcPct val="130000"/>
              </a:lnSpc>
              <a:buFont typeface="Wingdings" panose="05000000000000000000" pitchFamily="2" charset="2"/>
              <a:buChar char="Ø"/>
              <a:defRPr/>
            </a:pPr>
            <a:r>
              <a:rPr lang="zh-CN" altLang="en-US" b="1" dirty="0">
                <a:latin typeface="宋体" panose="02010600030101010101" pitchFamily="2" charset="-122"/>
              </a:rPr>
              <a:t>每次按压后确保</a:t>
            </a:r>
            <a:r>
              <a:rPr lang="zh-CN" altLang="en-US" b="1" dirty="0">
                <a:solidFill>
                  <a:srgbClr val="CC3300"/>
                </a:solidFill>
                <a:latin typeface="宋体" panose="02010600030101010101" pitchFamily="2" charset="-122"/>
              </a:rPr>
              <a:t>胸部完全回弹</a:t>
            </a:r>
          </a:p>
          <a:p>
            <a:pPr>
              <a:lnSpc>
                <a:spcPct val="130000"/>
              </a:lnSpc>
              <a:buFont typeface="Wingdings" panose="05000000000000000000" pitchFamily="2" charset="2"/>
              <a:buChar char="Ø"/>
              <a:defRPr/>
            </a:pPr>
            <a:r>
              <a:rPr lang="zh-CN" altLang="en-US" b="1" dirty="0">
                <a:latin typeface="宋体" panose="02010600030101010101" pitchFamily="2" charset="-122"/>
              </a:rPr>
              <a:t>按压/放松</a:t>
            </a:r>
            <a:r>
              <a:rPr lang="zh-CN" altLang="en-US" b="1" dirty="0">
                <a:solidFill>
                  <a:srgbClr val="CC3300"/>
                </a:solidFill>
                <a:latin typeface="宋体" panose="02010600030101010101" pitchFamily="2" charset="-122"/>
              </a:rPr>
              <a:t>=1:1</a:t>
            </a:r>
          </a:p>
          <a:p>
            <a:pPr>
              <a:lnSpc>
                <a:spcPct val="130000"/>
              </a:lnSpc>
              <a:buFont typeface="Wingdings" panose="05000000000000000000" pitchFamily="2" charset="2"/>
              <a:buChar char="Ø"/>
              <a:defRPr/>
            </a:pPr>
            <a:r>
              <a:rPr lang="zh-CN" altLang="en-US" b="1" dirty="0">
                <a:latin typeface="宋体" panose="02010600030101010101" pitchFamily="2" charset="-122"/>
              </a:rPr>
              <a:t>尽量</a:t>
            </a:r>
            <a:r>
              <a:rPr lang="zh-CN" altLang="en-US" b="1" dirty="0">
                <a:solidFill>
                  <a:srgbClr val="CC3300"/>
                </a:solidFill>
                <a:latin typeface="宋体" panose="02010600030101010101" pitchFamily="2" charset="-122"/>
              </a:rPr>
              <a:t>减少胸外按压中断</a:t>
            </a:r>
            <a:r>
              <a:rPr lang="zh-CN" altLang="en-US" dirty="0">
                <a:solidFill>
                  <a:srgbClr val="CC3300"/>
                </a:solidFill>
                <a:latin typeface="Arial" panose="020B0604020202020204" pitchFamily="34" charset="0"/>
                <a:sym typeface="Arial" panose="020B0604020202020204" pitchFamily="34" charset="0"/>
              </a:rPr>
              <a:t>&lt;</a:t>
            </a:r>
            <a:r>
              <a:rPr lang="zh-CN" altLang="en-US" dirty="0">
                <a:solidFill>
                  <a:srgbClr val="CC3300"/>
                </a:solidFill>
                <a:latin typeface="Arial" panose="020B0604020202020204" pitchFamily="34" charset="0"/>
              </a:rPr>
              <a:t>10S</a:t>
            </a:r>
          </a:p>
          <a:p>
            <a:pPr>
              <a:lnSpc>
                <a:spcPct val="130000"/>
              </a:lnSpc>
              <a:buFont typeface="Wingdings" panose="05000000000000000000" pitchFamily="2" charset="2"/>
              <a:buChar char="Ø"/>
              <a:defRPr/>
            </a:pPr>
            <a:r>
              <a:rPr lang="zh-CN" altLang="en-US" b="1" dirty="0">
                <a:solidFill>
                  <a:srgbClr val="CC3300"/>
                </a:solidFill>
                <a:latin typeface="Arial" panose="020B0604020202020204" pitchFamily="34" charset="0"/>
              </a:rPr>
              <a:t>避免过度通气</a:t>
            </a:r>
          </a:p>
          <a:p>
            <a:pPr>
              <a:lnSpc>
                <a:spcPct val="130000"/>
              </a:lnSpc>
              <a:buNone/>
              <a:defRPr/>
            </a:pPr>
            <a:endParaRPr lang="zh-CN" altLang="en-US" b="1" dirty="0">
              <a:solidFill>
                <a:srgbClr val="CC3300"/>
              </a:solidFill>
              <a:latin typeface="宋体" panose="02010600030101010101" pitchFamily="2" charset="-122"/>
            </a:endParaRPr>
          </a:p>
          <a:p>
            <a:pPr>
              <a:buNone/>
              <a:defRPr/>
            </a:pPr>
            <a:endParaRPr lang="zh-CN" altLang="en-US" b="1" dirty="0">
              <a:solidFill>
                <a:srgbClr val="CC3300"/>
              </a:solidFill>
              <a:latin typeface="宋体" panose="02010600030101010101" pitchFamily="2" charset="-122"/>
            </a:endParaRPr>
          </a:p>
        </p:txBody>
      </p:sp>
      <p:sp>
        <p:nvSpPr>
          <p:cNvPr id="10244" name="Text Box 4"/>
          <p:cNvSpPr txBox="1">
            <a:spLocks noChangeArrowheads="1"/>
          </p:cNvSpPr>
          <p:nvPr/>
        </p:nvSpPr>
        <p:spPr bwMode="auto">
          <a:xfrm>
            <a:off x="2238376" y="857251"/>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153988"/>
            <a:ext cx="8229600" cy="760412"/>
          </a:xfrm>
        </p:spPr>
        <p:txBody>
          <a:bodyPr rtlCol="0">
            <a:normAutofit/>
          </a:bodyPr>
          <a:lstStyle/>
          <a:p>
            <a:pPr>
              <a:defRPr/>
            </a:pPr>
            <a:r>
              <a:rPr lang="zh-CN" altLang="en-US" b="1">
                <a:latin typeface="宋体" panose="02010600030101010101" pitchFamily="2" charset="-122"/>
              </a:rPr>
              <a:t>      </a:t>
            </a:r>
            <a:endParaRPr lang="zh-CN" altLang="en-US" sz="3600" b="1">
              <a:latin typeface="宋体" panose="02010600030101010101" pitchFamily="2" charset="-122"/>
            </a:endParaRPr>
          </a:p>
        </p:txBody>
      </p:sp>
      <p:sp>
        <p:nvSpPr>
          <p:cNvPr id="11267" name="Rectangle 3"/>
          <p:cNvSpPr>
            <a:spLocks noGrp="1" noChangeArrowheads="1"/>
          </p:cNvSpPr>
          <p:nvPr>
            <p:ph type="body" idx="4294967295"/>
          </p:nvPr>
        </p:nvSpPr>
        <p:spPr>
          <a:xfrm>
            <a:off x="1887985" y="1348312"/>
            <a:ext cx="8229600" cy="4983162"/>
          </a:xfrm>
        </p:spPr>
        <p:txBody>
          <a:bodyPr/>
          <a:lstStyle/>
          <a:p>
            <a:pPr>
              <a:lnSpc>
                <a:spcPct val="140000"/>
              </a:lnSpc>
              <a:buFont typeface="Wingdings" panose="05000000000000000000" pitchFamily="2" charset="2"/>
              <a:buChar char="Ø"/>
            </a:pPr>
            <a:endParaRPr lang="zh-CN" altLang="en-US" b="1" dirty="0">
              <a:latin typeface="楷体_GB2312" panose="02010609030101010101" pitchFamily="49" charset="-122"/>
              <a:ea typeface="楷体_GB2312" panose="02010609030101010101" pitchFamily="49" charset="-122"/>
            </a:endParaRPr>
          </a:p>
          <a:p>
            <a:pPr>
              <a:lnSpc>
                <a:spcPct val="140000"/>
              </a:lnSpc>
              <a:buFont typeface="Wingdings" panose="05000000000000000000" pitchFamily="2" charset="2"/>
              <a:buChar char="Ø"/>
            </a:pPr>
            <a:r>
              <a:rPr lang="zh-CN" altLang="en-US" b="1" dirty="0">
                <a:latin typeface="楷体_GB2312" panose="02010609030101010101" pitchFamily="49" charset="-122"/>
                <a:ea typeface="楷体_GB2312" panose="02010609030101010101" pitchFamily="49" charset="-122"/>
              </a:rPr>
              <a:t>按压超过</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分钟，出现按压疲劳和按压变浅</a:t>
            </a:r>
          </a:p>
          <a:p>
            <a:pPr>
              <a:lnSpc>
                <a:spcPct val="140000"/>
              </a:lnSpc>
              <a:buFont typeface="Wingdings" panose="05000000000000000000" pitchFamily="2" charset="2"/>
              <a:buChar char="Ø"/>
            </a:pPr>
            <a:r>
              <a:rPr lang="en-US" altLang="zh-CN" b="1" dirty="0">
                <a:latin typeface="楷体_GB2312" panose="02010609030101010101" pitchFamily="49" charset="-122"/>
                <a:ea typeface="楷体_GB2312" panose="02010609030101010101" pitchFamily="49" charset="-122"/>
              </a:rPr>
              <a:t>2</a:t>
            </a:r>
            <a:r>
              <a:rPr lang="zh-CN" altLang="en-US" b="1" dirty="0">
                <a:latin typeface="楷体_GB2312" panose="02010609030101010101" pitchFamily="49" charset="-122"/>
                <a:ea typeface="楷体_GB2312" panose="02010609030101010101" pitchFamily="49" charset="-122"/>
              </a:rPr>
              <a:t>名或以上施救者时，每</a:t>
            </a:r>
            <a:r>
              <a:rPr lang="en-US" altLang="zh-CN" b="1" dirty="0">
                <a:latin typeface="楷体_GB2312" panose="02010609030101010101" pitchFamily="49" charset="-122"/>
                <a:ea typeface="楷体_GB2312" panose="02010609030101010101" pitchFamily="49" charset="-122"/>
              </a:rPr>
              <a:t>2</a:t>
            </a:r>
            <a:r>
              <a:rPr lang="zh-CN" altLang="en-US" b="1" dirty="0">
                <a:latin typeface="楷体_GB2312" panose="02010609030101010101" pitchFamily="49" charset="-122"/>
                <a:ea typeface="楷体_GB2312" panose="02010609030101010101" pitchFamily="49" charset="-122"/>
              </a:rPr>
              <a:t>分钟互相替换胸外按压，以防止胸外按压质量的下降</a:t>
            </a:r>
          </a:p>
          <a:p>
            <a:pPr>
              <a:lnSpc>
                <a:spcPct val="140000"/>
              </a:lnSpc>
              <a:buFont typeface="Wingdings" panose="05000000000000000000" pitchFamily="2" charset="2"/>
              <a:buChar char="Ø"/>
            </a:pPr>
            <a:r>
              <a:rPr lang="zh-CN" altLang="en-US" b="1" dirty="0">
                <a:latin typeface="楷体_GB2312" panose="02010609030101010101" pitchFamily="49" charset="-122"/>
                <a:ea typeface="楷体_GB2312" panose="02010609030101010101" pitchFamily="49" charset="-122"/>
              </a:rPr>
              <a:t>替换尽量在</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秒内完成，</a:t>
            </a:r>
            <a:r>
              <a:rPr lang="en-US" altLang="zh-CN" b="1" dirty="0">
                <a:latin typeface="楷体_GB2312" panose="02010609030101010101" pitchFamily="49" charset="-122"/>
                <a:ea typeface="楷体_GB2312" panose="02010609030101010101" pitchFamily="49" charset="-122"/>
              </a:rPr>
              <a:t>2</a:t>
            </a:r>
            <a:r>
              <a:rPr lang="zh-CN" altLang="en-US" b="1" dirty="0">
                <a:latin typeface="楷体_GB2312" panose="02010609030101010101" pitchFamily="49" charset="-122"/>
                <a:ea typeface="楷体_GB2312" panose="02010609030101010101" pitchFamily="49" charset="-122"/>
              </a:rPr>
              <a:t>名施救者最好位于患者两侧</a:t>
            </a:r>
          </a:p>
          <a:p>
            <a:endParaRPr lang="zh-CN" altLang="en-US" b="1" dirty="0">
              <a:solidFill>
                <a:schemeClr val="accent2"/>
              </a:solidFill>
              <a:latin typeface="楷体_GB2312" panose="02010609030101010101" pitchFamily="49" charset="-122"/>
              <a:ea typeface="楷体_GB2312" panose="02010609030101010101" pitchFamily="49" charset="-122"/>
            </a:endParaRPr>
          </a:p>
        </p:txBody>
      </p:sp>
      <p:sp>
        <p:nvSpPr>
          <p:cNvPr id="11268" name="Text Box 4"/>
          <p:cNvSpPr txBox="1">
            <a:spLocks noChangeArrowheads="1"/>
          </p:cNvSpPr>
          <p:nvPr/>
        </p:nvSpPr>
        <p:spPr bwMode="auto">
          <a:xfrm>
            <a:off x="2352676" y="1268413"/>
            <a:ext cx="3959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b="1"/>
              <a:t>避免按压疲劳</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idx="4294967295"/>
          </p:nvPr>
        </p:nvSpPr>
        <p:spPr>
          <a:xfrm>
            <a:off x="3601375" y="509095"/>
            <a:ext cx="8229600" cy="760412"/>
          </a:xfrm>
        </p:spPr>
        <p:txBody>
          <a:bodyPr rtlCol="0">
            <a:normAutofit/>
          </a:bodyPr>
          <a:lstStyle/>
          <a:p>
            <a:pPr>
              <a:defRPr/>
            </a:pPr>
            <a:r>
              <a:rPr lang="zh-CN" altLang="en-US" b="1" dirty="0">
                <a:latin typeface="宋体" panose="02010600030101010101" pitchFamily="2" charset="-122"/>
              </a:rPr>
              <a:t>    人工呼吸</a:t>
            </a:r>
            <a:endParaRPr lang="en-US" b="1" dirty="0">
              <a:latin typeface="宋体" panose="02010600030101010101" pitchFamily="2" charset="-122"/>
              <a:ea typeface="宋体" panose="02010600030101010101" pitchFamily="2" charset="-122"/>
            </a:endParaRPr>
          </a:p>
        </p:txBody>
      </p:sp>
      <p:graphicFrame>
        <p:nvGraphicFramePr>
          <p:cNvPr id="43011" name="Object 3"/>
          <p:cNvGraphicFramePr>
            <a:graphicFrameLocks noChangeAspect="1"/>
          </p:cNvGraphicFramePr>
          <p:nvPr/>
        </p:nvGraphicFramePr>
        <p:xfrm>
          <a:off x="1713390" y="1595335"/>
          <a:ext cx="4461985" cy="3397353"/>
        </p:xfrm>
        <a:graphic>
          <a:graphicData uri="http://schemas.openxmlformats.org/presentationml/2006/ole">
            <mc:AlternateContent xmlns:mc="http://schemas.openxmlformats.org/markup-compatibility/2006">
              <mc:Choice xmlns:v="urn:schemas-microsoft-com:vml" Requires="v">
                <p:oleObj r:id="rId2" imgW="6010275" imgH="4991100" progId="">
                  <p:embed/>
                </p:oleObj>
              </mc:Choice>
              <mc:Fallback>
                <p:oleObj r:id="rId2" imgW="6010275" imgH="4991100" progId="">
                  <p:embed/>
                  <p:pic>
                    <p:nvPicPr>
                      <p:cNvPr id="0" name="Object 3"/>
                      <p:cNvPicPr>
                        <a:picLocks noChangeAspect="1" noChangeArrowheads="1"/>
                      </p:cNvPicPr>
                      <p:nvPr/>
                    </p:nvPicPr>
                    <p:blipFill>
                      <a:blip r:embed="rId3">
                        <a:lum bright="18000" contrast="36000"/>
                        <a:extLst>
                          <a:ext uri="{28A0092B-C50C-407E-A947-70E740481C1C}">
                            <a14:useLocalDpi xmlns:a14="http://schemas.microsoft.com/office/drawing/2010/main" val="0"/>
                          </a:ext>
                        </a:extLst>
                      </a:blip>
                      <a:srcRect/>
                      <a:stretch>
                        <a:fillRect/>
                      </a:stretch>
                    </p:blipFill>
                    <p:spPr bwMode="auto">
                      <a:xfrm>
                        <a:off x="1713390" y="1595335"/>
                        <a:ext cx="4461985" cy="3397353"/>
                      </a:xfrm>
                      <a:prstGeom prst="rect">
                        <a:avLst/>
                      </a:prstGeom>
                      <a:noFill/>
                      <a:ln w="9525">
                        <a:solidFill>
                          <a:schemeClr val="accent2"/>
                        </a:solidFill>
                        <a:miter lim="800000"/>
                        <a:headEnd/>
                        <a:tailEnd/>
                      </a:ln>
                      <a:effectLst>
                        <a:outerShdw dist="137372" dir="3378596" algn="ctr" rotWithShape="0">
                          <a:schemeClr val="tx1"/>
                        </a:outerShdw>
                      </a:effectLst>
                    </p:spPr>
                  </p:pic>
                </p:oleObj>
              </mc:Fallback>
            </mc:AlternateContent>
          </a:graphicData>
        </a:graphic>
      </p:graphicFrame>
      <p:graphicFrame>
        <p:nvGraphicFramePr>
          <p:cNvPr id="43012" name="Object 4"/>
          <p:cNvGraphicFramePr>
            <a:graphicFrameLocks noChangeAspect="1"/>
          </p:cNvGraphicFramePr>
          <p:nvPr/>
        </p:nvGraphicFramePr>
        <p:xfrm>
          <a:off x="6311900" y="1563561"/>
          <a:ext cx="4166710" cy="3459289"/>
        </p:xfrm>
        <a:graphic>
          <a:graphicData uri="http://schemas.openxmlformats.org/presentationml/2006/ole">
            <mc:AlternateContent xmlns:mc="http://schemas.openxmlformats.org/markup-compatibility/2006">
              <mc:Choice xmlns:v="urn:schemas-microsoft-com:vml" Requires="v">
                <p:oleObj r:id="rId4" imgW="6172200" imgH="5172075" progId="">
                  <p:embed/>
                </p:oleObj>
              </mc:Choice>
              <mc:Fallback>
                <p:oleObj r:id="rId4" imgW="6172200" imgH="5172075" progId="">
                  <p:embed/>
                  <p:pic>
                    <p:nvPicPr>
                      <p:cNvPr id="0" name="Object 4"/>
                      <p:cNvPicPr>
                        <a:picLocks noChangeAspect="1" noChangeArrowheads="1"/>
                      </p:cNvPicPr>
                      <p:nvPr/>
                    </p:nvPicPr>
                    <p:blipFill>
                      <a:blip r:embed="rId5">
                        <a:lum bright="18000" contrast="30000"/>
                        <a:extLst>
                          <a:ext uri="{28A0092B-C50C-407E-A947-70E740481C1C}">
                            <a14:useLocalDpi xmlns:a14="http://schemas.microsoft.com/office/drawing/2010/main" val="0"/>
                          </a:ext>
                        </a:extLst>
                      </a:blip>
                      <a:srcRect/>
                      <a:stretch>
                        <a:fillRect/>
                      </a:stretch>
                    </p:blipFill>
                    <p:spPr bwMode="auto">
                      <a:xfrm>
                        <a:off x="6311900" y="1563561"/>
                        <a:ext cx="4166710" cy="3459289"/>
                      </a:xfrm>
                      <a:prstGeom prst="rect">
                        <a:avLst/>
                      </a:prstGeom>
                      <a:noFill/>
                      <a:ln w="9525">
                        <a:solidFill>
                          <a:schemeClr val="accent2"/>
                        </a:solidFill>
                        <a:miter lim="800000"/>
                        <a:headEnd/>
                        <a:tailEnd/>
                      </a:ln>
                      <a:effectLst>
                        <a:outerShdw dist="109250" dir="3267739" algn="ctr" rotWithShape="0">
                          <a:schemeClr val="tx1"/>
                        </a:outerShdw>
                      </a:effectLst>
                    </p:spPr>
                  </p:pic>
                </p:oleObj>
              </mc:Fallback>
            </mc:AlternateContent>
          </a:graphicData>
        </a:graphic>
      </p:graphicFrame>
      <p:sp>
        <p:nvSpPr>
          <p:cNvPr id="3077" name="Rectangle 5"/>
          <p:cNvSpPr>
            <a:spLocks noChangeArrowheads="1"/>
          </p:cNvSpPr>
          <p:nvPr/>
        </p:nvSpPr>
        <p:spPr bwMode="auto">
          <a:xfrm>
            <a:off x="1861568" y="5105603"/>
            <a:ext cx="4032250" cy="792163"/>
          </a:xfrm>
          <a:prstGeom prst="rect">
            <a:avLst/>
          </a:prstGeom>
          <a:solidFill>
            <a:srgbClr val="FF9933"/>
          </a:solidFill>
          <a:ln w="9525">
            <a:solidFill>
              <a:schemeClr val="tx1"/>
            </a:solidFill>
            <a:miter lim="800000"/>
          </a:ln>
        </p:spPr>
        <p:txBody>
          <a:bodyPr wrap="none"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a:r>
              <a:rPr lang="zh-CN" altLang="en-US" sz="3600" b="1">
                <a:solidFill>
                  <a:schemeClr val="bg2"/>
                </a:solidFill>
                <a:latin typeface="楷体_GB2312" panose="02010609030101010101" pitchFamily="49" charset="-122"/>
                <a:ea typeface="楷体_GB2312" panose="02010609030101010101" pitchFamily="49" charset="-122"/>
              </a:rPr>
              <a:t>口对口</a:t>
            </a:r>
          </a:p>
        </p:txBody>
      </p:sp>
      <p:sp>
        <p:nvSpPr>
          <p:cNvPr id="3078" name="Rectangle 6"/>
          <p:cNvSpPr>
            <a:spLocks noChangeArrowheads="1"/>
          </p:cNvSpPr>
          <p:nvPr/>
        </p:nvSpPr>
        <p:spPr bwMode="auto">
          <a:xfrm>
            <a:off x="6384925" y="5086351"/>
            <a:ext cx="3671888" cy="792163"/>
          </a:xfrm>
          <a:prstGeom prst="rect">
            <a:avLst/>
          </a:prstGeom>
          <a:solidFill>
            <a:schemeClr val="accent1"/>
          </a:solidFill>
          <a:ln w="9525">
            <a:solidFill>
              <a:schemeClr val="tx1"/>
            </a:solidFill>
            <a:miter lim="800000"/>
          </a:ln>
        </p:spPr>
        <p:txBody>
          <a:bodyPr wrap="none" anchor="ct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algn="ctr"/>
            <a:r>
              <a:rPr lang="zh-CN" altLang="en-US" sz="3600" b="1" dirty="0">
                <a:solidFill>
                  <a:schemeClr val="bg1"/>
                </a:solidFill>
                <a:latin typeface="楷体_GB2312" panose="02010609030101010101" pitchFamily="49" charset="-122"/>
                <a:ea typeface="楷体_GB2312" panose="02010609030101010101" pitchFamily="49" charset="-122"/>
              </a:rPr>
              <a:t>口对鼻</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p:cTn id="7" dur="500" fill="hold"/>
                                        <p:tgtEl>
                                          <p:spTgt spid="43011"/>
                                        </p:tgtEl>
                                        <p:attrNameLst>
                                          <p:attrName>ppt_w</p:attrName>
                                        </p:attrNameLst>
                                      </p:cBhvr>
                                      <p:tavLst>
                                        <p:tav tm="0">
                                          <p:val>
                                            <p:fltVal val="0"/>
                                          </p:val>
                                        </p:tav>
                                        <p:tav tm="100000">
                                          <p:val>
                                            <p:strVal val="#ppt_w"/>
                                          </p:val>
                                        </p:tav>
                                      </p:tavLst>
                                    </p:anim>
                                    <p:anim calcmode="lin" valueType="num">
                                      <p:cBhvr>
                                        <p:cTn id="8" dur="500" fill="hold"/>
                                        <p:tgtEl>
                                          <p:spTgt spid="4301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3012"/>
                                        </p:tgtEl>
                                        <p:attrNameLst>
                                          <p:attrName>style.visibility</p:attrName>
                                        </p:attrNameLst>
                                      </p:cBhvr>
                                      <p:to>
                                        <p:strVal val="visible"/>
                                      </p:to>
                                    </p:set>
                                    <p:anim calcmode="lin" valueType="num">
                                      <p:cBhvr>
                                        <p:cTn id="12" dur="500" fill="hold"/>
                                        <p:tgtEl>
                                          <p:spTgt spid="43012"/>
                                        </p:tgtEl>
                                        <p:attrNameLst>
                                          <p:attrName>ppt_w</p:attrName>
                                        </p:attrNameLst>
                                      </p:cBhvr>
                                      <p:tavLst>
                                        <p:tav tm="0">
                                          <p:val>
                                            <p:fltVal val="0"/>
                                          </p:val>
                                        </p:tav>
                                        <p:tav tm="100000">
                                          <p:val>
                                            <p:strVal val="#ppt_w"/>
                                          </p:val>
                                        </p:tav>
                                      </p:tavLst>
                                    </p:anim>
                                    <p:anim calcmode="lin" valueType="num">
                                      <p:cBhvr>
                                        <p:cTn id="13" dur="500" fill="hold"/>
                                        <p:tgtEl>
                                          <p:spTgt spid="430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2597150" y="944101"/>
            <a:ext cx="8229600" cy="760412"/>
          </a:xfrm>
        </p:spPr>
        <p:txBody>
          <a:bodyPr rtlCol="0">
            <a:normAutofit/>
          </a:bodyPr>
          <a:lstStyle/>
          <a:p>
            <a:pPr>
              <a:defRPr/>
            </a:pPr>
            <a:r>
              <a:rPr lang="zh-CN" altLang="en-US" b="1" dirty="0">
                <a:latin typeface="宋体" panose="02010600030101010101" pitchFamily="2" charset="-122"/>
              </a:rPr>
              <a:t>     人工呼吸</a:t>
            </a:r>
          </a:p>
        </p:txBody>
      </p:sp>
      <p:sp>
        <p:nvSpPr>
          <p:cNvPr id="12291" name="Rectangle 3"/>
          <p:cNvSpPr>
            <a:spLocks noGrp="1" noChangeArrowheads="1"/>
          </p:cNvSpPr>
          <p:nvPr>
            <p:ph type="body" idx="4294967295"/>
          </p:nvPr>
        </p:nvSpPr>
        <p:spPr>
          <a:xfrm>
            <a:off x="2438400" y="1557338"/>
            <a:ext cx="8229600" cy="4983162"/>
          </a:xfrm>
        </p:spPr>
        <p:txBody>
          <a:bodyPr/>
          <a:lstStyle/>
          <a:p>
            <a:pPr>
              <a:lnSpc>
                <a:spcPct val="150000"/>
              </a:lnSpc>
            </a:pPr>
            <a:endParaRPr lang="en-US" altLang="zh-CN" b="1" dirty="0">
              <a:latin typeface="宋体" panose="02010600030101010101" pitchFamily="2" charset="-122"/>
            </a:endParaRPr>
          </a:p>
          <a:p>
            <a:pPr>
              <a:lnSpc>
                <a:spcPct val="150000"/>
              </a:lnSpc>
            </a:pPr>
            <a:r>
              <a:rPr lang="zh-CN" altLang="en-US" sz="3600" b="1" dirty="0">
                <a:latin typeface="宋体" panose="02010600030101010101" pitchFamily="2" charset="-122"/>
              </a:rPr>
              <a:t>提颚压额，打开气道。</a:t>
            </a:r>
          </a:p>
          <a:p>
            <a:pPr>
              <a:lnSpc>
                <a:spcPct val="150000"/>
              </a:lnSpc>
            </a:pPr>
            <a:r>
              <a:rPr lang="zh-CN" altLang="en-US" sz="3600" b="1" dirty="0">
                <a:latin typeface="宋体" panose="02010600030101010101" pitchFamily="2" charset="-122"/>
              </a:rPr>
              <a:t>每次人工呼吸时间要在</a:t>
            </a:r>
            <a:r>
              <a:rPr lang="en-US" altLang="zh-CN" sz="3600" b="1" dirty="0">
                <a:latin typeface="宋体" panose="02010600030101010101" pitchFamily="2" charset="-122"/>
              </a:rPr>
              <a:t>2</a:t>
            </a:r>
            <a:r>
              <a:rPr lang="zh-CN" altLang="en-US" sz="3600" b="1" dirty="0">
                <a:latin typeface="宋体" panose="02010600030101010101" pitchFamily="2" charset="-122"/>
              </a:rPr>
              <a:t>秒左右。</a:t>
            </a:r>
          </a:p>
          <a:p>
            <a:pPr>
              <a:lnSpc>
                <a:spcPct val="150000"/>
              </a:lnSpc>
            </a:pPr>
            <a:r>
              <a:rPr lang="zh-CN" altLang="en-US" sz="3600" b="1" dirty="0">
                <a:latin typeface="宋体" panose="02010600030101010101" pitchFamily="2" charset="-122"/>
              </a:rPr>
              <a:t>给予足够的潮气量以使可见胸廓抬起。</a:t>
            </a:r>
          </a:p>
          <a:p>
            <a:pPr>
              <a:lnSpc>
                <a:spcPct val="150000"/>
              </a:lnSpc>
            </a:pPr>
            <a:r>
              <a:rPr lang="zh-CN" altLang="en-US" sz="3600" b="1" dirty="0">
                <a:latin typeface="宋体" panose="02010600030101010101" pitchFamily="2" charset="-122"/>
              </a:rPr>
              <a:t>按压</a:t>
            </a:r>
            <a:r>
              <a:rPr lang="en-US" altLang="zh-CN" sz="3600" b="1" dirty="0">
                <a:latin typeface="宋体" panose="02010600030101010101" pitchFamily="2" charset="-122"/>
              </a:rPr>
              <a:t>-</a:t>
            </a:r>
            <a:r>
              <a:rPr lang="zh-CN" altLang="en-US" sz="3600" b="1" dirty="0">
                <a:latin typeface="宋体" panose="02010600030101010101" pitchFamily="2" charset="-122"/>
              </a:rPr>
              <a:t>通气比为</a:t>
            </a:r>
            <a:r>
              <a:rPr lang="en-US" altLang="zh-CN" sz="3600" b="1" dirty="0">
                <a:latin typeface="宋体" panose="02010600030101010101" pitchFamily="2" charset="-122"/>
              </a:rPr>
              <a:t>30:2</a:t>
            </a:r>
            <a:r>
              <a:rPr lang="zh-CN" altLang="en-US" sz="3600" b="1" dirty="0">
                <a:latin typeface="宋体" panose="02010600030101010101" pitchFamily="2" charset="-122"/>
              </a:rPr>
              <a:t>。</a:t>
            </a:r>
          </a:p>
          <a:p>
            <a:pPr>
              <a:lnSpc>
                <a:spcPct val="150000"/>
              </a:lnSpc>
              <a:buFontTx/>
              <a:buNone/>
            </a:pPr>
            <a:endParaRPr lang="zh-CN" altLang="en-US" b="1" dirty="0">
              <a:latin typeface="宋体" panose="02010600030101010101" pitchFamily="2" charset="-122"/>
            </a:endParaRPr>
          </a:p>
          <a:p>
            <a:endParaRPr lang="zh-CN" altLang="en-US" b="1"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1781453" y="668893"/>
            <a:ext cx="8229600" cy="760412"/>
          </a:xfrm>
        </p:spPr>
        <p:txBody>
          <a:bodyPr rtlCol="0">
            <a:normAutofit/>
          </a:bodyPr>
          <a:lstStyle/>
          <a:p>
            <a:pPr>
              <a:defRPr/>
            </a:pPr>
            <a:r>
              <a:rPr lang="zh-CN" altLang="en-US" b="1" dirty="0"/>
              <a:t>      心肺复苏有效的指标</a:t>
            </a:r>
          </a:p>
        </p:txBody>
      </p:sp>
      <p:sp>
        <p:nvSpPr>
          <p:cNvPr id="22531" name="Rectangle 3"/>
          <p:cNvSpPr>
            <a:spLocks noGrp="1" noChangeArrowheads="1"/>
          </p:cNvSpPr>
          <p:nvPr>
            <p:ph type="body" idx="4294967295"/>
          </p:nvPr>
        </p:nvSpPr>
        <p:spPr>
          <a:xfrm>
            <a:off x="1000216" y="1635233"/>
            <a:ext cx="9422167" cy="4983162"/>
          </a:xfrm>
        </p:spPr>
        <p:txBody>
          <a:bodyPr rtlCol="0">
            <a:normAutofit/>
          </a:bodyPr>
          <a:lstStyle/>
          <a:p>
            <a:pPr marL="457200" indent="-457200">
              <a:buFontTx/>
              <a:buAutoNum type="arabicPeriod"/>
              <a:defRPr/>
            </a:pPr>
            <a:r>
              <a:rPr lang="zh-CN" altLang="en-US" sz="2400" b="1" dirty="0">
                <a:solidFill>
                  <a:srgbClr val="CC0000"/>
                </a:solidFill>
                <a:latin typeface="楷体_GB2312" panose="02010609030101010101" pitchFamily="49" charset="-122"/>
                <a:ea typeface="楷体_GB2312" panose="02010609030101010101" pitchFamily="49" charset="-122"/>
              </a:rPr>
              <a:t>瞳孔：</a:t>
            </a:r>
            <a:r>
              <a:rPr lang="zh-CN" altLang="en-US" sz="2400" b="1" dirty="0">
                <a:latin typeface="楷体_GB2312" panose="02010609030101010101" pitchFamily="49" charset="-122"/>
                <a:ea typeface="楷体_GB2312" panose="02010609030101010101" pitchFamily="49" charset="-122"/>
              </a:rPr>
              <a:t>若瞳孔由大变小，复苏有效。</a:t>
            </a:r>
          </a:p>
          <a:p>
            <a:pPr marL="457200" indent="-457200">
              <a:buFontTx/>
              <a:buAutoNum type="arabicPeriod"/>
              <a:defRPr/>
            </a:pPr>
            <a:r>
              <a:rPr lang="zh-CN" altLang="en-US" sz="2400" b="1" dirty="0">
                <a:solidFill>
                  <a:srgbClr val="CC0000"/>
                </a:solidFill>
                <a:latin typeface="楷体_GB2312" panose="02010609030101010101" pitchFamily="49" charset="-122"/>
                <a:ea typeface="楷体_GB2312" panose="02010609030101010101" pitchFamily="49" charset="-122"/>
              </a:rPr>
              <a:t>面色：</a:t>
            </a:r>
            <a:r>
              <a:rPr lang="zh-CN" altLang="en-US" sz="2400" b="1" dirty="0">
                <a:latin typeface="楷体_GB2312" panose="02010609030101010101" pitchFamily="49" charset="-122"/>
                <a:ea typeface="楷体_GB2312" panose="02010609030101010101" pitchFamily="49" charset="-122"/>
              </a:rPr>
              <a:t>由发绀转为红润，复苏有效</a:t>
            </a:r>
            <a:r>
              <a:rPr lang="en-US" altLang="zh-CN" sz="2400" b="1" dirty="0">
                <a:latin typeface="楷体_GB2312" panose="02010609030101010101" pitchFamily="49" charset="-122"/>
                <a:ea typeface="楷体_GB2312" panose="02010609030101010101" pitchFamily="49" charset="-122"/>
              </a:rPr>
              <a:t>。</a:t>
            </a:r>
            <a:endParaRPr lang="zh-CN" altLang="en-US" sz="2400" b="1" dirty="0">
              <a:latin typeface="楷体_GB2312" panose="02010609030101010101" pitchFamily="49" charset="-122"/>
              <a:ea typeface="楷体_GB2312" panose="02010609030101010101" pitchFamily="49" charset="-122"/>
            </a:endParaRPr>
          </a:p>
          <a:p>
            <a:pPr marL="457200" indent="-457200">
              <a:lnSpc>
                <a:spcPts val="3500"/>
              </a:lnSpc>
              <a:buFontTx/>
              <a:buAutoNum type="arabicPeriod"/>
              <a:defRPr/>
            </a:pPr>
            <a:r>
              <a:rPr lang="zh-CN" altLang="en-US" sz="2400" b="1" dirty="0">
                <a:solidFill>
                  <a:srgbClr val="CC0000"/>
                </a:solidFill>
                <a:latin typeface="楷体_GB2312" panose="02010609030101010101" pitchFamily="49" charset="-122"/>
                <a:ea typeface="楷体_GB2312" panose="02010609030101010101" pitchFamily="49" charset="-122"/>
              </a:rPr>
              <a:t>颈动脉搏动：</a:t>
            </a:r>
            <a:r>
              <a:rPr lang="zh-CN" altLang="en-US" sz="2400" b="1" dirty="0">
                <a:latin typeface="楷体_GB2312" panose="02010609030101010101" pitchFamily="49" charset="-122"/>
                <a:ea typeface="楷体_GB2312" panose="02010609030101010101" pitchFamily="49" charset="-122"/>
              </a:rPr>
              <a:t>按压有效时，每次按压可摸到 </a:t>
            </a:r>
            <a:r>
              <a:rPr lang="en-US" altLang="zh-CN" sz="2400" b="1" dirty="0">
                <a:latin typeface="楷体_GB2312" panose="02010609030101010101" pitchFamily="49" charset="-122"/>
                <a:ea typeface="楷体_GB2312" panose="02010609030101010101" pitchFamily="49" charset="-122"/>
              </a:rPr>
              <a:t>1 </a:t>
            </a:r>
            <a:r>
              <a:rPr lang="zh-CN" altLang="en-US" sz="2400" b="1" dirty="0">
                <a:latin typeface="楷体_GB2312" panose="02010609030101010101" pitchFamily="49" charset="-122"/>
                <a:ea typeface="楷体_GB2312" panose="02010609030101010101" pitchFamily="49" charset="-122"/>
              </a:rPr>
              <a:t>次搏动；如停止按压，脉搏仍跳动，说明心跳恢复。</a:t>
            </a:r>
          </a:p>
          <a:p>
            <a:pPr marL="457200" indent="-457200">
              <a:lnSpc>
                <a:spcPts val="3500"/>
              </a:lnSpc>
              <a:buFontTx/>
              <a:buAutoNum type="arabicPeriod"/>
              <a:defRPr/>
            </a:pPr>
            <a:r>
              <a:rPr lang="zh-CN" altLang="en-US" sz="2400" b="1" dirty="0">
                <a:solidFill>
                  <a:srgbClr val="CC0000"/>
                </a:solidFill>
                <a:latin typeface="楷体_GB2312" panose="02010609030101010101" pitchFamily="49" charset="-122"/>
                <a:ea typeface="楷体_GB2312" panose="02010609030101010101" pitchFamily="49" charset="-122"/>
              </a:rPr>
              <a:t>意识：</a:t>
            </a:r>
            <a:r>
              <a:rPr lang="zh-CN" altLang="en-US" sz="2400" b="1" dirty="0">
                <a:latin typeface="楷体_GB2312" panose="02010609030101010101" pitchFamily="49" charset="-122"/>
                <a:ea typeface="楷体_GB2312" panose="02010609030101010101" pitchFamily="49" charset="-122"/>
              </a:rPr>
              <a:t>可见患者有眼球活动，并出现睫毛反射和对光反射，少数患者开始出现手脚活动，复苏有效</a:t>
            </a:r>
            <a:r>
              <a:rPr lang="en-US" sz="2400" b="1" dirty="0">
                <a:latin typeface="楷体_GB2312" panose="02010609030101010101" pitchFamily="49" charset="-122"/>
                <a:ea typeface="楷体_GB2312" panose="02010609030101010101" pitchFamily="49" charset="-122"/>
              </a:rPr>
              <a:t>。</a:t>
            </a:r>
          </a:p>
          <a:p>
            <a:pPr marL="457200" indent="-457200">
              <a:lnSpc>
                <a:spcPts val="3000"/>
              </a:lnSpc>
              <a:buFontTx/>
              <a:buAutoNum type="arabicPeriod"/>
              <a:defRPr/>
            </a:pPr>
            <a:r>
              <a:rPr lang="zh-CN" altLang="en-US" sz="2400" b="1" dirty="0">
                <a:solidFill>
                  <a:srgbClr val="CC0000"/>
                </a:solidFill>
                <a:latin typeface="楷体_GB2312" panose="02010609030101010101" pitchFamily="49" charset="-122"/>
                <a:ea typeface="楷体_GB2312" panose="02010609030101010101" pitchFamily="49" charset="-122"/>
              </a:rPr>
              <a:t>自主呼吸：</a:t>
            </a:r>
            <a:r>
              <a:rPr lang="zh-CN" altLang="en-US" sz="2400" b="1" dirty="0">
                <a:latin typeface="楷体_GB2312" panose="02010609030101010101" pitchFamily="49" charset="-122"/>
                <a:ea typeface="楷体_GB2312" panose="02010609030101010101" pitchFamily="49" charset="-122"/>
              </a:rPr>
              <a:t>出现自主呼吸，复苏有效，但呼吸仍微弱者应继续口对口人工呼吸 </a:t>
            </a:r>
            <a:r>
              <a:rPr lang="zh-CN" altLang="en-US" b="1" dirty="0">
                <a:latin typeface="楷体_GB2312" panose="02010609030101010101" pitchFamily="49" charset="-122"/>
                <a:ea typeface="楷体_GB2312" panose="0201060903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153988"/>
            <a:ext cx="8229600" cy="760412"/>
          </a:xfrm>
        </p:spPr>
        <p:txBody>
          <a:bodyPr rtlCol="0">
            <a:normAutofit/>
          </a:bodyPr>
          <a:lstStyle/>
          <a:p>
            <a:pPr>
              <a:defRPr/>
            </a:pPr>
            <a:r>
              <a:rPr lang="zh-CN" altLang="en-US" b="1">
                <a:latin typeface="宋体" panose="02010600030101010101" pitchFamily="2" charset="-122"/>
              </a:rPr>
              <a:t>      </a:t>
            </a:r>
            <a:endParaRPr lang="zh-CN" altLang="en-US" sz="3600" b="1">
              <a:latin typeface="宋体" panose="02010600030101010101" pitchFamily="2" charset="-122"/>
            </a:endParaRPr>
          </a:p>
        </p:txBody>
      </p:sp>
      <p:sp>
        <p:nvSpPr>
          <p:cNvPr id="11268" name="Text Box 4"/>
          <p:cNvSpPr txBox="1">
            <a:spLocks noChangeArrowheads="1"/>
          </p:cNvSpPr>
          <p:nvPr/>
        </p:nvSpPr>
        <p:spPr bwMode="auto">
          <a:xfrm>
            <a:off x="4364356" y="2706053"/>
            <a:ext cx="3959225"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Arial" panose="020B0604020202020204" pitchFamily="34" charset="0"/>
                <a:ea typeface="宋体" panose="02010600030101010101" pitchFamily="2" charset="-122"/>
              </a:defRPr>
            </a:lvl9pPr>
          </a:lstStyle>
          <a:p>
            <a:pPr eaLnBrk="1" hangingPunct="1"/>
            <a:r>
              <a:rPr lang="zh-CN" altLang="en-US" sz="8800" b="1"/>
              <a:t>谢 谢</a:t>
            </a:r>
            <a:r>
              <a:rPr lang="en-US" altLang="zh-CN" sz="8800" b="1"/>
              <a:t>!</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theme/theme1.xml><?xml version="1.0" encoding="utf-8"?>
<a:theme xmlns:a="http://schemas.openxmlformats.org/drawingml/2006/main" name="Office 主题​​">
  <a:themeElements>
    <a:clrScheme name="自定义 34">
      <a:dk1>
        <a:srgbClr val="C00000"/>
      </a:dk1>
      <a:lt1>
        <a:srgbClr val="FFFFFF"/>
      </a:lt1>
      <a:dk2>
        <a:srgbClr val="C00000"/>
      </a:dk2>
      <a:lt2>
        <a:srgbClr val="C00000"/>
      </a:lt2>
      <a:accent1>
        <a:srgbClr val="C00000"/>
      </a:accent1>
      <a:accent2>
        <a:srgbClr val="C00000"/>
      </a:accent2>
      <a:accent3>
        <a:srgbClr val="C00000"/>
      </a:accent3>
      <a:accent4>
        <a:srgbClr val="C00000"/>
      </a:accent4>
      <a:accent5>
        <a:srgbClr val="C00000"/>
      </a:accent5>
      <a:accent6>
        <a:srgbClr val="C00000"/>
      </a:accent6>
      <a:hlink>
        <a:srgbClr val="C00000"/>
      </a:hlink>
      <a:folHlink>
        <a:srgbClr val="FF404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1986</TotalTime>
  <Words>2188</Words>
  <Application>Microsoft Office PowerPoint</Application>
  <PresentationFormat>宽屏</PresentationFormat>
  <Paragraphs>131</Paragraphs>
  <Slides>31</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0</vt:i4>
      </vt:variant>
      <vt:variant>
        <vt:lpstr>幻灯片标题</vt:lpstr>
      </vt:variant>
      <vt:variant>
        <vt:i4>31</vt:i4>
      </vt:variant>
    </vt:vector>
  </HeadingPairs>
  <TitlesOfParts>
    <vt:vector size="41" baseType="lpstr">
      <vt:lpstr>Arial</vt:lpstr>
      <vt:lpstr>仿宋</vt:lpstr>
      <vt:lpstr>宋体</vt:lpstr>
      <vt:lpstr>黑体</vt:lpstr>
      <vt:lpstr>Wingdings</vt:lpstr>
      <vt:lpstr>等线</vt:lpstr>
      <vt:lpstr>等线 Light</vt:lpstr>
      <vt:lpstr>华文仿宋</vt:lpstr>
      <vt:lpstr>楷体_GB2312</vt:lpstr>
      <vt:lpstr>Office 主题​​</vt:lpstr>
      <vt:lpstr>PowerPoint 演示文稿</vt:lpstr>
      <vt:lpstr>PowerPoint 演示文稿</vt:lpstr>
      <vt:lpstr>PowerPoint 演示文稿</vt:lpstr>
      <vt:lpstr>我们老师在日常教育教学中要注意什么？要加强哪些安全意识？（2018年海沧校区地震实录）  2024年海沧校区地震实录.mp4</vt:lpstr>
      <vt:lpstr>PowerPoint 演示文稿</vt:lpstr>
      <vt:lpstr>PowerPoint 演示文稿</vt:lpstr>
      <vt:lpstr>PowerPoint 演示文稿</vt:lpstr>
      <vt:lpstr>PowerPoint 演示文稿</vt:lpstr>
      <vt:lpstr> 四、突发事件、安全事故、隐患的报告 </vt:lpstr>
      <vt:lpstr>      （一）首遇负责</vt:lpstr>
      <vt:lpstr>      </vt:lpstr>
      <vt:lpstr>      </vt:lpstr>
      <vt:lpstr>      </vt:lpstr>
      <vt:lpstr>PowerPoint 演示文稿</vt:lpstr>
      <vt:lpstr>PowerPoint 演示文稿</vt:lpstr>
      <vt:lpstr>PowerPoint 演示文稿</vt:lpstr>
      <vt:lpstr>      </vt:lpstr>
      <vt:lpstr>PowerPoint 演示文稿</vt:lpstr>
      <vt:lpstr>PowerPoint 演示文稿</vt:lpstr>
      <vt:lpstr>PowerPoint 演示文稿</vt:lpstr>
      <vt:lpstr>     成人胸外心脏按压定位 </vt:lpstr>
      <vt:lpstr>      胸外心脏按压部位</vt:lpstr>
      <vt:lpstr>PowerPoint 演示文稿</vt:lpstr>
      <vt:lpstr>      胸外心脏按压 (C,circulation )</vt:lpstr>
      <vt:lpstr>  胸外心脏按压手法 </vt:lpstr>
      <vt:lpstr>     强调高质量的CPR </vt:lpstr>
      <vt:lpstr>      </vt:lpstr>
      <vt:lpstr>    人工呼吸</vt:lpstr>
      <vt:lpstr>     人工呼吸</vt:lpstr>
      <vt:lpstr>      心肺复苏有效的指标</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幻页科技</dc:creator>
  <cp:lastModifiedBy>天德 王</cp:lastModifiedBy>
  <cp:revision>69</cp:revision>
  <dcterms:created xsi:type="dcterms:W3CDTF">2017-09-17T16:40:00Z</dcterms:created>
  <dcterms:modified xsi:type="dcterms:W3CDTF">2025-08-15T04:11:25Z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
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80" r:id="rId3"/>
    <p:sldId id="279" r:id="rId4"/>
    <p:sldId id="261" r:id="rId5"/>
    <p:sldId id="259" r:id="rId6"/>
    <p:sldId id="260" r:id="rId7"/>
    <p:sldId id="258" r:id="rId8"/>
    <p:sldId id="262" r:id="rId9"/>
    <p:sldId id="263" r:id="rId10"/>
    <p:sldId id="264" r:id="rId11"/>
    <p:sldId id="266" r:id="rId12"/>
    <p:sldId id="273" r:id="rId13"/>
    <p:sldId id="275" r:id="rId14"/>
    <p:sldId id="276" r:id="rId15"/>
    <p:sldId id="293" r:id="rId16"/>
  </p:sldIdLst>
  <p:sldSz cx="12192000" cy="6858000"/>
  <p:notesSz cx="6858000" cy="9144000"/>
  <p:embeddedFontLst>
    <p:embeddedFont>
      <p:font typeface="黑体" panose="02010609060101010101" pitchFamily="49" charset="-122"/>
      <p:regular r:id="rId21"/>
    </p:embeddedFont>
    <p:embeddedFont>
      <p:font typeface="等线" panose="02010600030101010101" charset="-122"/>
      <p:regular r:id="rId22"/>
    </p:embeddedFont>
    <p:embeddedFont>
      <p:font typeface="等线 Light" panose="02010600030101010101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4C5"/>
    <a:srgbClr val="FCE4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78" y="102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D1FA0-43E1-4CE7-8FF6-1A2F3373F2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250DB-AB4B-492B-9B10-5E03F8593C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4311E-6487-4213-8130-CA1F669E4C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84675-7F07-498E-B3EC-2E4B20AB443D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包含 地面, 地板&#10;&#10;已生成高可信度的说明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bgt-01.jp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0" y="2717"/>
            <a:ext cx="12192000" cy="68525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6.png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GIF"/><Relationship Id="rId2" Type="http://schemas.openxmlformats.org/officeDocument/2006/relationships/image" Target="../media/image12.wmf"/><Relationship Id="rId1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oleObject" Target="../embeddings/oleObject5.bin"/><Relationship Id="rId2" Type="http://schemas.openxmlformats.org/officeDocument/2006/relationships/image" Target="../media/image15.png"/><Relationship Id="rId1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553" y="1219200"/>
            <a:ext cx="1145219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/>
              <a:t>厦门一中新入职教师</a:t>
            </a:r>
            <a:endParaRPr lang="zh-CN" altLang="en-US" sz="6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781453" y="2767280"/>
            <a:ext cx="86290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b="1" dirty="0"/>
              <a:t>心肺复苏急救培训</a:t>
            </a:r>
            <a:endParaRPr lang="zh-CN" altLang="en-US" sz="8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130642" y="4871436"/>
            <a:ext cx="749275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/>
              <a:t>厦门一中保卫科 王天德</a:t>
            </a:r>
            <a:endParaRPr lang="en-US" altLang="zh-CN" sz="3600" b="1" dirty="0"/>
          </a:p>
          <a:p>
            <a:pPr algn="ctr"/>
            <a:r>
              <a:rPr lang="en-US" altLang="zh-CN" sz="3600" b="1" dirty="0"/>
              <a:t>2020</a:t>
            </a:r>
            <a:r>
              <a:rPr lang="zh-CN" altLang="en-US" sz="3600" b="1" dirty="0"/>
              <a:t>年</a:t>
            </a:r>
            <a:r>
              <a:rPr lang="en-US" altLang="zh-CN" sz="3600" b="1" dirty="0"/>
              <a:t>8</a:t>
            </a:r>
            <a:r>
              <a:rPr lang="zh-CN" altLang="en-US" sz="3600" b="1" dirty="0"/>
              <a:t>月</a:t>
            </a:r>
            <a:r>
              <a:rPr lang="en-US" altLang="zh-CN" sz="3600" b="1" dirty="0"/>
              <a:t>13</a:t>
            </a:r>
            <a:r>
              <a:rPr lang="zh-CN" altLang="en-US" sz="3600" b="1" dirty="0"/>
              <a:t>日</a:t>
            </a:r>
            <a:endParaRPr lang="zh-CN" altLang="en-US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3077591" y="1540669"/>
            <a:ext cx="5888855" cy="377666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5700" b="1" dirty="0"/>
              <a:t>1.</a:t>
            </a:r>
            <a:r>
              <a:rPr lang="zh-CN" altLang="en-US" sz="5700" b="1" dirty="0"/>
              <a:t>确认意识。</a:t>
            </a:r>
            <a:endParaRPr lang="zh-CN" altLang="en-US" sz="57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5700" b="1" dirty="0"/>
              <a:t>2.</a:t>
            </a:r>
            <a:r>
              <a:rPr lang="zh-CN" altLang="en-US" sz="5700" b="1" dirty="0"/>
              <a:t>确认场地。</a:t>
            </a:r>
            <a:endParaRPr lang="zh-CN" altLang="en-US" sz="57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5700" b="1" dirty="0"/>
              <a:t>3.</a:t>
            </a:r>
            <a:r>
              <a:rPr lang="zh-CN" altLang="en-US" sz="5700" b="1" dirty="0"/>
              <a:t>开放气道。</a:t>
            </a:r>
            <a:endParaRPr lang="zh-CN" altLang="en-US" sz="57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5700" b="1" dirty="0"/>
              <a:t>4.</a:t>
            </a:r>
            <a:r>
              <a:rPr lang="zh-CN" altLang="en-US" sz="5700" b="1" dirty="0"/>
              <a:t>现场求助。</a:t>
            </a:r>
            <a:endParaRPr lang="en-US" sz="5700" b="1" dirty="0"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981200" y="1341377"/>
            <a:ext cx="8229600" cy="76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700" b="1" dirty="0"/>
              <a:t>要点</a:t>
            </a:r>
            <a:r>
              <a:rPr lang="zh-CN" altLang="en-US" b="1" dirty="0"/>
              <a:t>：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1" y="1654176"/>
            <a:ext cx="3971925" cy="10795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黑体" panose="02010609060101010101" pitchFamily="49" charset="-122"/>
              </a:rPr>
              <a:t>掌根按压，手指互扣</a:t>
            </a:r>
            <a:endParaRPr lang="zh-CN" altLang="en-US" b="1" dirty="0">
              <a:latin typeface="黑体" panose="02010609060101010101" pitchFamily="49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黑体" panose="02010609060101010101" pitchFamily="49" charset="-122"/>
              </a:rPr>
              <a:t>翘起离开胸壁</a:t>
            </a:r>
            <a:endParaRPr lang="zh-CN" altLang="en-US" b="1" dirty="0">
              <a:latin typeface="黑体" panose="02010609060101010101" pitchFamily="49" charset="-122"/>
            </a:endParaRPr>
          </a:p>
        </p:txBody>
      </p:sp>
      <p:pic>
        <p:nvPicPr>
          <p:cNvPr id="8195" name="Picture 3" descr="手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58875" y="3273425"/>
            <a:ext cx="4500563" cy="3584575"/>
          </a:xfrm>
          <a:noFill/>
          <a:ln w="6350" cap="flat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196" name="Picture 4" descr="手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2845" y="3293167"/>
            <a:ext cx="4456112" cy="3560225"/>
          </a:xfrm>
          <a:noFill/>
          <a:ln w="6350" cap="flat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8197" name="Line 5"/>
          <p:cNvSpPr>
            <a:spLocks noChangeShapeType="1"/>
          </p:cNvSpPr>
          <p:nvPr/>
        </p:nvSpPr>
        <p:spPr bwMode="auto">
          <a:xfrm flipV="1">
            <a:off x="3287713" y="4221164"/>
            <a:ext cx="1439862" cy="1081087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3287714" y="4221163"/>
            <a:ext cx="1366837" cy="10795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27" name="Picture 7" descr="掌根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845" y="195851"/>
            <a:ext cx="4148901" cy="30775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7751764" y="4581525"/>
            <a:ext cx="719137" cy="6477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 flipH="1">
            <a:off x="8472489" y="3716339"/>
            <a:ext cx="1152525" cy="1512887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2" name="Oval 10"/>
          <p:cNvSpPr>
            <a:spLocks noChangeArrowheads="1"/>
          </p:cNvSpPr>
          <p:nvPr/>
        </p:nvSpPr>
        <p:spPr bwMode="auto">
          <a:xfrm>
            <a:off x="7680326" y="1989139"/>
            <a:ext cx="792163" cy="5048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2693694" y="388938"/>
            <a:ext cx="43815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宋体" panose="02010600030101010101" pitchFamily="2" charset="-122"/>
              </a:rPr>
              <a:t>胸外心脏按压手法</a:t>
            </a:r>
            <a:br>
              <a:rPr lang="zh-CN" altLang="en-US" b="1" dirty="0">
                <a:latin typeface="宋体" panose="02010600030101010101" pitchFamily="2" charset="-122"/>
              </a:rPr>
            </a:br>
            <a:endParaRPr lang="zh-CN" altLang="en-US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90675" y="505621"/>
            <a:ext cx="8229600" cy="7604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zh-CN" altLang="en-US" b="1" dirty="0"/>
              <a:t>    </a:t>
            </a:r>
            <a:r>
              <a:rPr lang="zh-CN" altLang="en-US" b="1" dirty="0">
                <a:latin typeface="宋体" panose="02010600030101010101" pitchFamily="2" charset="-122"/>
              </a:rPr>
              <a:t>  胸外心脏按压部位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693738"/>
            <a:ext cx="8362950" cy="5434012"/>
          </a:xfrm>
        </p:spPr>
        <p:txBody>
          <a:bodyPr/>
          <a:lstStyle/>
          <a:p>
            <a:pPr>
              <a:buFontTx/>
              <a:buNone/>
            </a:pPr>
            <a:endParaRPr lang="zh-CN" altLang="en-US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FontTx/>
              <a:buNone/>
            </a:pPr>
            <a:endParaRPr lang="zh-CN" altLang="en-US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FontTx/>
              <a:buNone/>
            </a:pPr>
            <a:r>
              <a:rPr lang="zh-CN" altLang="en-US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按压部位  在胸骨下</a:t>
            </a:r>
            <a:r>
              <a:rPr lang="en-US" altLang="zh-CN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1/3</a:t>
            </a:r>
            <a:r>
              <a:rPr lang="zh-CN" altLang="en-US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处</a:t>
            </a:r>
            <a:endParaRPr lang="zh-CN" altLang="en-US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FontTx/>
              <a:buNone/>
            </a:pPr>
            <a:r>
              <a:rPr lang="zh-CN" altLang="en-US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即乳头连线与胸骨交界处</a:t>
            </a:r>
            <a:r>
              <a:rPr lang="zh-CN" altLang="en-US" dirty="0">
                <a:solidFill>
                  <a:srgbClr val="CC0000"/>
                </a:solidFill>
              </a:rPr>
              <a:t> </a:t>
            </a:r>
            <a:endParaRPr lang="zh-CN" altLang="en-US" dirty="0">
              <a:solidFill>
                <a:srgbClr val="CC0000"/>
              </a:solidFill>
            </a:endParaRP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1919289" y="2997201"/>
          <a:ext cx="4067175" cy="266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" r:id="rId1" imgW="9725025" imgH="6772275" progId="">
                  <p:embed/>
                </p:oleObj>
              </mc:Choice>
              <mc:Fallback>
                <p:oleObj name="" r:id="rId1" imgW="9725025" imgH="6772275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2997201"/>
                        <a:ext cx="4067175" cy="26654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109250" dir="3267739" algn="ctr" rotWithShape="0">
                          <a:schemeClr val="tx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6169026" y="1844676"/>
          <a:ext cx="3724275" cy="332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" r:id="rId3" imgW="8572500" imgH="7296150" progId="">
                  <p:embed/>
                </p:oleObj>
              </mc:Choice>
              <mc:Fallback>
                <p:oleObj name="" r:id="rId3" imgW="8572500" imgH="729615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026" y="1844676"/>
                        <a:ext cx="3724275" cy="33242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109250" dir="3267739" algn="ctr" rotWithShape="0">
                          <a:schemeClr val="tx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6311900" y="5229226"/>
            <a:ext cx="3600450" cy="792163"/>
          </a:xfrm>
          <a:prstGeom prst="rect">
            <a:avLst/>
          </a:prstGeom>
          <a:solidFill>
            <a:srgbClr val="FF9933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组</a:t>
            </a:r>
            <a:r>
              <a:rPr lang="en-US" altLang="zh-CN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＝复苏周期（</a:t>
            </a:r>
            <a:r>
              <a:rPr lang="en-US" altLang="zh-CN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分钟）</a:t>
            </a:r>
            <a:endParaRPr lang="zh-CN" altLang="en-US" sz="2000" b="1">
              <a:solidFill>
                <a:srgbClr val="3333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1" y="438073"/>
            <a:ext cx="8229600" cy="7604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     成人胸外心脏按压定位</a:t>
            </a:r>
            <a:r>
              <a:rPr lang="zh-CN" altLang="en-US" dirty="0">
                <a:latin typeface="宋体" panose="02010600030101010101" pitchFamily="2" charset="-122"/>
              </a:rPr>
              <a:t> 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pic>
        <p:nvPicPr>
          <p:cNvPr id="29699" name="Picture 4" descr="心定位1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1"/>
          <a:srcRect/>
          <a:stretch>
            <a:fillRect/>
          </a:stretch>
        </p:blipFill>
        <p:spPr>
          <a:xfrm>
            <a:off x="1523999" y="3368673"/>
            <a:ext cx="3990301" cy="2893242"/>
          </a:xfrm>
          <a:effectLst>
            <a:outerShdw dist="107763" dir="2700000" algn="ctr" rotWithShape="0">
              <a:schemeClr val="bg2"/>
            </a:outerShdw>
          </a:effectLst>
        </p:spPr>
      </p:pic>
      <p:pic>
        <p:nvPicPr>
          <p:cNvPr id="29701" name="Picture 6" descr="心定位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6064496" y="3296054"/>
            <a:ext cx="3689105" cy="2893243"/>
          </a:xfrm>
          <a:effectLst>
            <a:outerShdw dist="107763" dir="2700000" algn="ctr" rotWithShape="0">
              <a:schemeClr val="bg2"/>
            </a:outerShdw>
          </a:effectLst>
        </p:spPr>
      </p:pic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2279650" y="1485901"/>
            <a:ext cx="7850188" cy="227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宋体" panose="02010600030101010101" pitchFamily="2" charset="-122"/>
              </a:rPr>
              <a:t>按压点位于“胸正中线与双乳头连线交界处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宋体" panose="02010600030101010101" pitchFamily="2" charset="-122"/>
              </a:rPr>
              <a:t>右中、食指沿一侧肋弓向中间滑动至胸骨下              端，左手掌跟靠紧食指</a:t>
            </a:r>
            <a:r>
              <a:rPr lang="zh-CN" altLang="en-US" sz="2800" b="1" dirty="0">
                <a:latin typeface="宋体" panose="02010600030101010101" pitchFamily="2" charset="-122"/>
              </a:rPr>
              <a:t>。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/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64201" y="382589"/>
            <a:ext cx="8229600" cy="76041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zh-CN" altLang="en-US" b="1" dirty="0"/>
              <a:t>      </a:t>
            </a:r>
            <a:r>
              <a:rPr lang="zh-CN" altLang="en-US" sz="4000" b="1" dirty="0"/>
              <a:t>胸外心脏按压</a:t>
            </a:r>
            <a:r>
              <a:rPr lang="zh-CN" altLang="en-US" sz="3600" b="1" dirty="0"/>
              <a:t> </a:t>
            </a:r>
            <a:r>
              <a:rPr lang="zh-CN" altLang="en-US" b="1" dirty="0">
                <a:latin typeface="宋体" panose="02010600030101010101" pitchFamily="2" charset="-122"/>
              </a:rPr>
              <a:t>(C</a:t>
            </a:r>
            <a:r>
              <a:rPr lang="zh-CN" altLang="en-US" sz="3600" b="1" dirty="0">
                <a:latin typeface="宋体" panose="02010600030101010101" pitchFamily="2" charset="-122"/>
              </a:rPr>
              <a:t>,</a:t>
            </a:r>
            <a:r>
              <a:rPr lang="en-US" altLang="zh-CN" b="1" dirty="0">
                <a:latin typeface="宋体" panose="02010600030101010101" pitchFamily="2" charset="-122"/>
              </a:rPr>
              <a:t>circulation )</a:t>
            </a:r>
            <a:endParaRPr lang="zh-CN" altLang="en-US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1143001"/>
            <a:ext cx="8229600" cy="4983163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按压者体位和姿势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pic>
        <p:nvPicPr>
          <p:cNvPr id="27652" name="Picture 3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51077"/>
            <a:ext cx="3811587" cy="410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849" y="2103439"/>
            <a:ext cx="3779838" cy="413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8400" y="404813"/>
            <a:ext cx="8229600" cy="76041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zh-CN" altLang="en-US" b="1">
                <a:latin typeface="宋体" panose="02010600030101010101" pitchFamily="2" charset="-122"/>
              </a:rPr>
              <a:t>  胸外心脏按压手法</a:t>
            </a:r>
            <a:br>
              <a:rPr lang="zh-CN" altLang="en-US" b="1">
                <a:latin typeface="宋体" panose="02010600030101010101" pitchFamily="2" charset="-122"/>
              </a:rPr>
            </a:br>
            <a:endParaRPr lang="zh-CN" altLang="en-US" b="1">
              <a:latin typeface="宋体" panose="02010600030101010101" pitchFamily="2" charset="-122"/>
            </a:endParaRPr>
          </a:p>
        </p:txBody>
      </p:sp>
      <p:graphicFrame>
        <p:nvGraphicFramePr>
          <p:cNvPr id="2050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1308536" y="2272683"/>
          <a:ext cx="4073783" cy="3515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" r:id="rId1" imgW="1734185" imgH="888365" progId="">
                  <p:embed/>
                </p:oleObj>
              </mc:Choice>
              <mc:Fallback>
                <p:oleObj name="" r:id="rId1" imgW="1734185" imgH="888365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536" y="2272683"/>
                        <a:ext cx="4073783" cy="3515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2" name="Picture 4" descr="pumpani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9800" y="981075"/>
            <a:ext cx="4648200" cy="5327650"/>
          </a:xfr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302059" y="2161852"/>
            <a:ext cx="3313113" cy="3776662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lang="zh-CN" altLang="en-US" b="1" dirty="0"/>
              <a:t>肘关节伸直</a:t>
            </a:r>
            <a:endParaRPr lang="zh-CN" altLang="en-US" b="1" dirty="0"/>
          </a:p>
          <a:p>
            <a:pPr>
              <a:lnSpc>
                <a:spcPct val="150000"/>
              </a:lnSpc>
              <a:buNone/>
              <a:defRPr/>
            </a:pPr>
            <a:r>
              <a:rPr lang="zh-CN" altLang="en-US" b="1" dirty="0"/>
              <a:t>以髋关节为轴，</a:t>
            </a:r>
            <a:endParaRPr lang="zh-CN" altLang="en-US" b="1" dirty="0"/>
          </a:p>
          <a:p>
            <a:pPr>
              <a:lnSpc>
                <a:spcPct val="150000"/>
              </a:lnSpc>
              <a:buNone/>
              <a:defRPr/>
            </a:pPr>
            <a:r>
              <a:rPr lang="zh-CN" altLang="en-US" b="1" dirty="0"/>
              <a:t>借助上半身的重量</a:t>
            </a:r>
            <a:endParaRPr lang="zh-CN" altLang="en-US" b="1" dirty="0"/>
          </a:p>
          <a:p>
            <a:pPr>
              <a:lnSpc>
                <a:spcPct val="150000"/>
              </a:lnSpc>
              <a:buNone/>
              <a:defRPr/>
            </a:pPr>
            <a:r>
              <a:rPr lang="zh-CN" altLang="en-US" b="1" dirty="0"/>
              <a:t>垂直向下压</a:t>
            </a:r>
            <a:endParaRPr lang="en-US" b="1" dirty="0">
              <a:ea typeface="宋体" panose="02010600030101010101" pitchFamily="2" charset="-122"/>
            </a:endParaRP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3984625" y="511175"/>
            <a:ext cx="72453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按压姿势示意图</a:t>
            </a:r>
            <a:r>
              <a:rPr lang="zh-CN" altLang="en-US" dirty="0">
                <a:latin typeface="宋体" panose="02010600030101010101" pitchFamily="2" charset="-122"/>
              </a:rPr>
              <a:t> 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pic>
        <p:nvPicPr>
          <p:cNvPr id="9220" name="Picture 4" descr="6-10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640" y="1881188"/>
            <a:ext cx="5327650" cy="411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6888164" y="1773238"/>
            <a:ext cx="1150937" cy="215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CC0000"/>
                </a:solidFill>
              </a:rPr>
              <a:t>≥5cm</a:t>
            </a:r>
            <a:endParaRPr lang="en-US" altLang="zh-CN" sz="1600">
              <a:solidFill>
                <a:srgbClr val="CC0000"/>
              </a:solidFill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92699" y="769432"/>
            <a:ext cx="8229600" cy="7604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     强调高质量的</a:t>
            </a:r>
            <a:r>
              <a:rPr lang="en-US" altLang="zh-CN" b="1" dirty="0">
                <a:latin typeface="宋体" panose="02010600030101010101" pitchFamily="2" charset="-122"/>
              </a:rPr>
              <a:t>CPR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50049" y="1908978"/>
            <a:ext cx="8197850" cy="4608513"/>
          </a:xfrm>
        </p:spPr>
        <p:txBody>
          <a:bodyPr rtlCol="0">
            <a:normAutofit lnSpcReduction="10000"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按压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速率至少</a:t>
            </a:r>
            <a:r>
              <a:rPr lang="en-US" altLang="zh-CN" b="1" dirty="0">
                <a:solidFill>
                  <a:srgbClr val="CC3300"/>
                </a:solidFill>
                <a:latin typeface="宋体" panose="02010600030101010101" pitchFamily="2" charset="-122"/>
              </a:rPr>
              <a:t>100-120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次</a:t>
            </a:r>
            <a:r>
              <a:rPr lang="en-US" altLang="zh-CN" b="1" dirty="0">
                <a:solidFill>
                  <a:srgbClr val="CC33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分钟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按压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深度成人至少</a:t>
            </a:r>
            <a:r>
              <a:rPr lang="en-US" altLang="zh-CN" b="1" dirty="0">
                <a:solidFill>
                  <a:srgbClr val="CC3300"/>
                </a:solidFill>
                <a:latin typeface="宋体" panose="02010600030101010101" pitchFamily="2" charset="-122"/>
              </a:rPr>
              <a:t>5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厘米</a:t>
            </a:r>
            <a:endParaRPr lang="zh-CN" altLang="en-US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按压/人工呼吸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=30:2</a:t>
            </a:r>
            <a:endParaRPr lang="zh-CN" altLang="en-US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每次按压后确保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胸部完全回弹</a:t>
            </a:r>
            <a:endParaRPr lang="zh-CN" altLang="en-US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按压/放松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=1:1</a:t>
            </a:r>
            <a:endParaRPr lang="zh-CN" altLang="en-US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尽量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减少胸外按压中断</a:t>
            </a:r>
            <a:r>
              <a:rPr lang="zh-CN" altLang="en-US" dirty="0">
                <a:solidFill>
                  <a:srgbClr val="CC33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&lt;</a:t>
            </a:r>
            <a:r>
              <a:rPr lang="zh-CN" altLang="en-US" dirty="0">
                <a:solidFill>
                  <a:srgbClr val="CC3300"/>
                </a:solidFill>
                <a:latin typeface="Arial" panose="020B0604020202020204" pitchFamily="34" charset="0"/>
              </a:rPr>
              <a:t>10S</a:t>
            </a:r>
            <a:endParaRPr lang="zh-CN" altLang="en-US" dirty="0">
              <a:solidFill>
                <a:srgbClr val="CC3300"/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CC3300"/>
                </a:solidFill>
                <a:latin typeface="Arial" panose="020B0604020202020204" pitchFamily="34" charset="0"/>
              </a:rPr>
              <a:t>避免过度通气</a:t>
            </a:r>
            <a:endParaRPr lang="zh-CN" altLang="en-US" b="1" dirty="0">
              <a:solidFill>
                <a:srgbClr val="CC3300"/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  <a:buNone/>
              <a:defRPr/>
            </a:pPr>
            <a:endParaRPr lang="zh-CN" altLang="en-US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>
              <a:buNone/>
              <a:defRPr/>
            </a:pPr>
            <a:endParaRPr lang="zh-CN" altLang="en-US" b="1" dirty="0">
              <a:solidFill>
                <a:srgbClr val="CC3300"/>
              </a:solidFill>
              <a:latin typeface="宋体" panose="02010600030101010101" pitchFamily="2" charset="-122"/>
            </a:endParaRP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2238376" y="857251"/>
            <a:ext cx="1847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153988"/>
            <a:ext cx="8229600" cy="7604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zh-CN" altLang="en-US" b="1">
                <a:latin typeface="宋体" panose="02010600030101010101" pitchFamily="2" charset="-122"/>
              </a:rPr>
              <a:t>      </a:t>
            </a:r>
            <a:endParaRPr lang="zh-CN" altLang="en-US" sz="3600" b="1">
              <a:latin typeface="宋体" panose="02010600030101010101" pitchFamily="2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87985" y="1348312"/>
            <a:ext cx="8229600" cy="4983162"/>
          </a:xfrm>
        </p:spPr>
        <p:txBody>
          <a:bodyPr/>
          <a:lstStyle/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按压超过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分钟，出现按压疲劳和按压变浅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名或以上施救者时，每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分钟互相替换胸外按压，以防止胸外按压质量的下降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替换尽量在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秒内完成，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名施救者最好位于患者两侧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352676" y="1268413"/>
            <a:ext cx="39592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避免按压疲劳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601375" y="509095"/>
            <a:ext cx="8229600" cy="7604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    人工呼吸</a:t>
            </a:r>
            <a:endParaRPr 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1713390" y="1595335"/>
          <a:ext cx="4461985" cy="3397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6010275" imgH="4991100" progId="">
                  <p:embed/>
                </p:oleObj>
              </mc:Choice>
              <mc:Fallback>
                <p:oleObj name="" r:id="rId1" imgW="6010275" imgH="49911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lum bright="18000" contrast="3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390" y="1595335"/>
                        <a:ext cx="4461985" cy="339735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137372" dir="3378596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6311900" y="1563561"/>
          <a:ext cx="4166710" cy="3459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6172200" imgH="5172075" progId="">
                  <p:embed/>
                </p:oleObj>
              </mc:Choice>
              <mc:Fallback>
                <p:oleObj name="" r:id="rId3" imgW="6172200" imgH="5172075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8000" contrast="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1563561"/>
                        <a:ext cx="4166710" cy="3459289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109250" dir="3267739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861568" y="5105603"/>
            <a:ext cx="4032250" cy="792163"/>
          </a:xfrm>
          <a:prstGeom prst="rect">
            <a:avLst/>
          </a:prstGeom>
          <a:solidFill>
            <a:srgbClr val="FF9933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b="1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口对口</a:t>
            </a:r>
            <a:endParaRPr lang="zh-CN" altLang="en-US" sz="3600" b="1">
              <a:solidFill>
                <a:schemeClr val="bg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6384925" y="5086351"/>
            <a:ext cx="3671888" cy="7921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口对鼻</a:t>
            </a:r>
            <a:endParaRPr lang="zh-CN" altLang="en-US" sz="36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97150" y="944101"/>
            <a:ext cx="8229600" cy="7604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     人工呼吸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38400" y="1557338"/>
            <a:ext cx="8229600" cy="4983162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latin typeface="宋体" panose="02010600030101010101" pitchFamily="2" charset="-122"/>
              </a:rPr>
              <a:t>每次人工呼吸时间要在</a:t>
            </a:r>
            <a:r>
              <a:rPr lang="en-US" altLang="zh-CN" sz="3600" b="1" dirty="0">
                <a:latin typeface="宋体" panose="02010600030101010101" pitchFamily="2" charset="-122"/>
              </a:rPr>
              <a:t>2</a:t>
            </a:r>
            <a:r>
              <a:rPr lang="zh-CN" altLang="en-US" sz="3600" b="1" dirty="0">
                <a:latin typeface="宋体" panose="02010600030101010101" pitchFamily="2" charset="-122"/>
              </a:rPr>
              <a:t>秒左右。</a:t>
            </a:r>
            <a:endParaRPr lang="zh-CN" altLang="en-US" sz="3600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latin typeface="宋体" panose="02010600030101010101" pitchFamily="2" charset="-122"/>
              </a:rPr>
              <a:t>给予足够的潮气量以使可见胸廓抬起。</a:t>
            </a:r>
            <a:endParaRPr lang="zh-CN" altLang="en-US" sz="3600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latin typeface="宋体" panose="02010600030101010101" pitchFamily="2" charset="-122"/>
              </a:rPr>
              <a:t>按压</a:t>
            </a:r>
            <a:r>
              <a:rPr lang="en-US" altLang="zh-CN" sz="3600" b="1" dirty="0">
                <a:latin typeface="宋体" panose="02010600030101010101" pitchFamily="2" charset="-122"/>
              </a:rPr>
              <a:t>-</a:t>
            </a:r>
            <a:r>
              <a:rPr lang="zh-CN" altLang="en-US" sz="3600" b="1" dirty="0">
                <a:latin typeface="宋体" panose="02010600030101010101" pitchFamily="2" charset="-122"/>
              </a:rPr>
              <a:t>通气比为</a:t>
            </a:r>
            <a:r>
              <a:rPr lang="en-US" altLang="zh-CN" sz="3600" b="1" dirty="0">
                <a:latin typeface="宋体" panose="02010600030101010101" pitchFamily="2" charset="-122"/>
              </a:rPr>
              <a:t>30:2</a:t>
            </a:r>
            <a:r>
              <a:rPr lang="zh-CN" altLang="en-US" sz="3600" b="1" dirty="0">
                <a:latin typeface="宋体" panose="02010600030101010101" pitchFamily="2" charset="-122"/>
              </a:rPr>
              <a:t>。</a:t>
            </a:r>
            <a:endParaRPr lang="zh-CN" altLang="en-US" sz="3600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  <a:buNone/>
            </a:pPr>
            <a:endParaRPr lang="zh-CN" altLang="en-US" b="1" dirty="0">
              <a:latin typeface="宋体" panose="02010600030101010101" pitchFamily="2" charset="-122"/>
            </a:endParaRPr>
          </a:p>
          <a:p>
            <a:endParaRPr lang="zh-CN" altLang="en-US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81453" y="668893"/>
            <a:ext cx="8229600" cy="7604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zh-CN" altLang="en-US" b="1" dirty="0"/>
              <a:t>      心肺复苏有效的指标</a:t>
            </a:r>
            <a:endParaRPr lang="zh-CN" altLang="en-US" b="1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00216" y="1635233"/>
            <a:ext cx="9422167" cy="4983162"/>
          </a:xfrm>
        </p:spPr>
        <p:txBody>
          <a:bodyPr rtlCol="0">
            <a:normAutofit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瞳孔：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若瞳孔由大变小，复苏有效。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面色：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由发绀转为红润，复苏有效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lnSpc>
                <a:spcPts val="3500"/>
              </a:lnSpc>
              <a:buFontTx/>
              <a:buAutoNum type="arabicPeriod"/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颈动脉搏动：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按压有效时，每次按压可摸到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1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次搏动；如停止按压，脉搏仍跳动，说明心跳恢复。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lnSpc>
                <a:spcPts val="3500"/>
              </a:lnSpc>
              <a:buFontTx/>
              <a:buAutoNum type="arabicPeriod"/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意识：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可见患者有眼球活动，并出现睫毛反射和对光反射，少数患者开始出现手脚活动，复苏有效</a:t>
            </a:r>
            <a:r>
              <a:rPr lang="en-US" sz="24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lnSpc>
                <a:spcPts val="3000"/>
              </a:lnSpc>
              <a:buFontTx/>
              <a:buAutoNum type="arabicPeriod"/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自主呼吸：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出现自主呼吸，复苏有效，但呼吸仍微弱者应继续口对口人工呼吸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自定义 34">
      <a:dk1>
        <a:srgbClr val="C00000"/>
      </a:dk1>
      <a:lt1>
        <a:srgbClr val="FFFFFF"/>
      </a:lt1>
      <a:dk2>
        <a:srgbClr val="C00000"/>
      </a:dk2>
      <a:lt2>
        <a:srgbClr val="C00000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C00000"/>
      </a:accent6>
      <a:hlink>
        <a:srgbClr val="C00000"/>
      </a:hlink>
      <a:folHlink>
        <a:srgbClr val="FF404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</Words>
  <Application>WPS 演示</Application>
  <PresentationFormat>宽屏</PresentationFormat>
  <Paragraphs>91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黑体</vt:lpstr>
      <vt:lpstr>楷体_GB2312</vt:lpstr>
      <vt:lpstr>新宋体</vt:lpstr>
      <vt:lpstr>等线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      胸外心脏按压部位</vt:lpstr>
      <vt:lpstr>     成人胸外心脏按压定位 </vt:lpstr>
      <vt:lpstr>      胸外心脏按压 (C,circulation )</vt:lpstr>
      <vt:lpstr>  胸外心脏按压手法 </vt:lpstr>
      <vt:lpstr>PowerPoint 演示文稿</vt:lpstr>
      <vt:lpstr>     强调高质量的CPR </vt:lpstr>
      <vt:lpstr>      </vt:lpstr>
      <vt:lpstr>    人工呼吸</vt:lpstr>
      <vt:lpstr>     人工呼吸</vt:lpstr>
      <vt:lpstr>      心肺复苏有效的指标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幻页科技</dc:creator>
  <cp:lastModifiedBy>Administrator</cp:lastModifiedBy>
  <cp:revision>41</cp:revision>
  <dcterms:created xsi:type="dcterms:W3CDTF">2017-09-17T16:40:00Z</dcterms:created>
  <dcterms:modified xsi:type="dcterms:W3CDTF">2020-08-10T17:07:01Z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